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6858000" cy="9144000"/>
  <p:embeddedFontLst>
    <p:embeddedFont>
      <p:font typeface="Arimo" panose="020B0604020202020204" charset="0"/>
      <p:regular r:id="rId21"/>
    </p:embeddedFont>
    <p:embeddedFont>
      <p:font typeface="Arimo Bold" panose="020B0604020202020204" charset="0"/>
      <p:regular r:id="rId22"/>
    </p:embeddedFont>
    <p:embeddedFont>
      <p:font typeface="Catamaran" panose="020B0604020202020204" charset="0"/>
      <p:regular r:id="rId23"/>
    </p:embeddedFont>
    <p:embeddedFont>
      <p:font typeface="Catamaran Bold" panose="020B0604020202020204" charset="0"/>
      <p:regular r:id="rId24"/>
    </p:embeddedFont>
    <p:embeddedFont>
      <p:font typeface="Source Sans 3 Bold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627527-0CD9-41BF-B420-6CE73D8259E4}" v="6" dt="2026-07-06T22:30:05.1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Maroiu" userId="fdfefb793760f6db" providerId="LiveId" clId="{442FFAE2-1D64-4E5F-B5EF-A79EC5BBEFAB}"/>
    <pc:docChg chg="undo redo custSel modSld">
      <pc:chgData name="Alex Maroiu" userId="fdfefb793760f6db" providerId="LiveId" clId="{442FFAE2-1D64-4E5F-B5EF-A79EC5BBEFAB}" dt="2026-07-06T22:46:46.115" v="208" actId="108"/>
      <pc:docMkLst>
        <pc:docMk/>
      </pc:docMkLst>
      <pc:sldChg chg="modSp mod">
        <pc:chgData name="Alex Maroiu" userId="fdfefb793760f6db" providerId="LiveId" clId="{442FFAE2-1D64-4E5F-B5EF-A79EC5BBEFAB}" dt="2026-07-06T22:46:46.115" v="208" actId="108"/>
        <pc:sldMkLst>
          <pc:docMk/>
          <pc:sldMk cId="0" sldId="257"/>
        </pc:sldMkLst>
        <pc:spChg chg="mod">
          <ac:chgData name="Alex Maroiu" userId="fdfefb793760f6db" providerId="LiveId" clId="{442FFAE2-1D64-4E5F-B5EF-A79EC5BBEFAB}" dt="2026-07-06T22:46:46.115" v="208" actId="108"/>
          <ac:spMkLst>
            <pc:docMk/>
            <pc:sldMk cId="0" sldId="257"/>
            <ac:spMk id="105" creationId="{00000000-0000-0000-0000-000000000000}"/>
          </ac:spMkLst>
        </pc:spChg>
        <pc:spChg chg="mod">
          <ac:chgData name="Alex Maroiu" userId="fdfefb793760f6db" providerId="LiveId" clId="{442FFAE2-1D64-4E5F-B5EF-A79EC5BBEFAB}" dt="2026-07-06T22:25:03.790" v="91" actId="1076"/>
          <ac:spMkLst>
            <pc:docMk/>
            <pc:sldMk cId="0" sldId="257"/>
            <ac:spMk id="108" creationId="{00000000-0000-0000-0000-000000000000}"/>
          </ac:spMkLst>
        </pc:spChg>
        <pc:spChg chg="mod">
          <ac:chgData name="Alex Maroiu" userId="fdfefb793760f6db" providerId="LiveId" clId="{442FFAE2-1D64-4E5F-B5EF-A79EC5BBEFAB}" dt="2026-07-06T22:25:08.708" v="92" actId="1076"/>
          <ac:spMkLst>
            <pc:docMk/>
            <pc:sldMk cId="0" sldId="257"/>
            <ac:spMk id="129" creationId="{00000000-0000-0000-0000-000000000000}"/>
          </ac:spMkLst>
        </pc:spChg>
      </pc:sldChg>
      <pc:sldChg chg="modSp mod">
        <pc:chgData name="Alex Maroiu" userId="fdfefb793760f6db" providerId="LiveId" clId="{442FFAE2-1D64-4E5F-B5EF-A79EC5BBEFAB}" dt="2026-07-06T22:24:34.321" v="67" actId="20577"/>
        <pc:sldMkLst>
          <pc:docMk/>
          <pc:sldMk cId="0" sldId="262"/>
        </pc:sldMkLst>
        <pc:spChg chg="mod">
          <ac:chgData name="Alex Maroiu" userId="fdfefb793760f6db" providerId="LiveId" clId="{442FFAE2-1D64-4E5F-B5EF-A79EC5BBEFAB}" dt="2026-07-06T22:24:34.321" v="67" actId="20577"/>
          <ac:spMkLst>
            <pc:docMk/>
            <pc:sldMk cId="0" sldId="262"/>
            <ac:spMk id="39" creationId="{00000000-0000-0000-0000-000000000000}"/>
          </ac:spMkLst>
        </pc:spChg>
      </pc:sldChg>
      <pc:sldChg chg="modSp mod">
        <pc:chgData name="Alex Maroiu" userId="fdfefb793760f6db" providerId="LiveId" clId="{442FFAE2-1D64-4E5F-B5EF-A79EC5BBEFAB}" dt="2026-07-06T22:44:57.526" v="201" actId="14100"/>
        <pc:sldMkLst>
          <pc:docMk/>
          <pc:sldMk cId="0" sldId="264"/>
        </pc:sldMkLst>
        <pc:spChg chg="mod">
          <ac:chgData name="Alex Maroiu" userId="fdfefb793760f6db" providerId="LiveId" clId="{442FFAE2-1D64-4E5F-B5EF-A79EC5BBEFAB}" dt="2026-07-06T22:44:57.526" v="201" actId="14100"/>
          <ac:spMkLst>
            <pc:docMk/>
            <pc:sldMk cId="0" sldId="264"/>
            <ac:spMk id="25" creationId="{00000000-0000-0000-0000-000000000000}"/>
          </ac:spMkLst>
        </pc:spChg>
      </pc:sldChg>
      <pc:sldChg chg="modSp mod">
        <pc:chgData name="Alex Maroiu" userId="fdfefb793760f6db" providerId="LiveId" clId="{442FFAE2-1D64-4E5F-B5EF-A79EC5BBEFAB}" dt="2026-07-06T22:45:44.253" v="203" actId="1076"/>
        <pc:sldMkLst>
          <pc:docMk/>
          <pc:sldMk cId="0" sldId="266"/>
        </pc:sldMkLst>
        <pc:picChg chg="mod">
          <ac:chgData name="Alex Maroiu" userId="fdfefb793760f6db" providerId="LiveId" clId="{442FFAE2-1D64-4E5F-B5EF-A79EC5BBEFAB}" dt="2026-07-06T22:45:44.253" v="203" actId="1076"/>
          <ac:picMkLst>
            <pc:docMk/>
            <pc:sldMk cId="0" sldId="266"/>
            <ac:picMk id="2" creationId="{00000000-0000-0000-0000-000000000000}"/>
          </ac:picMkLst>
        </pc:picChg>
      </pc:sldChg>
      <pc:sldChg chg="modSp mod">
        <pc:chgData name="Alex Maroiu" userId="fdfefb793760f6db" providerId="LiveId" clId="{442FFAE2-1D64-4E5F-B5EF-A79EC5BBEFAB}" dt="2026-07-06T22:45:56.090" v="204" actId="1076"/>
        <pc:sldMkLst>
          <pc:docMk/>
          <pc:sldMk cId="0" sldId="267"/>
        </pc:sldMkLst>
        <pc:spChg chg="mod">
          <ac:chgData name="Alex Maroiu" userId="fdfefb793760f6db" providerId="LiveId" clId="{442FFAE2-1D64-4E5F-B5EF-A79EC5BBEFAB}" dt="2026-07-06T22:44:48.401" v="198" actId="1076"/>
          <ac:spMkLst>
            <pc:docMk/>
            <pc:sldMk cId="0" sldId="267"/>
            <ac:spMk id="41" creationId="{00000000-0000-0000-0000-000000000000}"/>
          </ac:spMkLst>
        </pc:spChg>
        <pc:spChg chg="mod">
          <ac:chgData name="Alex Maroiu" userId="fdfefb793760f6db" providerId="LiveId" clId="{442FFAE2-1D64-4E5F-B5EF-A79EC5BBEFAB}" dt="2026-07-06T22:44:39.842" v="194" actId="14100"/>
          <ac:spMkLst>
            <pc:docMk/>
            <pc:sldMk cId="0" sldId="267"/>
            <ac:spMk id="42" creationId="{00000000-0000-0000-0000-000000000000}"/>
          </ac:spMkLst>
        </pc:spChg>
        <pc:spChg chg="mod">
          <ac:chgData name="Alex Maroiu" userId="fdfefb793760f6db" providerId="LiveId" clId="{442FFAE2-1D64-4E5F-B5EF-A79EC5BBEFAB}" dt="2026-07-06T22:45:56.090" v="204" actId="1076"/>
          <ac:spMkLst>
            <pc:docMk/>
            <pc:sldMk cId="0" sldId="267"/>
            <ac:spMk id="43" creationId="{00000000-0000-0000-0000-000000000000}"/>
          </ac:spMkLst>
        </pc:spChg>
      </pc:sldChg>
      <pc:sldChg chg="modSp mod">
        <pc:chgData name="Alex Maroiu" userId="fdfefb793760f6db" providerId="LiveId" clId="{442FFAE2-1D64-4E5F-B5EF-A79EC5BBEFAB}" dt="2026-07-06T22:46:03.330" v="205" actId="1076"/>
        <pc:sldMkLst>
          <pc:docMk/>
          <pc:sldMk cId="0" sldId="268"/>
        </pc:sldMkLst>
        <pc:spChg chg="mod">
          <ac:chgData name="Alex Maroiu" userId="fdfefb793760f6db" providerId="LiveId" clId="{442FFAE2-1D64-4E5F-B5EF-A79EC5BBEFAB}" dt="2026-07-06T22:46:03.330" v="205" actId="1076"/>
          <ac:spMkLst>
            <pc:docMk/>
            <pc:sldMk cId="0" sldId="268"/>
            <ac:spMk id="32" creationId="{00000000-0000-0000-0000-000000000000}"/>
          </ac:spMkLst>
        </pc:spChg>
      </pc:sldChg>
      <pc:sldChg chg="modSp mod">
        <pc:chgData name="Alex Maroiu" userId="fdfefb793760f6db" providerId="LiveId" clId="{442FFAE2-1D64-4E5F-B5EF-A79EC5BBEFAB}" dt="2026-07-06T22:40:15.420" v="189" actId="1076"/>
        <pc:sldMkLst>
          <pc:docMk/>
          <pc:sldMk cId="0" sldId="270"/>
        </pc:sldMkLst>
        <pc:spChg chg="mod">
          <ac:chgData name="Alex Maroiu" userId="fdfefb793760f6db" providerId="LiveId" clId="{442FFAE2-1D64-4E5F-B5EF-A79EC5BBEFAB}" dt="2026-07-06T22:27:01.728" v="176" actId="108"/>
          <ac:spMkLst>
            <pc:docMk/>
            <pc:sldMk cId="0" sldId="270"/>
            <ac:spMk id="39" creationId="{00000000-0000-0000-0000-000000000000}"/>
          </ac:spMkLst>
        </pc:spChg>
        <pc:spChg chg="mod">
          <ac:chgData name="Alex Maroiu" userId="fdfefb793760f6db" providerId="LiveId" clId="{442FFAE2-1D64-4E5F-B5EF-A79EC5BBEFAB}" dt="2026-07-06T22:40:15.420" v="189" actId="1076"/>
          <ac:spMkLst>
            <pc:docMk/>
            <pc:sldMk cId="0" sldId="270"/>
            <ac:spMk id="41" creationId="{00000000-0000-0000-0000-000000000000}"/>
          </ac:spMkLst>
        </pc:spChg>
      </pc:sldChg>
      <pc:sldChg chg="modSp mod modNotes">
        <pc:chgData name="Alex Maroiu" userId="fdfefb793760f6db" providerId="LiveId" clId="{442FFAE2-1D64-4E5F-B5EF-A79EC5BBEFAB}" dt="2026-07-06T22:46:14.505" v="206" actId="1076"/>
        <pc:sldMkLst>
          <pc:docMk/>
          <pc:sldMk cId="0" sldId="271"/>
        </pc:sldMkLst>
        <pc:spChg chg="mod">
          <ac:chgData name="Alex Maroiu" userId="fdfefb793760f6db" providerId="LiveId" clId="{442FFAE2-1D64-4E5F-B5EF-A79EC5BBEFAB}" dt="2026-07-06T22:46:14.505" v="206" actId="1076"/>
          <ac:spMkLst>
            <pc:docMk/>
            <pc:sldMk cId="0" sldId="271"/>
            <ac:spMk id="36" creationId="{00000000-0000-0000-0000-000000000000}"/>
          </ac:spMkLst>
        </pc:spChg>
        <pc:spChg chg="mod">
          <ac:chgData name="Alex Maroiu" userId="fdfefb793760f6db" providerId="LiveId" clId="{442FFAE2-1D64-4E5F-B5EF-A79EC5BBEFAB}" dt="2026-07-06T22:40:35.129" v="192" actId="108"/>
          <ac:spMkLst>
            <pc:docMk/>
            <pc:sldMk cId="0" sldId="271"/>
            <ac:spMk id="43" creationId="{00000000-0000-0000-0000-000000000000}"/>
          </ac:spMkLst>
        </pc:spChg>
        <pc:spChg chg="mod">
          <ac:chgData name="Alex Maroiu" userId="fdfefb793760f6db" providerId="LiveId" clId="{442FFAE2-1D64-4E5F-B5EF-A79EC5BBEFAB}" dt="2026-07-06T22:40:12.680" v="187" actId="20577"/>
          <ac:spMkLst>
            <pc:docMk/>
            <pc:sldMk cId="0" sldId="271"/>
            <ac:spMk id="44" creationId="{00000000-0000-0000-0000-000000000000}"/>
          </ac:spMkLst>
        </pc:spChg>
        <pc:spChg chg="mod">
          <ac:chgData name="Alex Maroiu" userId="fdfefb793760f6db" providerId="LiveId" clId="{442FFAE2-1D64-4E5F-B5EF-A79EC5BBEFAB}" dt="2026-07-06T22:40:40.556" v="193" actId="108"/>
          <ac:spMkLst>
            <pc:docMk/>
            <pc:sldMk cId="0" sldId="271"/>
            <ac:spMk id="4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07.07.2026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1.sv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svg"/><Relationship Id="rId5" Type="http://schemas.openxmlformats.org/officeDocument/2006/relationships/image" Target="../media/image7.svg"/><Relationship Id="rId4" Type="http://schemas.openxmlformats.org/officeDocument/2006/relationships/image" Target="../media/image2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6.svg"/><Relationship Id="rId7" Type="http://schemas.openxmlformats.org/officeDocument/2006/relationships/image" Target="../media/image2.svg"/><Relationship Id="rId12" Type="http://schemas.openxmlformats.org/officeDocument/2006/relationships/image" Target="../media/image3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svg"/><Relationship Id="rId11" Type="http://schemas.openxmlformats.org/officeDocument/2006/relationships/image" Target="../media/image31.svg"/><Relationship Id="rId5" Type="http://schemas.openxmlformats.org/officeDocument/2006/relationships/image" Target="../media/image3.svg"/><Relationship Id="rId10" Type="http://schemas.openxmlformats.org/officeDocument/2006/relationships/image" Target="../media/image30.svg"/><Relationship Id="rId4" Type="http://schemas.openxmlformats.org/officeDocument/2006/relationships/image" Target="../media/image27.svg"/><Relationship Id="rId9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svg"/><Relationship Id="rId5" Type="http://schemas.openxmlformats.org/officeDocument/2006/relationships/image" Target="../media/image35.svg"/><Relationship Id="rId4" Type="http://schemas.openxmlformats.org/officeDocument/2006/relationships/image" Target="../media/image34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1.svg"/><Relationship Id="rId7" Type="http://schemas.openxmlformats.org/officeDocument/2006/relationships/image" Target="../media/image38.svg"/><Relationship Id="rId12" Type="http://schemas.openxmlformats.org/officeDocument/2006/relationships/image" Target="../media/image4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svg"/><Relationship Id="rId11" Type="http://schemas.openxmlformats.org/officeDocument/2006/relationships/image" Target="../media/image41.svg"/><Relationship Id="rId5" Type="http://schemas.openxmlformats.org/officeDocument/2006/relationships/image" Target="../media/image7.svg"/><Relationship Id="rId10" Type="http://schemas.openxmlformats.org/officeDocument/2006/relationships/image" Target="../media/image40.svg"/><Relationship Id="rId4" Type="http://schemas.openxmlformats.org/officeDocument/2006/relationships/image" Target="../media/image22.svg"/><Relationship Id="rId9" Type="http://schemas.openxmlformats.org/officeDocument/2006/relationships/image" Target="../media/image3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4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29.svg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45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8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1.svg"/><Relationship Id="rId7" Type="http://schemas.openxmlformats.org/officeDocument/2006/relationships/image" Target="../media/image3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svg"/><Relationship Id="rId5" Type="http://schemas.openxmlformats.org/officeDocument/2006/relationships/image" Target="../media/image7.svg"/><Relationship Id="rId10" Type="http://schemas.openxmlformats.org/officeDocument/2006/relationships/image" Target="../media/image50.png"/><Relationship Id="rId4" Type="http://schemas.openxmlformats.org/officeDocument/2006/relationships/image" Target="../media/image22.svg"/><Relationship Id="rId9" Type="http://schemas.openxmlformats.org/officeDocument/2006/relationships/image" Target="../media/image4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51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54.svg"/><Relationship Id="rId7" Type="http://schemas.openxmlformats.org/officeDocument/2006/relationships/image" Target="../media/image57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svg"/><Relationship Id="rId5" Type="http://schemas.openxmlformats.org/officeDocument/2006/relationships/image" Target="../media/image55.svg"/><Relationship Id="rId4" Type="http://schemas.openxmlformats.org/officeDocument/2006/relationships/image" Target="../media/image36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1.svg"/><Relationship Id="rId7" Type="http://schemas.openxmlformats.org/officeDocument/2006/relationships/image" Target="../media/image38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svg"/><Relationship Id="rId5" Type="http://schemas.openxmlformats.org/officeDocument/2006/relationships/image" Target="../media/image7.svg"/><Relationship Id="rId4" Type="http://schemas.openxmlformats.org/officeDocument/2006/relationships/image" Target="../media/image22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9.png"/><Relationship Id="rId4" Type="http://schemas.openxmlformats.org/officeDocument/2006/relationships/image" Target="../media/image58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60.svg"/><Relationship Id="rId7" Type="http://schemas.openxmlformats.org/officeDocument/2006/relationships/image" Target="../media/image63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svg"/><Relationship Id="rId5" Type="http://schemas.openxmlformats.org/officeDocument/2006/relationships/image" Target="../media/image61.svg"/><Relationship Id="rId4" Type="http://schemas.openxmlformats.org/officeDocument/2006/relationships/image" Target="../media/image3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909514" y="-1391269"/>
            <a:ext cx="2662297" cy="2310000"/>
          </a:xfrm>
          <a:custGeom>
            <a:avLst/>
            <a:gdLst/>
            <a:ahLst/>
            <a:cxnLst/>
            <a:rect l="l" t="t" r="r" b="b"/>
            <a:pathLst>
              <a:path w="2662297" h="2310000">
                <a:moveTo>
                  <a:pt x="0" y="0"/>
                </a:moveTo>
                <a:lnTo>
                  <a:pt x="2662297" y="0"/>
                </a:lnTo>
                <a:lnTo>
                  <a:pt x="2662297" y="2310000"/>
                </a:lnTo>
                <a:lnTo>
                  <a:pt x="0" y="2310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902896" y="-412762"/>
            <a:ext cx="1834998" cy="1589342"/>
          </a:xfrm>
          <a:custGeom>
            <a:avLst/>
            <a:gdLst/>
            <a:ahLst/>
            <a:cxnLst/>
            <a:rect l="l" t="t" r="r" b="b"/>
            <a:pathLst>
              <a:path w="1834998" h="1589342">
                <a:moveTo>
                  <a:pt x="0" y="0"/>
                </a:moveTo>
                <a:lnTo>
                  <a:pt x="1834998" y="0"/>
                </a:lnTo>
                <a:lnTo>
                  <a:pt x="1834998" y="1589342"/>
                </a:lnTo>
                <a:lnTo>
                  <a:pt x="0" y="15893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5273166" y="239774"/>
            <a:ext cx="1189313" cy="1031935"/>
          </a:xfrm>
          <a:custGeom>
            <a:avLst/>
            <a:gdLst/>
            <a:ahLst/>
            <a:cxnLst/>
            <a:rect l="l" t="t" r="r" b="b"/>
            <a:pathLst>
              <a:path w="1189313" h="1031935">
                <a:moveTo>
                  <a:pt x="0" y="0"/>
                </a:moveTo>
                <a:lnTo>
                  <a:pt x="1189314" y="0"/>
                </a:lnTo>
                <a:lnTo>
                  <a:pt x="1189314" y="1031936"/>
                </a:lnTo>
                <a:lnTo>
                  <a:pt x="0" y="1031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6355016" y="1457774"/>
            <a:ext cx="1189313" cy="1031935"/>
          </a:xfrm>
          <a:custGeom>
            <a:avLst/>
            <a:gdLst/>
            <a:ahLst/>
            <a:cxnLst/>
            <a:rect l="l" t="t" r="r" b="b"/>
            <a:pathLst>
              <a:path w="1189313" h="1031935">
                <a:moveTo>
                  <a:pt x="0" y="0"/>
                </a:moveTo>
                <a:lnTo>
                  <a:pt x="1189314" y="0"/>
                </a:lnTo>
                <a:lnTo>
                  <a:pt x="1189314" y="1031936"/>
                </a:lnTo>
                <a:lnTo>
                  <a:pt x="0" y="1031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7180826" y="1368400"/>
            <a:ext cx="204600" cy="204600"/>
            <a:chOff x="0" y="0"/>
            <a:chExt cx="272800" cy="27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2796" cy="272796"/>
            </a:xfrm>
            <a:custGeom>
              <a:avLst/>
              <a:gdLst/>
              <a:ahLst/>
              <a:cxnLst/>
              <a:rect l="l" t="t" r="r" b="b"/>
              <a:pathLst>
                <a:path w="272796" h="272796">
                  <a:moveTo>
                    <a:pt x="0" y="136398"/>
                  </a:moveTo>
                  <a:cubicBezTo>
                    <a:pt x="0" y="61087"/>
                    <a:pt x="61087" y="0"/>
                    <a:pt x="136398" y="0"/>
                  </a:cubicBezTo>
                  <a:cubicBezTo>
                    <a:pt x="211709" y="0"/>
                    <a:pt x="272796" y="61087"/>
                    <a:pt x="272796" y="136398"/>
                  </a:cubicBezTo>
                  <a:cubicBezTo>
                    <a:pt x="272796" y="211709"/>
                    <a:pt x="211709" y="272796"/>
                    <a:pt x="136398" y="272796"/>
                  </a:cubicBezTo>
                  <a:cubicBezTo>
                    <a:pt x="61087" y="272796"/>
                    <a:pt x="0" y="211709"/>
                    <a:pt x="0" y="136398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278979" y="-1193119"/>
            <a:ext cx="633450" cy="551250"/>
            <a:chOff x="0" y="0"/>
            <a:chExt cx="844600" cy="735000"/>
          </a:xfrm>
        </p:grpSpPr>
        <p:sp>
          <p:nvSpPr>
            <p:cNvPr id="9" name="Freeform 9"/>
            <p:cNvSpPr/>
            <p:nvPr/>
          </p:nvSpPr>
          <p:spPr>
            <a:xfrm>
              <a:off x="63" y="0"/>
              <a:ext cx="844550" cy="734949"/>
            </a:xfrm>
            <a:custGeom>
              <a:avLst/>
              <a:gdLst/>
              <a:ahLst/>
              <a:cxnLst/>
              <a:rect l="l" t="t" r="r" b="b"/>
              <a:pathLst>
                <a:path w="844550" h="734949">
                  <a:moveTo>
                    <a:pt x="1334" y="361823"/>
                  </a:moveTo>
                  <a:lnTo>
                    <a:pt x="179515" y="6985"/>
                  </a:lnTo>
                  <a:cubicBezTo>
                    <a:pt x="181674" y="2667"/>
                    <a:pt x="186119" y="0"/>
                    <a:pt x="190818" y="0"/>
                  </a:cubicBezTo>
                  <a:lnTo>
                    <a:pt x="653606" y="0"/>
                  </a:lnTo>
                  <a:cubicBezTo>
                    <a:pt x="658432" y="0"/>
                    <a:pt x="662750" y="2667"/>
                    <a:pt x="664909" y="6985"/>
                  </a:cubicBezTo>
                  <a:lnTo>
                    <a:pt x="843217" y="361823"/>
                  </a:lnTo>
                  <a:cubicBezTo>
                    <a:pt x="844995" y="365379"/>
                    <a:pt x="844995" y="369697"/>
                    <a:pt x="843217" y="373253"/>
                  </a:cubicBezTo>
                  <a:lnTo>
                    <a:pt x="664909" y="727964"/>
                  </a:lnTo>
                  <a:cubicBezTo>
                    <a:pt x="662750" y="732282"/>
                    <a:pt x="658305" y="734949"/>
                    <a:pt x="653606" y="734949"/>
                  </a:cubicBezTo>
                  <a:lnTo>
                    <a:pt x="190818" y="734949"/>
                  </a:lnTo>
                  <a:cubicBezTo>
                    <a:pt x="185992" y="734949"/>
                    <a:pt x="181674" y="732282"/>
                    <a:pt x="179515" y="727964"/>
                  </a:cubicBezTo>
                  <a:lnTo>
                    <a:pt x="1334" y="373253"/>
                  </a:lnTo>
                  <a:cubicBezTo>
                    <a:pt x="-444" y="369697"/>
                    <a:pt x="-444" y="365379"/>
                    <a:pt x="1334" y="361823"/>
                  </a:cubicBezTo>
                  <a:moveTo>
                    <a:pt x="24067" y="373253"/>
                  </a:moveTo>
                  <a:lnTo>
                    <a:pt x="12637" y="367538"/>
                  </a:lnTo>
                  <a:lnTo>
                    <a:pt x="23940" y="361823"/>
                  </a:lnTo>
                  <a:lnTo>
                    <a:pt x="202248" y="716661"/>
                  </a:lnTo>
                  <a:lnTo>
                    <a:pt x="190945" y="722376"/>
                  </a:lnTo>
                  <a:lnTo>
                    <a:pt x="190945" y="709676"/>
                  </a:lnTo>
                  <a:lnTo>
                    <a:pt x="653606" y="709676"/>
                  </a:lnTo>
                  <a:lnTo>
                    <a:pt x="653606" y="722376"/>
                  </a:lnTo>
                  <a:lnTo>
                    <a:pt x="642303" y="716661"/>
                  </a:lnTo>
                  <a:lnTo>
                    <a:pt x="820484" y="361823"/>
                  </a:lnTo>
                  <a:lnTo>
                    <a:pt x="831787" y="367538"/>
                  </a:lnTo>
                  <a:lnTo>
                    <a:pt x="820484" y="373253"/>
                  </a:lnTo>
                  <a:lnTo>
                    <a:pt x="642303" y="18415"/>
                  </a:lnTo>
                  <a:lnTo>
                    <a:pt x="653606" y="12700"/>
                  </a:lnTo>
                  <a:lnTo>
                    <a:pt x="653606" y="25400"/>
                  </a:lnTo>
                  <a:lnTo>
                    <a:pt x="190818" y="25400"/>
                  </a:lnTo>
                  <a:lnTo>
                    <a:pt x="190818" y="12700"/>
                  </a:lnTo>
                  <a:lnTo>
                    <a:pt x="202121" y="18415"/>
                  </a:lnTo>
                  <a:lnTo>
                    <a:pt x="23940" y="373253"/>
                  </a:lnTo>
                  <a:close/>
                </a:path>
              </a:pathLst>
            </a:custGeom>
            <a:solidFill>
              <a:srgbClr val="AFE0D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AutoShape 10"/>
          <p:cNvSpPr/>
          <p:nvPr/>
        </p:nvSpPr>
        <p:spPr>
          <a:xfrm>
            <a:off x="14951581" y="887103"/>
            <a:ext cx="590250" cy="102225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 rot="79323">
            <a:off x="15545845" y="1973742"/>
            <a:ext cx="825670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 rot="199407">
            <a:off x="16445817" y="755742"/>
            <a:ext cx="328603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 rot="6766566">
            <a:off x="16616009" y="569410"/>
            <a:ext cx="427375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 rot="7221008">
            <a:off x="18051774" y="-890360"/>
            <a:ext cx="1128971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5" name="Group 15"/>
          <p:cNvGrpSpPr/>
          <p:nvPr/>
        </p:nvGrpSpPr>
        <p:grpSpPr>
          <a:xfrm>
            <a:off x="18813500" y="-1438500"/>
            <a:ext cx="157200" cy="157200"/>
            <a:chOff x="0" y="0"/>
            <a:chExt cx="209600" cy="2096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0" y="104775"/>
                  </a:moveTo>
                  <a:cubicBezTo>
                    <a:pt x="0" y="46863"/>
                    <a:pt x="46863" y="0"/>
                    <a:pt x="104775" y="0"/>
                  </a:cubicBezTo>
                  <a:cubicBezTo>
                    <a:pt x="162687" y="0"/>
                    <a:pt x="209550" y="46863"/>
                    <a:pt x="209550" y="104775"/>
                  </a:cubicBezTo>
                  <a:cubicBezTo>
                    <a:pt x="209550" y="162687"/>
                    <a:pt x="162687" y="209550"/>
                    <a:pt x="104775" y="209550"/>
                  </a:cubicBezTo>
                  <a:cubicBezTo>
                    <a:pt x="46863" y="209550"/>
                    <a:pt x="0" y="162687"/>
                    <a:pt x="0" y="104775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AutoShape 17"/>
          <p:cNvSpPr/>
          <p:nvPr/>
        </p:nvSpPr>
        <p:spPr>
          <a:xfrm rot="25231">
            <a:off x="2437240" y="9494208"/>
            <a:ext cx="2595520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/>
          <p:nvPr/>
        </p:nvGrpSpPr>
        <p:grpSpPr>
          <a:xfrm rot="-10800000">
            <a:off x="5023450" y="9256902"/>
            <a:ext cx="547200" cy="474600"/>
            <a:chOff x="0" y="0"/>
            <a:chExt cx="729600" cy="63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29615" cy="632841"/>
            </a:xfrm>
            <a:custGeom>
              <a:avLst/>
              <a:gdLst/>
              <a:ahLst/>
              <a:cxnLst/>
              <a:rect l="l" t="t" r="r" b="b"/>
              <a:pathLst>
                <a:path w="729615" h="632841">
                  <a:moveTo>
                    <a:pt x="0" y="316357"/>
                  </a:moveTo>
                  <a:lnTo>
                    <a:pt x="158242" y="0"/>
                  </a:lnTo>
                  <a:lnTo>
                    <a:pt x="571373" y="0"/>
                  </a:lnTo>
                  <a:lnTo>
                    <a:pt x="729615" y="316357"/>
                  </a:lnTo>
                  <a:lnTo>
                    <a:pt x="571373" y="632841"/>
                  </a:lnTo>
                  <a:lnTo>
                    <a:pt x="158242" y="632841"/>
                  </a:ln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Freeform 20"/>
          <p:cNvSpPr/>
          <p:nvPr/>
        </p:nvSpPr>
        <p:spPr>
          <a:xfrm>
            <a:off x="-1011064" y="9073368"/>
            <a:ext cx="1834998" cy="1589342"/>
          </a:xfrm>
          <a:custGeom>
            <a:avLst/>
            <a:gdLst/>
            <a:ahLst/>
            <a:cxnLst/>
            <a:rect l="l" t="t" r="r" b="b"/>
            <a:pathLst>
              <a:path w="1834998" h="1589342">
                <a:moveTo>
                  <a:pt x="0" y="0"/>
                </a:moveTo>
                <a:lnTo>
                  <a:pt x="1834998" y="0"/>
                </a:lnTo>
                <a:lnTo>
                  <a:pt x="1834998" y="1589342"/>
                </a:lnTo>
                <a:lnTo>
                  <a:pt x="0" y="15893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1264350" y="8978240"/>
            <a:ext cx="1189313" cy="1031935"/>
          </a:xfrm>
          <a:custGeom>
            <a:avLst/>
            <a:gdLst/>
            <a:ahLst/>
            <a:cxnLst/>
            <a:rect l="l" t="t" r="r" b="b"/>
            <a:pathLst>
              <a:path w="1189313" h="1031935">
                <a:moveTo>
                  <a:pt x="0" y="0"/>
                </a:moveTo>
                <a:lnTo>
                  <a:pt x="1189314" y="0"/>
                </a:lnTo>
                <a:lnTo>
                  <a:pt x="1189314" y="1031936"/>
                </a:lnTo>
                <a:lnTo>
                  <a:pt x="0" y="1031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2" name="Group 22"/>
          <p:cNvGrpSpPr/>
          <p:nvPr/>
        </p:nvGrpSpPr>
        <p:grpSpPr>
          <a:xfrm rot="-10800000">
            <a:off x="506201" y="8443369"/>
            <a:ext cx="633450" cy="551250"/>
            <a:chOff x="0" y="0"/>
            <a:chExt cx="844600" cy="735000"/>
          </a:xfrm>
        </p:grpSpPr>
        <p:sp>
          <p:nvSpPr>
            <p:cNvPr id="23" name="Freeform 23"/>
            <p:cNvSpPr/>
            <p:nvPr/>
          </p:nvSpPr>
          <p:spPr>
            <a:xfrm>
              <a:off x="63" y="0"/>
              <a:ext cx="844550" cy="734949"/>
            </a:xfrm>
            <a:custGeom>
              <a:avLst/>
              <a:gdLst/>
              <a:ahLst/>
              <a:cxnLst/>
              <a:rect l="l" t="t" r="r" b="b"/>
              <a:pathLst>
                <a:path w="844550" h="734949">
                  <a:moveTo>
                    <a:pt x="1334" y="361823"/>
                  </a:moveTo>
                  <a:lnTo>
                    <a:pt x="179515" y="6985"/>
                  </a:lnTo>
                  <a:cubicBezTo>
                    <a:pt x="181674" y="2667"/>
                    <a:pt x="186119" y="0"/>
                    <a:pt x="190818" y="0"/>
                  </a:cubicBezTo>
                  <a:lnTo>
                    <a:pt x="653606" y="0"/>
                  </a:lnTo>
                  <a:cubicBezTo>
                    <a:pt x="658432" y="0"/>
                    <a:pt x="662750" y="2667"/>
                    <a:pt x="664909" y="6985"/>
                  </a:cubicBezTo>
                  <a:lnTo>
                    <a:pt x="843217" y="361823"/>
                  </a:lnTo>
                  <a:cubicBezTo>
                    <a:pt x="844995" y="365379"/>
                    <a:pt x="844995" y="369697"/>
                    <a:pt x="843217" y="373253"/>
                  </a:cubicBezTo>
                  <a:lnTo>
                    <a:pt x="664909" y="727964"/>
                  </a:lnTo>
                  <a:cubicBezTo>
                    <a:pt x="662750" y="732282"/>
                    <a:pt x="658305" y="734949"/>
                    <a:pt x="653606" y="734949"/>
                  </a:cubicBezTo>
                  <a:lnTo>
                    <a:pt x="190818" y="734949"/>
                  </a:lnTo>
                  <a:cubicBezTo>
                    <a:pt x="185992" y="734949"/>
                    <a:pt x="181674" y="732282"/>
                    <a:pt x="179515" y="727964"/>
                  </a:cubicBezTo>
                  <a:lnTo>
                    <a:pt x="1334" y="373253"/>
                  </a:lnTo>
                  <a:cubicBezTo>
                    <a:pt x="-444" y="369697"/>
                    <a:pt x="-444" y="365379"/>
                    <a:pt x="1334" y="361823"/>
                  </a:cubicBezTo>
                  <a:moveTo>
                    <a:pt x="24067" y="373253"/>
                  </a:moveTo>
                  <a:lnTo>
                    <a:pt x="12637" y="367538"/>
                  </a:lnTo>
                  <a:lnTo>
                    <a:pt x="23940" y="361823"/>
                  </a:lnTo>
                  <a:lnTo>
                    <a:pt x="202248" y="716661"/>
                  </a:lnTo>
                  <a:lnTo>
                    <a:pt x="190945" y="722376"/>
                  </a:lnTo>
                  <a:lnTo>
                    <a:pt x="190945" y="709676"/>
                  </a:lnTo>
                  <a:lnTo>
                    <a:pt x="653606" y="709676"/>
                  </a:lnTo>
                  <a:lnTo>
                    <a:pt x="653606" y="722376"/>
                  </a:lnTo>
                  <a:lnTo>
                    <a:pt x="642303" y="716661"/>
                  </a:lnTo>
                  <a:lnTo>
                    <a:pt x="820484" y="361823"/>
                  </a:lnTo>
                  <a:lnTo>
                    <a:pt x="831787" y="367538"/>
                  </a:lnTo>
                  <a:lnTo>
                    <a:pt x="820484" y="373253"/>
                  </a:lnTo>
                  <a:lnTo>
                    <a:pt x="642303" y="18415"/>
                  </a:lnTo>
                  <a:lnTo>
                    <a:pt x="653606" y="12700"/>
                  </a:lnTo>
                  <a:lnTo>
                    <a:pt x="653606" y="25400"/>
                  </a:lnTo>
                  <a:lnTo>
                    <a:pt x="190818" y="25400"/>
                  </a:lnTo>
                  <a:lnTo>
                    <a:pt x="190818" y="12700"/>
                  </a:lnTo>
                  <a:lnTo>
                    <a:pt x="202121" y="18415"/>
                  </a:lnTo>
                  <a:lnTo>
                    <a:pt x="23940" y="373253"/>
                  </a:lnTo>
                  <a:close/>
                </a:path>
              </a:pathLst>
            </a:custGeom>
            <a:solidFill>
              <a:srgbClr val="AFE0D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" name="AutoShape 24"/>
          <p:cNvSpPr/>
          <p:nvPr/>
        </p:nvSpPr>
        <p:spPr>
          <a:xfrm rot="199407">
            <a:off x="952413" y="9494208"/>
            <a:ext cx="328603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5" name="AutoShape 25"/>
          <p:cNvSpPr/>
          <p:nvPr/>
        </p:nvSpPr>
        <p:spPr>
          <a:xfrm rot="6766566">
            <a:off x="683447" y="9680540"/>
            <a:ext cx="427375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566050" y="426574"/>
            <a:ext cx="1189313" cy="1031935"/>
          </a:xfrm>
          <a:custGeom>
            <a:avLst/>
            <a:gdLst/>
            <a:ahLst/>
            <a:cxnLst/>
            <a:rect l="l" t="t" r="r" b="b"/>
            <a:pathLst>
              <a:path w="1189313" h="1031935">
                <a:moveTo>
                  <a:pt x="0" y="0"/>
                </a:moveTo>
                <a:lnTo>
                  <a:pt x="1189314" y="0"/>
                </a:lnTo>
                <a:lnTo>
                  <a:pt x="1189314" y="1031936"/>
                </a:lnTo>
                <a:lnTo>
                  <a:pt x="0" y="1031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7" name="Group 27"/>
          <p:cNvGrpSpPr/>
          <p:nvPr/>
        </p:nvGrpSpPr>
        <p:grpSpPr>
          <a:xfrm>
            <a:off x="724956" y="337200"/>
            <a:ext cx="204600" cy="204600"/>
            <a:chOff x="0" y="0"/>
            <a:chExt cx="272800" cy="27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72796" cy="272796"/>
            </a:xfrm>
            <a:custGeom>
              <a:avLst/>
              <a:gdLst/>
              <a:ahLst/>
              <a:cxnLst/>
              <a:rect l="l" t="t" r="r" b="b"/>
              <a:pathLst>
                <a:path w="272796" h="272796">
                  <a:moveTo>
                    <a:pt x="272796" y="136398"/>
                  </a:moveTo>
                  <a:cubicBezTo>
                    <a:pt x="272796" y="61087"/>
                    <a:pt x="211709" y="0"/>
                    <a:pt x="136398" y="0"/>
                  </a:cubicBezTo>
                  <a:cubicBezTo>
                    <a:pt x="61087" y="0"/>
                    <a:pt x="0" y="61087"/>
                    <a:pt x="0" y="136398"/>
                  </a:cubicBezTo>
                  <a:cubicBezTo>
                    <a:pt x="0" y="211709"/>
                    <a:pt x="61087" y="272796"/>
                    <a:pt x="136398" y="272796"/>
                  </a:cubicBezTo>
                  <a:cubicBezTo>
                    <a:pt x="211709" y="272796"/>
                    <a:pt x="272796" y="211709"/>
                    <a:pt x="272796" y="136398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" name="AutoShape 29"/>
          <p:cNvSpPr/>
          <p:nvPr/>
        </p:nvSpPr>
        <p:spPr>
          <a:xfrm>
            <a:off x="-259510" y="918731"/>
            <a:ext cx="825450" cy="1905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0" name="AutoShape 30"/>
          <p:cNvSpPr/>
          <p:nvPr/>
        </p:nvSpPr>
        <p:spPr>
          <a:xfrm>
            <a:off x="-20377" y="921143"/>
            <a:ext cx="471450" cy="80265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1" name="Group 31"/>
          <p:cNvGrpSpPr/>
          <p:nvPr/>
        </p:nvGrpSpPr>
        <p:grpSpPr>
          <a:xfrm>
            <a:off x="427601" y="1663606"/>
            <a:ext cx="157200" cy="157200"/>
            <a:chOff x="0" y="0"/>
            <a:chExt cx="209600" cy="2096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209550" y="104775"/>
                  </a:moveTo>
                  <a:cubicBezTo>
                    <a:pt x="209550" y="46863"/>
                    <a:pt x="162687" y="0"/>
                    <a:pt x="104775" y="0"/>
                  </a:cubicBezTo>
                  <a:cubicBezTo>
                    <a:pt x="46863" y="0"/>
                    <a:pt x="0" y="46863"/>
                    <a:pt x="0" y="104775"/>
                  </a:cubicBezTo>
                  <a:cubicBezTo>
                    <a:pt x="0" y="162687"/>
                    <a:pt x="46863" y="209550"/>
                    <a:pt x="104775" y="209550"/>
                  </a:cubicBezTo>
                  <a:cubicBezTo>
                    <a:pt x="162687" y="209550"/>
                    <a:pt x="209550" y="162687"/>
                    <a:pt x="209550" y="104775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" name="AutoShape 33"/>
          <p:cNvSpPr/>
          <p:nvPr/>
        </p:nvSpPr>
        <p:spPr>
          <a:xfrm rot="7221008">
            <a:off x="-1453914" y="11140310"/>
            <a:ext cx="1128971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4" name="Freeform 34"/>
          <p:cNvSpPr/>
          <p:nvPr/>
        </p:nvSpPr>
        <p:spPr>
          <a:xfrm>
            <a:off x="2331811" y="657805"/>
            <a:ext cx="613905" cy="613905"/>
          </a:xfrm>
          <a:custGeom>
            <a:avLst/>
            <a:gdLst/>
            <a:ahLst/>
            <a:cxnLst/>
            <a:rect l="l" t="t" r="r" b="b"/>
            <a:pathLst>
              <a:path w="613905" h="613905">
                <a:moveTo>
                  <a:pt x="0" y="0"/>
                </a:moveTo>
                <a:lnTo>
                  <a:pt x="613904" y="0"/>
                </a:lnTo>
                <a:lnTo>
                  <a:pt x="613904" y="613905"/>
                </a:lnTo>
                <a:lnTo>
                  <a:pt x="0" y="6139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35"/>
          <p:cNvSpPr/>
          <p:nvPr/>
        </p:nvSpPr>
        <p:spPr>
          <a:xfrm>
            <a:off x="9953600" y="2661160"/>
            <a:ext cx="8377435" cy="5086284"/>
          </a:xfrm>
          <a:custGeom>
            <a:avLst/>
            <a:gdLst/>
            <a:ahLst/>
            <a:cxnLst/>
            <a:rect l="l" t="t" r="r" b="b"/>
            <a:pathLst>
              <a:path w="8377435" h="5086284">
                <a:moveTo>
                  <a:pt x="0" y="0"/>
                </a:moveTo>
                <a:lnTo>
                  <a:pt x="8377435" y="0"/>
                </a:lnTo>
                <a:lnTo>
                  <a:pt x="8377435" y="5086284"/>
                </a:lnTo>
                <a:lnTo>
                  <a:pt x="0" y="508628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3710" r="-236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TextBox 36"/>
          <p:cNvSpPr txBox="1"/>
          <p:nvPr/>
        </p:nvSpPr>
        <p:spPr>
          <a:xfrm>
            <a:off x="-110359" y="3589037"/>
            <a:ext cx="10267618" cy="3067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b="1" dirty="0" err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Dezvoltarea</a:t>
            </a:r>
            <a:r>
              <a:rPr lang="en-US" sz="4000" b="1" dirty="0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4000" b="1" dirty="0" err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unui</a:t>
            </a:r>
            <a:r>
              <a:rPr lang="en-US" sz="4000" b="1" dirty="0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4000" b="1" dirty="0" err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sistem</a:t>
            </a:r>
            <a:r>
              <a:rPr lang="en-US" sz="4000" b="1" dirty="0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4000" b="1" dirty="0" err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decizional</a:t>
            </a:r>
            <a:r>
              <a:rPr lang="en-US" sz="4000" b="1" dirty="0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4000" b="1" dirty="0" err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integrat</a:t>
            </a:r>
            <a:r>
              <a:rPr lang="en-US" sz="4000" b="1" dirty="0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 de Business Intelligence </a:t>
            </a:r>
            <a:r>
              <a:rPr lang="en-US" sz="4000" b="1" dirty="0" err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pentru</a:t>
            </a:r>
            <a:r>
              <a:rPr lang="en-US" sz="4000" b="1" dirty="0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4000" b="1" dirty="0" err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evaluarea</a:t>
            </a:r>
            <a:r>
              <a:rPr lang="en-US" sz="4000" b="1" dirty="0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4000" b="1" dirty="0" err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performanței</a:t>
            </a:r>
            <a:r>
              <a:rPr lang="en-US" sz="4000" b="1" dirty="0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4000" b="1" dirty="0" err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sistemului</a:t>
            </a:r>
            <a:r>
              <a:rPr lang="en-US" sz="4000" b="1" dirty="0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 medical </a:t>
            </a:r>
          </a:p>
          <a:p>
            <a:pPr algn="ctr">
              <a:lnSpc>
                <a:spcPts val="4800"/>
              </a:lnSpc>
            </a:pPr>
            <a:r>
              <a:rPr lang="en-US" sz="4000" dirty="0" err="1">
                <a:solidFill>
                  <a:srgbClr val="353552"/>
                </a:solidFill>
                <a:latin typeface="Arimo"/>
                <a:ea typeface="Arimo"/>
                <a:cs typeface="Arimo"/>
                <a:sym typeface="Arimo"/>
              </a:rPr>
              <a:t>Lucrare</a:t>
            </a:r>
            <a:r>
              <a:rPr lang="en-US" sz="4000" dirty="0">
                <a:solidFill>
                  <a:srgbClr val="353552"/>
                </a:solidFill>
                <a:latin typeface="Arimo"/>
                <a:ea typeface="Arimo"/>
                <a:cs typeface="Arimo"/>
                <a:sym typeface="Arimo"/>
              </a:rPr>
              <a:t> de </a:t>
            </a:r>
            <a:r>
              <a:rPr lang="en-US" sz="4000" dirty="0" err="1">
                <a:solidFill>
                  <a:srgbClr val="353552"/>
                </a:solidFill>
                <a:latin typeface="Arimo"/>
                <a:ea typeface="Arimo"/>
                <a:cs typeface="Arimo"/>
                <a:sym typeface="Arimo"/>
              </a:rPr>
              <a:t>licență</a:t>
            </a:r>
            <a:endParaRPr lang="en-US" sz="4000" dirty="0">
              <a:solidFill>
                <a:srgbClr val="35355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3060015" y="239774"/>
            <a:ext cx="10399597" cy="1943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ACADEMIA DE STUDII ECONOMICE DIN BUCUREŞTI</a:t>
            </a:r>
          </a:p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Facultatea de Cibernetică, Statistică și Informatică Economică</a:t>
            </a:r>
          </a:p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Specializarea: Cibernetică Economică</a:t>
            </a:r>
          </a:p>
          <a:p>
            <a:pPr algn="l">
              <a:lnSpc>
                <a:spcPts val="3840"/>
              </a:lnSpc>
            </a:pPr>
            <a:endParaRPr lang="en-US" sz="3200">
              <a:solidFill>
                <a:srgbClr val="353552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6081007" y="7747444"/>
            <a:ext cx="978681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endParaRPr dirty="0"/>
          </a:p>
          <a:p>
            <a:pPr algn="l">
              <a:lnSpc>
                <a:spcPts val="3840"/>
              </a:lnSpc>
            </a:pPr>
            <a:r>
              <a:rPr lang="en-US" sz="3200" b="1" dirty="0" err="1">
                <a:solidFill>
                  <a:srgbClr val="353552"/>
                </a:solidFill>
                <a:latin typeface="Catamaran Bold"/>
                <a:ea typeface="Catamaran Bold"/>
                <a:cs typeface="Catamaran Bold"/>
                <a:sym typeface="Catamaran Bold"/>
              </a:rPr>
              <a:t>Conducător</a:t>
            </a:r>
            <a:r>
              <a:rPr lang="en-US" sz="3200" b="1" dirty="0">
                <a:solidFill>
                  <a:srgbClr val="353552"/>
                </a:solidFill>
                <a:latin typeface="Catamaran Bold"/>
                <a:ea typeface="Catamaran Bold"/>
                <a:cs typeface="Catamaran Bold"/>
                <a:sym typeface="Catamaran Bold"/>
              </a:rPr>
              <a:t> </a:t>
            </a:r>
            <a:r>
              <a:rPr lang="en-US" sz="3200" b="1" dirty="0" err="1">
                <a:solidFill>
                  <a:srgbClr val="353552"/>
                </a:solidFill>
                <a:latin typeface="Catamaran Bold"/>
                <a:ea typeface="Catamaran Bold"/>
                <a:cs typeface="Catamaran Bold"/>
                <a:sym typeface="Catamaran Bold"/>
              </a:rPr>
              <a:t>științific</a:t>
            </a:r>
            <a:r>
              <a:rPr lang="en-US" sz="3200" dirty="0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: Lect. Univ. Dr. Ionuț NICA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135530" y="8776569"/>
            <a:ext cx="6190774" cy="536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5"/>
              </a:lnSpc>
              <a:spcBef>
                <a:spcPct val="0"/>
              </a:spcBef>
            </a:pPr>
            <a:r>
              <a:rPr lang="en-US" sz="3199" b="1">
                <a:solidFill>
                  <a:srgbClr val="353552"/>
                </a:solidFill>
                <a:latin typeface="Catamaran Bold"/>
                <a:ea typeface="Catamaran Bold"/>
                <a:cs typeface="Catamaran Bold"/>
                <a:sym typeface="Catamaran Bold"/>
              </a:rPr>
              <a:t>Absolvent: </a:t>
            </a:r>
            <a:r>
              <a:rPr lang="en-US" sz="3199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Alexandru-Marian Măroiu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66870" y="-401140"/>
            <a:ext cx="2520733" cy="2187169"/>
          </a:xfrm>
          <a:custGeom>
            <a:avLst/>
            <a:gdLst/>
            <a:ahLst/>
            <a:cxnLst/>
            <a:rect l="l" t="t" r="r" b="b"/>
            <a:pathLst>
              <a:path w="2520733" h="2187169">
                <a:moveTo>
                  <a:pt x="0" y="0"/>
                </a:moveTo>
                <a:lnTo>
                  <a:pt x="2520734" y="0"/>
                </a:lnTo>
                <a:lnTo>
                  <a:pt x="2520734" y="2187170"/>
                </a:lnTo>
                <a:lnTo>
                  <a:pt x="0" y="21871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rot="3599864">
            <a:off x="18528926" y="2273082"/>
            <a:ext cx="1180419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6861554" y="2007006"/>
            <a:ext cx="614400" cy="532200"/>
            <a:chOff x="0" y="0"/>
            <a:chExt cx="819200" cy="709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9150" cy="709549"/>
            </a:xfrm>
            <a:custGeom>
              <a:avLst/>
              <a:gdLst/>
              <a:ahLst/>
              <a:cxnLst/>
              <a:rect l="l" t="t" r="r" b="b"/>
              <a:pathLst>
                <a:path w="819150" h="709549">
                  <a:moveTo>
                    <a:pt x="0" y="354838"/>
                  </a:moveTo>
                  <a:lnTo>
                    <a:pt x="177419" y="0"/>
                  </a:lnTo>
                  <a:lnTo>
                    <a:pt x="641858" y="0"/>
                  </a:lnTo>
                  <a:lnTo>
                    <a:pt x="819150" y="354838"/>
                  </a:lnTo>
                  <a:lnTo>
                    <a:pt x="641858" y="709549"/>
                  </a:lnTo>
                  <a:lnTo>
                    <a:pt x="177419" y="709549"/>
                  </a:lnTo>
                  <a:close/>
                </a:path>
              </a:pathLst>
            </a:custGeom>
            <a:solidFill>
              <a:srgbClr val="5BA3F8">
                <a:alpha val="35294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rot="45367">
            <a:off x="15447430" y="692446"/>
            <a:ext cx="1443576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14833329" y="416831"/>
            <a:ext cx="633450" cy="551250"/>
            <a:chOff x="0" y="0"/>
            <a:chExt cx="844600" cy="735000"/>
          </a:xfrm>
        </p:grpSpPr>
        <p:sp>
          <p:nvSpPr>
            <p:cNvPr id="8" name="Freeform 8"/>
            <p:cNvSpPr/>
            <p:nvPr/>
          </p:nvSpPr>
          <p:spPr>
            <a:xfrm>
              <a:off x="63" y="0"/>
              <a:ext cx="844550" cy="734949"/>
            </a:xfrm>
            <a:custGeom>
              <a:avLst/>
              <a:gdLst/>
              <a:ahLst/>
              <a:cxnLst/>
              <a:rect l="l" t="t" r="r" b="b"/>
              <a:pathLst>
                <a:path w="844550" h="734949">
                  <a:moveTo>
                    <a:pt x="1334" y="361823"/>
                  </a:moveTo>
                  <a:lnTo>
                    <a:pt x="179515" y="6985"/>
                  </a:lnTo>
                  <a:cubicBezTo>
                    <a:pt x="181674" y="2667"/>
                    <a:pt x="186119" y="0"/>
                    <a:pt x="190818" y="0"/>
                  </a:cubicBezTo>
                  <a:lnTo>
                    <a:pt x="653606" y="0"/>
                  </a:lnTo>
                  <a:cubicBezTo>
                    <a:pt x="658432" y="0"/>
                    <a:pt x="662750" y="2667"/>
                    <a:pt x="664909" y="6985"/>
                  </a:cubicBezTo>
                  <a:lnTo>
                    <a:pt x="843217" y="361823"/>
                  </a:lnTo>
                  <a:cubicBezTo>
                    <a:pt x="844995" y="365379"/>
                    <a:pt x="844995" y="369697"/>
                    <a:pt x="843217" y="373253"/>
                  </a:cubicBezTo>
                  <a:lnTo>
                    <a:pt x="664909" y="727964"/>
                  </a:lnTo>
                  <a:cubicBezTo>
                    <a:pt x="662750" y="732282"/>
                    <a:pt x="658305" y="734949"/>
                    <a:pt x="653606" y="734949"/>
                  </a:cubicBezTo>
                  <a:lnTo>
                    <a:pt x="190818" y="734949"/>
                  </a:lnTo>
                  <a:cubicBezTo>
                    <a:pt x="185992" y="734949"/>
                    <a:pt x="181674" y="732282"/>
                    <a:pt x="179515" y="727964"/>
                  </a:cubicBezTo>
                  <a:lnTo>
                    <a:pt x="1334" y="373253"/>
                  </a:lnTo>
                  <a:cubicBezTo>
                    <a:pt x="-444" y="369697"/>
                    <a:pt x="-444" y="365379"/>
                    <a:pt x="1334" y="361823"/>
                  </a:cubicBezTo>
                  <a:moveTo>
                    <a:pt x="24067" y="373253"/>
                  </a:moveTo>
                  <a:lnTo>
                    <a:pt x="12637" y="367538"/>
                  </a:lnTo>
                  <a:lnTo>
                    <a:pt x="23940" y="361823"/>
                  </a:lnTo>
                  <a:lnTo>
                    <a:pt x="202248" y="716661"/>
                  </a:lnTo>
                  <a:lnTo>
                    <a:pt x="190945" y="722376"/>
                  </a:lnTo>
                  <a:lnTo>
                    <a:pt x="190945" y="709676"/>
                  </a:lnTo>
                  <a:lnTo>
                    <a:pt x="653606" y="709676"/>
                  </a:lnTo>
                  <a:lnTo>
                    <a:pt x="653606" y="722376"/>
                  </a:lnTo>
                  <a:lnTo>
                    <a:pt x="642303" y="716661"/>
                  </a:lnTo>
                  <a:lnTo>
                    <a:pt x="820484" y="361823"/>
                  </a:lnTo>
                  <a:lnTo>
                    <a:pt x="831787" y="367538"/>
                  </a:lnTo>
                  <a:lnTo>
                    <a:pt x="820484" y="373253"/>
                  </a:lnTo>
                  <a:lnTo>
                    <a:pt x="642303" y="18415"/>
                  </a:lnTo>
                  <a:lnTo>
                    <a:pt x="653606" y="12700"/>
                  </a:lnTo>
                  <a:lnTo>
                    <a:pt x="653606" y="25400"/>
                  </a:lnTo>
                  <a:lnTo>
                    <a:pt x="190818" y="25400"/>
                  </a:lnTo>
                  <a:lnTo>
                    <a:pt x="190818" y="12700"/>
                  </a:lnTo>
                  <a:lnTo>
                    <a:pt x="202121" y="18415"/>
                  </a:lnTo>
                  <a:lnTo>
                    <a:pt x="23940" y="373253"/>
                  </a:ln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Freeform 9"/>
          <p:cNvSpPr/>
          <p:nvPr/>
        </p:nvSpPr>
        <p:spPr>
          <a:xfrm>
            <a:off x="15242056" y="9844912"/>
            <a:ext cx="1766477" cy="1532723"/>
          </a:xfrm>
          <a:custGeom>
            <a:avLst/>
            <a:gdLst/>
            <a:ahLst/>
            <a:cxnLst/>
            <a:rect l="l" t="t" r="r" b="b"/>
            <a:pathLst>
              <a:path w="1766477" h="1532723">
                <a:moveTo>
                  <a:pt x="0" y="0"/>
                </a:moveTo>
                <a:lnTo>
                  <a:pt x="1766478" y="0"/>
                </a:lnTo>
                <a:lnTo>
                  <a:pt x="1766478" y="1532724"/>
                </a:lnTo>
                <a:lnTo>
                  <a:pt x="0" y="15327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17900625" y="7695949"/>
            <a:ext cx="933450" cy="811050"/>
            <a:chOff x="0" y="0"/>
            <a:chExt cx="1244600" cy="1081400"/>
          </a:xfrm>
        </p:grpSpPr>
        <p:sp>
          <p:nvSpPr>
            <p:cNvPr id="11" name="Freeform 11"/>
            <p:cNvSpPr/>
            <p:nvPr/>
          </p:nvSpPr>
          <p:spPr>
            <a:xfrm>
              <a:off x="63" y="0"/>
              <a:ext cx="1244600" cy="1081405"/>
            </a:xfrm>
            <a:custGeom>
              <a:avLst/>
              <a:gdLst/>
              <a:ahLst/>
              <a:cxnLst/>
              <a:rect l="l" t="t" r="r" b="b"/>
              <a:pathLst>
                <a:path w="1244600" h="1081405">
                  <a:moveTo>
                    <a:pt x="1220534" y="546354"/>
                  </a:moveTo>
                  <a:lnTo>
                    <a:pt x="955612" y="18415"/>
                  </a:lnTo>
                  <a:lnTo>
                    <a:pt x="967042" y="12700"/>
                  </a:lnTo>
                  <a:lnTo>
                    <a:pt x="967042" y="25400"/>
                  </a:lnTo>
                  <a:lnTo>
                    <a:pt x="277432" y="25400"/>
                  </a:lnTo>
                  <a:lnTo>
                    <a:pt x="277432" y="12700"/>
                  </a:lnTo>
                  <a:lnTo>
                    <a:pt x="288735" y="18415"/>
                  </a:lnTo>
                  <a:lnTo>
                    <a:pt x="23940" y="546354"/>
                  </a:lnTo>
                  <a:lnTo>
                    <a:pt x="12637" y="540639"/>
                  </a:lnTo>
                  <a:lnTo>
                    <a:pt x="23940" y="534924"/>
                  </a:lnTo>
                  <a:lnTo>
                    <a:pt x="288862" y="1062990"/>
                  </a:lnTo>
                  <a:lnTo>
                    <a:pt x="277559" y="1068705"/>
                  </a:lnTo>
                  <a:lnTo>
                    <a:pt x="277559" y="1056005"/>
                  </a:lnTo>
                  <a:lnTo>
                    <a:pt x="967042" y="1056005"/>
                  </a:lnTo>
                  <a:lnTo>
                    <a:pt x="967042" y="1068705"/>
                  </a:lnTo>
                  <a:lnTo>
                    <a:pt x="955739" y="1062990"/>
                  </a:lnTo>
                  <a:lnTo>
                    <a:pt x="1220534" y="535051"/>
                  </a:lnTo>
                  <a:lnTo>
                    <a:pt x="1231837" y="540766"/>
                  </a:lnTo>
                  <a:lnTo>
                    <a:pt x="1220534" y="546481"/>
                  </a:lnTo>
                  <a:moveTo>
                    <a:pt x="1243267" y="535051"/>
                  </a:moveTo>
                  <a:cubicBezTo>
                    <a:pt x="1245045" y="538607"/>
                    <a:pt x="1245045" y="542798"/>
                    <a:pt x="1243267" y="546481"/>
                  </a:cubicBezTo>
                  <a:lnTo>
                    <a:pt x="978345" y="1074420"/>
                  </a:lnTo>
                  <a:cubicBezTo>
                    <a:pt x="976186" y="1078738"/>
                    <a:pt x="971741" y="1081405"/>
                    <a:pt x="967042" y="1081405"/>
                  </a:cubicBezTo>
                  <a:lnTo>
                    <a:pt x="277432" y="1081405"/>
                  </a:lnTo>
                  <a:cubicBezTo>
                    <a:pt x="272606" y="1081405"/>
                    <a:pt x="268288" y="1078738"/>
                    <a:pt x="266129" y="1074420"/>
                  </a:cubicBezTo>
                  <a:lnTo>
                    <a:pt x="1334" y="546354"/>
                  </a:lnTo>
                  <a:cubicBezTo>
                    <a:pt x="-444" y="542798"/>
                    <a:pt x="-444" y="538607"/>
                    <a:pt x="1334" y="534924"/>
                  </a:cubicBezTo>
                  <a:lnTo>
                    <a:pt x="266129" y="6985"/>
                  </a:lnTo>
                  <a:cubicBezTo>
                    <a:pt x="268288" y="2667"/>
                    <a:pt x="272733" y="0"/>
                    <a:pt x="277432" y="0"/>
                  </a:cubicBezTo>
                  <a:lnTo>
                    <a:pt x="967042" y="0"/>
                  </a:lnTo>
                  <a:cubicBezTo>
                    <a:pt x="971868" y="0"/>
                    <a:pt x="976186" y="2667"/>
                    <a:pt x="978345" y="6985"/>
                  </a:cubicBezTo>
                  <a:lnTo>
                    <a:pt x="1243140" y="535051"/>
                  </a:lnTo>
                  <a:close/>
                </a:path>
              </a:pathLst>
            </a:custGeom>
            <a:solidFill>
              <a:srgbClr val="AFE0D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AutoShape 12"/>
          <p:cNvSpPr/>
          <p:nvPr/>
        </p:nvSpPr>
        <p:spPr>
          <a:xfrm rot="3754738">
            <a:off x="16827335" y="9417526"/>
            <a:ext cx="1576134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 rot="78807">
            <a:off x="17951818" y="8734926"/>
            <a:ext cx="831068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 rot="7219507">
            <a:off x="17012221" y="8191876"/>
            <a:ext cx="1287863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5" name="Group 15"/>
          <p:cNvGrpSpPr/>
          <p:nvPr/>
        </p:nvGrpSpPr>
        <p:grpSpPr>
          <a:xfrm>
            <a:off x="18729252" y="8656276"/>
            <a:ext cx="157200" cy="157200"/>
            <a:chOff x="0" y="0"/>
            <a:chExt cx="209600" cy="2096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209550" y="104775"/>
                  </a:moveTo>
                  <a:cubicBezTo>
                    <a:pt x="209550" y="46863"/>
                    <a:pt x="162687" y="0"/>
                    <a:pt x="104775" y="0"/>
                  </a:cubicBezTo>
                  <a:cubicBezTo>
                    <a:pt x="46863" y="0"/>
                    <a:pt x="0" y="46863"/>
                    <a:pt x="0" y="104775"/>
                  </a:cubicBezTo>
                  <a:cubicBezTo>
                    <a:pt x="0" y="162687"/>
                    <a:pt x="46863" y="209550"/>
                    <a:pt x="104775" y="209550"/>
                  </a:cubicBezTo>
                  <a:cubicBezTo>
                    <a:pt x="162687" y="209550"/>
                    <a:pt x="209550" y="162687"/>
                    <a:pt x="209550" y="104775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966448" y="8972432"/>
            <a:ext cx="614400" cy="532200"/>
            <a:chOff x="0" y="0"/>
            <a:chExt cx="819200" cy="7096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9150" cy="709549"/>
            </a:xfrm>
            <a:custGeom>
              <a:avLst/>
              <a:gdLst/>
              <a:ahLst/>
              <a:cxnLst/>
              <a:rect l="l" t="t" r="r" b="b"/>
              <a:pathLst>
                <a:path w="819150" h="709549">
                  <a:moveTo>
                    <a:pt x="819150" y="354838"/>
                  </a:moveTo>
                  <a:lnTo>
                    <a:pt x="641858" y="0"/>
                  </a:lnTo>
                  <a:lnTo>
                    <a:pt x="177419" y="0"/>
                  </a:lnTo>
                  <a:lnTo>
                    <a:pt x="0" y="354838"/>
                  </a:lnTo>
                  <a:lnTo>
                    <a:pt x="177419" y="709549"/>
                  </a:lnTo>
                  <a:lnTo>
                    <a:pt x="641858" y="709549"/>
                  </a:lnTo>
                  <a:close/>
                </a:path>
              </a:pathLst>
            </a:custGeom>
            <a:solidFill>
              <a:srgbClr val="7CBEFF">
                <a:alpha val="35294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Freeform 19"/>
          <p:cNvSpPr/>
          <p:nvPr/>
        </p:nvSpPr>
        <p:spPr>
          <a:xfrm>
            <a:off x="-734439" y="7963925"/>
            <a:ext cx="1946828" cy="1258673"/>
          </a:xfrm>
          <a:custGeom>
            <a:avLst/>
            <a:gdLst/>
            <a:ahLst/>
            <a:cxnLst/>
            <a:rect l="l" t="t" r="r" b="b"/>
            <a:pathLst>
              <a:path w="1946828" h="1258673">
                <a:moveTo>
                  <a:pt x="0" y="0"/>
                </a:moveTo>
                <a:lnTo>
                  <a:pt x="1946828" y="0"/>
                </a:lnTo>
                <a:lnTo>
                  <a:pt x="1946828" y="1258673"/>
                </a:lnTo>
                <a:lnTo>
                  <a:pt x="0" y="12586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AutoShape 20"/>
          <p:cNvSpPr/>
          <p:nvPr/>
        </p:nvSpPr>
        <p:spPr>
          <a:xfrm>
            <a:off x="-296934" y="9222598"/>
            <a:ext cx="570675" cy="355987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/>
          <p:nvPr/>
        </p:nvGrpSpPr>
        <p:grpSpPr>
          <a:xfrm>
            <a:off x="79000" y="9508348"/>
            <a:ext cx="836516" cy="726639"/>
            <a:chOff x="0" y="0"/>
            <a:chExt cx="1115354" cy="968852"/>
          </a:xfrm>
        </p:grpSpPr>
        <p:sp>
          <p:nvSpPr>
            <p:cNvPr id="22" name="Freeform 22"/>
            <p:cNvSpPr/>
            <p:nvPr/>
          </p:nvSpPr>
          <p:spPr>
            <a:xfrm>
              <a:off x="63" y="0"/>
              <a:ext cx="1119759" cy="973328"/>
            </a:xfrm>
            <a:custGeom>
              <a:avLst/>
              <a:gdLst/>
              <a:ahLst/>
              <a:cxnLst/>
              <a:rect l="l" t="t" r="r" b="b"/>
              <a:pathLst>
                <a:path w="1119759" h="973328">
                  <a:moveTo>
                    <a:pt x="1334" y="480949"/>
                  </a:moveTo>
                  <a:lnTo>
                    <a:pt x="238951" y="6985"/>
                  </a:lnTo>
                  <a:cubicBezTo>
                    <a:pt x="241110" y="2667"/>
                    <a:pt x="245555" y="0"/>
                    <a:pt x="250254" y="0"/>
                  </a:cubicBezTo>
                  <a:lnTo>
                    <a:pt x="869506" y="0"/>
                  </a:lnTo>
                  <a:cubicBezTo>
                    <a:pt x="874332" y="0"/>
                    <a:pt x="878650" y="2667"/>
                    <a:pt x="880809" y="6985"/>
                  </a:cubicBezTo>
                  <a:lnTo>
                    <a:pt x="1118426" y="480949"/>
                  </a:lnTo>
                  <a:cubicBezTo>
                    <a:pt x="1120204" y="484505"/>
                    <a:pt x="1120204" y="488696"/>
                    <a:pt x="1118426" y="492379"/>
                  </a:cubicBezTo>
                  <a:lnTo>
                    <a:pt x="880809" y="966343"/>
                  </a:lnTo>
                  <a:cubicBezTo>
                    <a:pt x="878650" y="970661"/>
                    <a:pt x="874205" y="973328"/>
                    <a:pt x="869506" y="973328"/>
                  </a:cubicBezTo>
                  <a:lnTo>
                    <a:pt x="250381" y="973328"/>
                  </a:lnTo>
                  <a:cubicBezTo>
                    <a:pt x="245555" y="973328"/>
                    <a:pt x="241237" y="970661"/>
                    <a:pt x="239078" y="966343"/>
                  </a:cubicBezTo>
                  <a:lnTo>
                    <a:pt x="1334" y="492379"/>
                  </a:lnTo>
                  <a:cubicBezTo>
                    <a:pt x="-444" y="488823"/>
                    <a:pt x="-444" y="484632"/>
                    <a:pt x="1334" y="480949"/>
                  </a:cubicBezTo>
                  <a:moveTo>
                    <a:pt x="24067" y="492379"/>
                  </a:moveTo>
                  <a:lnTo>
                    <a:pt x="12637" y="486664"/>
                  </a:lnTo>
                  <a:lnTo>
                    <a:pt x="23940" y="480949"/>
                  </a:lnTo>
                  <a:lnTo>
                    <a:pt x="261684" y="955040"/>
                  </a:lnTo>
                  <a:lnTo>
                    <a:pt x="250381" y="960755"/>
                  </a:lnTo>
                  <a:lnTo>
                    <a:pt x="250381" y="948055"/>
                  </a:lnTo>
                  <a:lnTo>
                    <a:pt x="869506" y="948055"/>
                  </a:lnTo>
                  <a:lnTo>
                    <a:pt x="869506" y="960755"/>
                  </a:lnTo>
                  <a:lnTo>
                    <a:pt x="858203" y="955040"/>
                  </a:lnTo>
                  <a:lnTo>
                    <a:pt x="1095820" y="480949"/>
                  </a:lnTo>
                  <a:lnTo>
                    <a:pt x="1107123" y="486664"/>
                  </a:lnTo>
                  <a:lnTo>
                    <a:pt x="1095820" y="492379"/>
                  </a:lnTo>
                  <a:lnTo>
                    <a:pt x="858076" y="18415"/>
                  </a:lnTo>
                  <a:lnTo>
                    <a:pt x="869506" y="12700"/>
                  </a:lnTo>
                  <a:lnTo>
                    <a:pt x="869506" y="25400"/>
                  </a:lnTo>
                  <a:lnTo>
                    <a:pt x="250381" y="25400"/>
                  </a:lnTo>
                  <a:lnTo>
                    <a:pt x="250381" y="12700"/>
                  </a:lnTo>
                  <a:lnTo>
                    <a:pt x="261684" y="18415"/>
                  </a:lnTo>
                  <a:lnTo>
                    <a:pt x="23940" y="492379"/>
                  </a:lnTo>
                  <a:close/>
                </a:path>
              </a:pathLst>
            </a:custGeom>
            <a:solidFill>
              <a:srgbClr val="6875A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62516" y="9580532"/>
            <a:ext cx="669483" cy="582272"/>
            <a:chOff x="0" y="0"/>
            <a:chExt cx="892645" cy="776363"/>
          </a:xfrm>
        </p:grpSpPr>
        <p:sp>
          <p:nvSpPr>
            <p:cNvPr id="24" name="Freeform 24"/>
            <p:cNvSpPr/>
            <p:nvPr/>
          </p:nvSpPr>
          <p:spPr>
            <a:xfrm>
              <a:off x="63" y="0"/>
              <a:ext cx="897128" cy="780923"/>
            </a:xfrm>
            <a:custGeom>
              <a:avLst/>
              <a:gdLst/>
              <a:ahLst/>
              <a:cxnLst/>
              <a:rect l="l" t="t" r="r" b="b"/>
              <a:pathLst>
                <a:path w="897128" h="780923">
                  <a:moveTo>
                    <a:pt x="1334" y="384810"/>
                  </a:moveTo>
                  <a:lnTo>
                    <a:pt x="190818" y="6985"/>
                  </a:lnTo>
                  <a:cubicBezTo>
                    <a:pt x="192977" y="2667"/>
                    <a:pt x="197422" y="0"/>
                    <a:pt x="202121" y="0"/>
                  </a:cubicBezTo>
                  <a:lnTo>
                    <a:pt x="694881" y="0"/>
                  </a:lnTo>
                  <a:cubicBezTo>
                    <a:pt x="699707" y="0"/>
                    <a:pt x="704025" y="2667"/>
                    <a:pt x="706184" y="6985"/>
                  </a:cubicBezTo>
                  <a:lnTo>
                    <a:pt x="895795" y="384810"/>
                  </a:lnTo>
                  <a:cubicBezTo>
                    <a:pt x="897573" y="388366"/>
                    <a:pt x="897573" y="392557"/>
                    <a:pt x="895795" y="396240"/>
                  </a:cubicBezTo>
                  <a:lnTo>
                    <a:pt x="706184" y="773938"/>
                  </a:lnTo>
                  <a:cubicBezTo>
                    <a:pt x="704025" y="778256"/>
                    <a:pt x="699580" y="780923"/>
                    <a:pt x="694881" y="780923"/>
                  </a:cubicBezTo>
                  <a:lnTo>
                    <a:pt x="202248" y="780923"/>
                  </a:lnTo>
                  <a:cubicBezTo>
                    <a:pt x="197422" y="780923"/>
                    <a:pt x="193104" y="778256"/>
                    <a:pt x="190945" y="773938"/>
                  </a:cubicBezTo>
                  <a:lnTo>
                    <a:pt x="1334" y="396113"/>
                  </a:lnTo>
                  <a:cubicBezTo>
                    <a:pt x="-444" y="392557"/>
                    <a:pt x="-444" y="388366"/>
                    <a:pt x="1334" y="384683"/>
                  </a:cubicBezTo>
                  <a:moveTo>
                    <a:pt x="24067" y="396113"/>
                  </a:moveTo>
                  <a:lnTo>
                    <a:pt x="12637" y="390398"/>
                  </a:lnTo>
                  <a:lnTo>
                    <a:pt x="23940" y="384683"/>
                  </a:lnTo>
                  <a:lnTo>
                    <a:pt x="213551" y="762508"/>
                  </a:lnTo>
                  <a:lnTo>
                    <a:pt x="202248" y="768223"/>
                  </a:lnTo>
                  <a:lnTo>
                    <a:pt x="202248" y="755523"/>
                  </a:lnTo>
                  <a:lnTo>
                    <a:pt x="694881" y="755523"/>
                  </a:lnTo>
                  <a:lnTo>
                    <a:pt x="694881" y="768223"/>
                  </a:lnTo>
                  <a:lnTo>
                    <a:pt x="683578" y="762508"/>
                  </a:lnTo>
                  <a:lnTo>
                    <a:pt x="873062" y="384810"/>
                  </a:lnTo>
                  <a:lnTo>
                    <a:pt x="884365" y="390525"/>
                  </a:lnTo>
                  <a:lnTo>
                    <a:pt x="873062" y="396240"/>
                  </a:lnTo>
                  <a:lnTo>
                    <a:pt x="683578" y="18415"/>
                  </a:lnTo>
                  <a:lnTo>
                    <a:pt x="694881" y="12700"/>
                  </a:lnTo>
                  <a:lnTo>
                    <a:pt x="694881" y="25400"/>
                  </a:lnTo>
                  <a:lnTo>
                    <a:pt x="202248" y="25400"/>
                  </a:lnTo>
                  <a:lnTo>
                    <a:pt x="202248" y="12700"/>
                  </a:lnTo>
                  <a:lnTo>
                    <a:pt x="213551" y="18415"/>
                  </a:lnTo>
                  <a:lnTo>
                    <a:pt x="23940" y="396113"/>
                  </a:ln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0" y="6664549"/>
            <a:ext cx="1191000" cy="1031400"/>
            <a:chOff x="0" y="0"/>
            <a:chExt cx="1588000" cy="13752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588008" cy="1375156"/>
            </a:xfrm>
            <a:custGeom>
              <a:avLst/>
              <a:gdLst/>
              <a:ahLst/>
              <a:cxnLst/>
              <a:rect l="l" t="t" r="r" b="b"/>
              <a:pathLst>
                <a:path w="1588008" h="1375156">
                  <a:moveTo>
                    <a:pt x="0" y="687578"/>
                  </a:moveTo>
                  <a:lnTo>
                    <a:pt x="343789" y="0"/>
                  </a:lnTo>
                  <a:lnTo>
                    <a:pt x="1244219" y="0"/>
                  </a:lnTo>
                  <a:lnTo>
                    <a:pt x="1588008" y="687578"/>
                  </a:lnTo>
                  <a:lnTo>
                    <a:pt x="1244219" y="1375156"/>
                  </a:lnTo>
                  <a:lnTo>
                    <a:pt x="343789" y="1375156"/>
                  </a:lnTo>
                  <a:close/>
                </a:path>
              </a:pathLst>
            </a:custGeom>
            <a:solidFill>
              <a:srgbClr val="7CBEFF">
                <a:alpha val="35294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62516" y="6809222"/>
            <a:ext cx="871050" cy="757050"/>
            <a:chOff x="0" y="0"/>
            <a:chExt cx="1161400" cy="1009400"/>
          </a:xfrm>
        </p:grpSpPr>
        <p:sp>
          <p:nvSpPr>
            <p:cNvPr id="28" name="Freeform 28"/>
            <p:cNvSpPr/>
            <p:nvPr/>
          </p:nvSpPr>
          <p:spPr>
            <a:xfrm>
              <a:off x="63" y="0"/>
              <a:ext cx="1161288" cy="1009396"/>
            </a:xfrm>
            <a:custGeom>
              <a:avLst/>
              <a:gdLst/>
              <a:ahLst/>
              <a:cxnLst/>
              <a:rect l="l" t="t" r="r" b="b"/>
              <a:pathLst>
                <a:path w="1161288" h="1009396">
                  <a:moveTo>
                    <a:pt x="1334" y="498983"/>
                  </a:moveTo>
                  <a:lnTo>
                    <a:pt x="248095" y="6985"/>
                  </a:lnTo>
                  <a:cubicBezTo>
                    <a:pt x="250254" y="2667"/>
                    <a:pt x="254699" y="0"/>
                    <a:pt x="259398" y="0"/>
                  </a:cubicBezTo>
                  <a:lnTo>
                    <a:pt x="901764" y="0"/>
                  </a:lnTo>
                  <a:cubicBezTo>
                    <a:pt x="906590" y="0"/>
                    <a:pt x="910908" y="2667"/>
                    <a:pt x="913067" y="6985"/>
                  </a:cubicBezTo>
                  <a:lnTo>
                    <a:pt x="1159955" y="498983"/>
                  </a:lnTo>
                  <a:cubicBezTo>
                    <a:pt x="1161733" y="502539"/>
                    <a:pt x="1161733" y="506730"/>
                    <a:pt x="1159955" y="510413"/>
                  </a:cubicBezTo>
                  <a:lnTo>
                    <a:pt x="913194" y="1002411"/>
                  </a:lnTo>
                  <a:cubicBezTo>
                    <a:pt x="911035" y="1006729"/>
                    <a:pt x="906590" y="1009396"/>
                    <a:pt x="901891" y="1009396"/>
                  </a:cubicBezTo>
                  <a:lnTo>
                    <a:pt x="259525" y="1009396"/>
                  </a:lnTo>
                  <a:cubicBezTo>
                    <a:pt x="254699" y="1009396"/>
                    <a:pt x="250381" y="1006729"/>
                    <a:pt x="248222" y="1002411"/>
                  </a:cubicBezTo>
                  <a:lnTo>
                    <a:pt x="1334" y="510413"/>
                  </a:lnTo>
                  <a:cubicBezTo>
                    <a:pt x="-444" y="506857"/>
                    <a:pt x="-444" y="502666"/>
                    <a:pt x="1334" y="498983"/>
                  </a:cubicBezTo>
                  <a:moveTo>
                    <a:pt x="24067" y="510413"/>
                  </a:moveTo>
                  <a:lnTo>
                    <a:pt x="12637" y="504698"/>
                  </a:lnTo>
                  <a:lnTo>
                    <a:pt x="23940" y="498983"/>
                  </a:lnTo>
                  <a:lnTo>
                    <a:pt x="270828" y="990981"/>
                  </a:lnTo>
                  <a:lnTo>
                    <a:pt x="259525" y="996696"/>
                  </a:lnTo>
                  <a:lnTo>
                    <a:pt x="259525" y="983996"/>
                  </a:lnTo>
                  <a:lnTo>
                    <a:pt x="901764" y="983996"/>
                  </a:lnTo>
                  <a:lnTo>
                    <a:pt x="901764" y="996696"/>
                  </a:lnTo>
                  <a:lnTo>
                    <a:pt x="890461" y="990981"/>
                  </a:lnTo>
                  <a:lnTo>
                    <a:pt x="1137222" y="498983"/>
                  </a:lnTo>
                  <a:lnTo>
                    <a:pt x="1148525" y="504698"/>
                  </a:lnTo>
                  <a:lnTo>
                    <a:pt x="1137222" y="510413"/>
                  </a:lnTo>
                  <a:lnTo>
                    <a:pt x="890461" y="18415"/>
                  </a:lnTo>
                  <a:lnTo>
                    <a:pt x="901764" y="12700"/>
                  </a:lnTo>
                  <a:lnTo>
                    <a:pt x="901764" y="25400"/>
                  </a:lnTo>
                  <a:lnTo>
                    <a:pt x="259525" y="25400"/>
                  </a:lnTo>
                  <a:lnTo>
                    <a:pt x="259525" y="12700"/>
                  </a:lnTo>
                  <a:lnTo>
                    <a:pt x="270828" y="18415"/>
                  </a:lnTo>
                  <a:lnTo>
                    <a:pt x="23940" y="510413"/>
                  </a:lnTo>
                  <a:close/>
                </a:path>
              </a:pathLst>
            </a:custGeom>
            <a:solidFill>
              <a:srgbClr val="7CBE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6444426" y="245726"/>
            <a:ext cx="204600" cy="204600"/>
            <a:chOff x="0" y="0"/>
            <a:chExt cx="272800" cy="27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72796" cy="272796"/>
            </a:xfrm>
            <a:custGeom>
              <a:avLst/>
              <a:gdLst/>
              <a:ahLst/>
              <a:cxnLst/>
              <a:rect l="l" t="t" r="r" b="b"/>
              <a:pathLst>
                <a:path w="272796" h="272796">
                  <a:moveTo>
                    <a:pt x="272796" y="136398"/>
                  </a:moveTo>
                  <a:cubicBezTo>
                    <a:pt x="272796" y="61087"/>
                    <a:pt x="211709" y="0"/>
                    <a:pt x="136398" y="0"/>
                  </a:cubicBezTo>
                  <a:cubicBezTo>
                    <a:pt x="61087" y="0"/>
                    <a:pt x="0" y="61087"/>
                    <a:pt x="0" y="136398"/>
                  </a:cubicBezTo>
                  <a:cubicBezTo>
                    <a:pt x="0" y="211709"/>
                    <a:pt x="61087" y="272796"/>
                    <a:pt x="136398" y="272796"/>
                  </a:cubicBezTo>
                  <a:cubicBezTo>
                    <a:pt x="211709" y="272796"/>
                    <a:pt x="272796" y="211709"/>
                    <a:pt x="272796" y="136398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7659076" y="2570076"/>
            <a:ext cx="204600" cy="204600"/>
            <a:chOff x="0" y="0"/>
            <a:chExt cx="272800" cy="27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72796" cy="272796"/>
            </a:xfrm>
            <a:custGeom>
              <a:avLst/>
              <a:gdLst/>
              <a:ahLst/>
              <a:cxnLst/>
              <a:rect l="l" t="t" r="r" b="b"/>
              <a:pathLst>
                <a:path w="272796" h="272796">
                  <a:moveTo>
                    <a:pt x="272796" y="136398"/>
                  </a:moveTo>
                  <a:cubicBezTo>
                    <a:pt x="272796" y="61087"/>
                    <a:pt x="211709" y="0"/>
                    <a:pt x="136398" y="0"/>
                  </a:cubicBezTo>
                  <a:cubicBezTo>
                    <a:pt x="61087" y="0"/>
                    <a:pt x="0" y="61087"/>
                    <a:pt x="0" y="136398"/>
                  </a:cubicBezTo>
                  <a:cubicBezTo>
                    <a:pt x="0" y="211709"/>
                    <a:pt x="61087" y="272796"/>
                    <a:pt x="136398" y="272796"/>
                  </a:cubicBezTo>
                  <a:cubicBezTo>
                    <a:pt x="211709" y="272796"/>
                    <a:pt x="272796" y="211709"/>
                    <a:pt x="272796" y="136398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531425" y="867175"/>
            <a:ext cx="15225150" cy="876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5000" b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Cuprinsul prezentării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531425" y="3036007"/>
            <a:ext cx="7085823" cy="774611"/>
            <a:chOff x="0" y="0"/>
            <a:chExt cx="2025148" cy="22138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025148" cy="221386"/>
            </a:xfrm>
            <a:custGeom>
              <a:avLst/>
              <a:gdLst/>
              <a:ahLst/>
              <a:cxnLst/>
              <a:rect l="l" t="t" r="r" b="b"/>
              <a:pathLst>
                <a:path w="2025148" h="221386">
                  <a:moveTo>
                    <a:pt x="44796" y="0"/>
                  </a:moveTo>
                  <a:lnTo>
                    <a:pt x="1980352" y="0"/>
                  </a:lnTo>
                  <a:cubicBezTo>
                    <a:pt x="2005092" y="0"/>
                    <a:pt x="2025148" y="20056"/>
                    <a:pt x="2025148" y="44796"/>
                  </a:cubicBezTo>
                  <a:lnTo>
                    <a:pt x="2025148" y="176590"/>
                  </a:lnTo>
                  <a:cubicBezTo>
                    <a:pt x="2025148" y="201330"/>
                    <a:pt x="2005092" y="221386"/>
                    <a:pt x="1980352" y="221386"/>
                  </a:cubicBezTo>
                  <a:lnTo>
                    <a:pt x="44796" y="221386"/>
                  </a:lnTo>
                  <a:cubicBezTo>
                    <a:pt x="20056" y="221386"/>
                    <a:pt x="0" y="201330"/>
                    <a:pt x="0" y="176590"/>
                  </a:cubicBezTo>
                  <a:lnTo>
                    <a:pt x="0" y="44796"/>
                  </a:lnTo>
                  <a:cubicBezTo>
                    <a:pt x="0" y="20056"/>
                    <a:pt x="20056" y="0"/>
                    <a:pt x="44796" y="0"/>
                  </a:cubicBezTo>
                  <a:close/>
                </a:path>
              </a:pathLst>
            </a:custGeom>
            <a:ln w="38100" cap="rnd">
              <a:solidFill>
                <a:srgbClr val="5BA3F8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2025148" cy="259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878784" y="3036007"/>
            <a:ext cx="774611" cy="774611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2043552" y="3109950"/>
            <a:ext cx="445048" cy="570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4"/>
              </a:lnSpc>
              <a:spcBef>
                <a:spcPct val="0"/>
              </a:spcBef>
            </a:pPr>
            <a:r>
              <a:rPr lang="en-US" sz="3317" b="1" dirty="0">
                <a:solidFill>
                  <a:srgbClr val="353552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01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1535406" y="4205326"/>
            <a:ext cx="7081842" cy="774611"/>
            <a:chOff x="0" y="0"/>
            <a:chExt cx="2024010" cy="221386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024010" cy="221386"/>
            </a:xfrm>
            <a:custGeom>
              <a:avLst/>
              <a:gdLst/>
              <a:ahLst/>
              <a:cxnLst/>
              <a:rect l="l" t="t" r="r" b="b"/>
              <a:pathLst>
                <a:path w="2024010" h="221386">
                  <a:moveTo>
                    <a:pt x="44821" y="0"/>
                  </a:moveTo>
                  <a:lnTo>
                    <a:pt x="1979189" y="0"/>
                  </a:lnTo>
                  <a:cubicBezTo>
                    <a:pt x="1991076" y="0"/>
                    <a:pt x="2002477" y="4722"/>
                    <a:pt x="2010882" y="13128"/>
                  </a:cubicBezTo>
                  <a:cubicBezTo>
                    <a:pt x="2019288" y="21534"/>
                    <a:pt x="2024010" y="32934"/>
                    <a:pt x="2024010" y="44821"/>
                  </a:cubicBezTo>
                  <a:lnTo>
                    <a:pt x="2024010" y="176564"/>
                  </a:lnTo>
                  <a:cubicBezTo>
                    <a:pt x="2024010" y="201319"/>
                    <a:pt x="2003943" y="221386"/>
                    <a:pt x="1979189" y="221386"/>
                  </a:cubicBezTo>
                  <a:lnTo>
                    <a:pt x="44821" y="221386"/>
                  </a:lnTo>
                  <a:cubicBezTo>
                    <a:pt x="20067" y="221386"/>
                    <a:pt x="0" y="201319"/>
                    <a:pt x="0" y="176564"/>
                  </a:cubicBezTo>
                  <a:lnTo>
                    <a:pt x="0" y="44821"/>
                  </a:lnTo>
                  <a:cubicBezTo>
                    <a:pt x="0" y="20067"/>
                    <a:pt x="20067" y="0"/>
                    <a:pt x="44821" y="0"/>
                  </a:cubicBezTo>
                  <a:close/>
                </a:path>
              </a:pathLst>
            </a:custGeom>
            <a:ln w="38100" cap="rnd">
              <a:solidFill>
                <a:srgbClr val="5BA3F8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2024010" cy="259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891193" y="4205326"/>
            <a:ext cx="774611" cy="774611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2043579" y="4286894"/>
            <a:ext cx="445021" cy="570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4"/>
              </a:lnSpc>
              <a:spcBef>
                <a:spcPct val="0"/>
              </a:spcBef>
            </a:pPr>
            <a:r>
              <a:rPr lang="en-US" sz="3317" b="1" dirty="0">
                <a:solidFill>
                  <a:srgbClr val="353552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02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1535406" y="5337806"/>
            <a:ext cx="7081842" cy="774611"/>
            <a:chOff x="0" y="0"/>
            <a:chExt cx="2024010" cy="221386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024010" cy="221386"/>
            </a:xfrm>
            <a:custGeom>
              <a:avLst/>
              <a:gdLst/>
              <a:ahLst/>
              <a:cxnLst/>
              <a:rect l="l" t="t" r="r" b="b"/>
              <a:pathLst>
                <a:path w="2024010" h="221386">
                  <a:moveTo>
                    <a:pt x="44821" y="0"/>
                  </a:moveTo>
                  <a:lnTo>
                    <a:pt x="1979189" y="0"/>
                  </a:lnTo>
                  <a:cubicBezTo>
                    <a:pt x="1991076" y="0"/>
                    <a:pt x="2002477" y="4722"/>
                    <a:pt x="2010882" y="13128"/>
                  </a:cubicBezTo>
                  <a:cubicBezTo>
                    <a:pt x="2019288" y="21534"/>
                    <a:pt x="2024010" y="32934"/>
                    <a:pt x="2024010" y="44821"/>
                  </a:cubicBezTo>
                  <a:lnTo>
                    <a:pt x="2024010" y="176564"/>
                  </a:lnTo>
                  <a:cubicBezTo>
                    <a:pt x="2024010" y="201319"/>
                    <a:pt x="2003943" y="221386"/>
                    <a:pt x="1979189" y="221386"/>
                  </a:cubicBezTo>
                  <a:lnTo>
                    <a:pt x="44821" y="221386"/>
                  </a:lnTo>
                  <a:cubicBezTo>
                    <a:pt x="20067" y="221386"/>
                    <a:pt x="0" y="201319"/>
                    <a:pt x="0" y="176564"/>
                  </a:cubicBezTo>
                  <a:lnTo>
                    <a:pt x="0" y="44821"/>
                  </a:lnTo>
                  <a:cubicBezTo>
                    <a:pt x="0" y="20067"/>
                    <a:pt x="20067" y="0"/>
                    <a:pt x="44821" y="0"/>
                  </a:cubicBezTo>
                  <a:close/>
                </a:path>
              </a:pathLst>
            </a:custGeom>
            <a:ln w="38100" cap="rnd">
              <a:solidFill>
                <a:srgbClr val="5BA3F8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2024010" cy="259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878784" y="5330321"/>
            <a:ext cx="774611" cy="774611"/>
            <a:chOff x="0" y="0"/>
            <a:chExt cx="812800" cy="8128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2043552" y="5423877"/>
            <a:ext cx="445021" cy="570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4"/>
              </a:lnSpc>
              <a:spcBef>
                <a:spcPct val="0"/>
              </a:spcBef>
            </a:pPr>
            <a:r>
              <a:rPr lang="en-US" sz="3317" b="1" dirty="0">
                <a:solidFill>
                  <a:srgbClr val="353552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03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1535406" y="6541042"/>
            <a:ext cx="7081842" cy="774611"/>
            <a:chOff x="0" y="0"/>
            <a:chExt cx="2024010" cy="221386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2024010" cy="221386"/>
            </a:xfrm>
            <a:custGeom>
              <a:avLst/>
              <a:gdLst/>
              <a:ahLst/>
              <a:cxnLst/>
              <a:rect l="l" t="t" r="r" b="b"/>
              <a:pathLst>
                <a:path w="2024010" h="221386">
                  <a:moveTo>
                    <a:pt x="44821" y="0"/>
                  </a:moveTo>
                  <a:lnTo>
                    <a:pt x="1979189" y="0"/>
                  </a:lnTo>
                  <a:cubicBezTo>
                    <a:pt x="1991076" y="0"/>
                    <a:pt x="2002477" y="4722"/>
                    <a:pt x="2010882" y="13128"/>
                  </a:cubicBezTo>
                  <a:cubicBezTo>
                    <a:pt x="2019288" y="21534"/>
                    <a:pt x="2024010" y="32934"/>
                    <a:pt x="2024010" y="44821"/>
                  </a:cubicBezTo>
                  <a:lnTo>
                    <a:pt x="2024010" y="176564"/>
                  </a:lnTo>
                  <a:cubicBezTo>
                    <a:pt x="2024010" y="201319"/>
                    <a:pt x="2003943" y="221386"/>
                    <a:pt x="1979189" y="221386"/>
                  </a:cubicBezTo>
                  <a:lnTo>
                    <a:pt x="44821" y="221386"/>
                  </a:lnTo>
                  <a:cubicBezTo>
                    <a:pt x="20067" y="221386"/>
                    <a:pt x="0" y="201319"/>
                    <a:pt x="0" y="176564"/>
                  </a:cubicBezTo>
                  <a:lnTo>
                    <a:pt x="0" y="44821"/>
                  </a:lnTo>
                  <a:cubicBezTo>
                    <a:pt x="0" y="20067"/>
                    <a:pt x="20067" y="0"/>
                    <a:pt x="44821" y="0"/>
                  </a:cubicBezTo>
                  <a:close/>
                </a:path>
              </a:pathLst>
            </a:custGeom>
            <a:ln w="38100" cap="rnd">
              <a:solidFill>
                <a:srgbClr val="5BA3F8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38100"/>
              <a:ext cx="2024010" cy="259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535406" y="7744278"/>
            <a:ext cx="7081842" cy="774611"/>
            <a:chOff x="0" y="0"/>
            <a:chExt cx="2024010" cy="221386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2024010" cy="221386"/>
            </a:xfrm>
            <a:custGeom>
              <a:avLst/>
              <a:gdLst/>
              <a:ahLst/>
              <a:cxnLst/>
              <a:rect l="l" t="t" r="r" b="b"/>
              <a:pathLst>
                <a:path w="2024010" h="221386">
                  <a:moveTo>
                    <a:pt x="44821" y="0"/>
                  </a:moveTo>
                  <a:lnTo>
                    <a:pt x="1979189" y="0"/>
                  </a:lnTo>
                  <a:cubicBezTo>
                    <a:pt x="1991076" y="0"/>
                    <a:pt x="2002477" y="4722"/>
                    <a:pt x="2010882" y="13128"/>
                  </a:cubicBezTo>
                  <a:cubicBezTo>
                    <a:pt x="2019288" y="21534"/>
                    <a:pt x="2024010" y="32934"/>
                    <a:pt x="2024010" y="44821"/>
                  </a:cubicBezTo>
                  <a:lnTo>
                    <a:pt x="2024010" y="176564"/>
                  </a:lnTo>
                  <a:cubicBezTo>
                    <a:pt x="2024010" y="201319"/>
                    <a:pt x="2003943" y="221386"/>
                    <a:pt x="1979189" y="221386"/>
                  </a:cubicBezTo>
                  <a:lnTo>
                    <a:pt x="44821" y="221386"/>
                  </a:lnTo>
                  <a:cubicBezTo>
                    <a:pt x="20067" y="221386"/>
                    <a:pt x="0" y="201319"/>
                    <a:pt x="0" y="176564"/>
                  </a:cubicBezTo>
                  <a:lnTo>
                    <a:pt x="0" y="44821"/>
                  </a:lnTo>
                  <a:cubicBezTo>
                    <a:pt x="0" y="20067"/>
                    <a:pt x="20067" y="0"/>
                    <a:pt x="44821" y="0"/>
                  </a:cubicBezTo>
                  <a:close/>
                </a:path>
              </a:pathLst>
            </a:custGeom>
            <a:ln w="38100" cap="rnd">
              <a:solidFill>
                <a:srgbClr val="5BA3F8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38100"/>
              <a:ext cx="2024010" cy="259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9484598" y="3036007"/>
            <a:ext cx="7684156" cy="774611"/>
            <a:chOff x="0" y="0"/>
            <a:chExt cx="2196153" cy="221386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2196153" cy="221386"/>
            </a:xfrm>
            <a:custGeom>
              <a:avLst/>
              <a:gdLst/>
              <a:ahLst/>
              <a:cxnLst/>
              <a:rect l="l" t="t" r="r" b="b"/>
              <a:pathLst>
                <a:path w="2196153" h="221386">
                  <a:moveTo>
                    <a:pt x="41308" y="0"/>
                  </a:moveTo>
                  <a:lnTo>
                    <a:pt x="2154845" y="0"/>
                  </a:lnTo>
                  <a:cubicBezTo>
                    <a:pt x="2165801" y="0"/>
                    <a:pt x="2176307" y="4352"/>
                    <a:pt x="2184054" y="12099"/>
                  </a:cubicBezTo>
                  <a:cubicBezTo>
                    <a:pt x="2191801" y="19846"/>
                    <a:pt x="2196153" y="30353"/>
                    <a:pt x="2196153" y="41308"/>
                  </a:cubicBezTo>
                  <a:lnTo>
                    <a:pt x="2196153" y="180078"/>
                  </a:lnTo>
                  <a:cubicBezTo>
                    <a:pt x="2196153" y="191033"/>
                    <a:pt x="2191801" y="201540"/>
                    <a:pt x="2184054" y="209287"/>
                  </a:cubicBezTo>
                  <a:cubicBezTo>
                    <a:pt x="2176307" y="217034"/>
                    <a:pt x="2165801" y="221386"/>
                    <a:pt x="2154845" y="221386"/>
                  </a:cubicBezTo>
                  <a:lnTo>
                    <a:pt x="41308" y="221386"/>
                  </a:lnTo>
                  <a:cubicBezTo>
                    <a:pt x="30353" y="221386"/>
                    <a:pt x="19846" y="217034"/>
                    <a:pt x="12099" y="209287"/>
                  </a:cubicBezTo>
                  <a:cubicBezTo>
                    <a:pt x="4352" y="201540"/>
                    <a:pt x="0" y="191033"/>
                    <a:pt x="0" y="180078"/>
                  </a:cubicBezTo>
                  <a:lnTo>
                    <a:pt x="0" y="41308"/>
                  </a:lnTo>
                  <a:cubicBezTo>
                    <a:pt x="0" y="30353"/>
                    <a:pt x="4352" y="19846"/>
                    <a:pt x="12099" y="12099"/>
                  </a:cubicBezTo>
                  <a:cubicBezTo>
                    <a:pt x="19846" y="4352"/>
                    <a:pt x="30353" y="0"/>
                    <a:pt x="41308" y="0"/>
                  </a:cubicBezTo>
                  <a:close/>
                </a:path>
              </a:pathLst>
            </a:custGeom>
            <a:ln w="38100" cap="rnd">
              <a:solidFill>
                <a:srgbClr val="5BA3F8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-38100"/>
              <a:ext cx="2196153" cy="259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9522123" y="4191652"/>
            <a:ext cx="7646631" cy="774611"/>
            <a:chOff x="0" y="0"/>
            <a:chExt cx="2185428" cy="221386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2185428" cy="221386"/>
            </a:xfrm>
            <a:custGeom>
              <a:avLst/>
              <a:gdLst/>
              <a:ahLst/>
              <a:cxnLst/>
              <a:rect l="l" t="t" r="r" b="b"/>
              <a:pathLst>
                <a:path w="2185428" h="221386">
                  <a:moveTo>
                    <a:pt x="41511" y="0"/>
                  </a:moveTo>
                  <a:lnTo>
                    <a:pt x="2143918" y="0"/>
                  </a:lnTo>
                  <a:cubicBezTo>
                    <a:pt x="2166843" y="0"/>
                    <a:pt x="2185428" y="18585"/>
                    <a:pt x="2185428" y="41511"/>
                  </a:cubicBezTo>
                  <a:lnTo>
                    <a:pt x="2185428" y="179875"/>
                  </a:lnTo>
                  <a:cubicBezTo>
                    <a:pt x="2185428" y="202801"/>
                    <a:pt x="2166843" y="221386"/>
                    <a:pt x="2143918" y="221386"/>
                  </a:cubicBezTo>
                  <a:lnTo>
                    <a:pt x="41511" y="221386"/>
                  </a:lnTo>
                  <a:cubicBezTo>
                    <a:pt x="18585" y="221386"/>
                    <a:pt x="0" y="202801"/>
                    <a:pt x="0" y="179875"/>
                  </a:cubicBezTo>
                  <a:lnTo>
                    <a:pt x="0" y="41511"/>
                  </a:lnTo>
                  <a:cubicBezTo>
                    <a:pt x="0" y="18585"/>
                    <a:pt x="18585" y="0"/>
                    <a:pt x="41511" y="0"/>
                  </a:cubicBezTo>
                  <a:close/>
                </a:path>
              </a:pathLst>
            </a:custGeom>
            <a:ln w="38100" cap="rnd">
              <a:solidFill>
                <a:srgbClr val="5BA3F8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-38100"/>
              <a:ext cx="2185428" cy="259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9484598" y="5337806"/>
            <a:ext cx="7684156" cy="774611"/>
            <a:chOff x="0" y="0"/>
            <a:chExt cx="2196153" cy="221386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2196153" cy="221386"/>
            </a:xfrm>
            <a:custGeom>
              <a:avLst/>
              <a:gdLst/>
              <a:ahLst/>
              <a:cxnLst/>
              <a:rect l="l" t="t" r="r" b="b"/>
              <a:pathLst>
                <a:path w="2196153" h="221386">
                  <a:moveTo>
                    <a:pt x="41308" y="0"/>
                  </a:moveTo>
                  <a:lnTo>
                    <a:pt x="2154845" y="0"/>
                  </a:lnTo>
                  <a:cubicBezTo>
                    <a:pt x="2165801" y="0"/>
                    <a:pt x="2176307" y="4352"/>
                    <a:pt x="2184054" y="12099"/>
                  </a:cubicBezTo>
                  <a:cubicBezTo>
                    <a:pt x="2191801" y="19846"/>
                    <a:pt x="2196153" y="30353"/>
                    <a:pt x="2196153" y="41308"/>
                  </a:cubicBezTo>
                  <a:lnTo>
                    <a:pt x="2196153" y="180078"/>
                  </a:lnTo>
                  <a:cubicBezTo>
                    <a:pt x="2196153" y="191033"/>
                    <a:pt x="2191801" y="201540"/>
                    <a:pt x="2184054" y="209287"/>
                  </a:cubicBezTo>
                  <a:cubicBezTo>
                    <a:pt x="2176307" y="217034"/>
                    <a:pt x="2165801" y="221386"/>
                    <a:pt x="2154845" y="221386"/>
                  </a:cubicBezTo>
                  <a:lnTo>
                    <a:pt x="41308" y="221386"/>
                  </a:lnTo>
                  <a:cubicBezTo>
                    <a:pt x="30353" y="221386"/>
                    <a:pt x="19846" y="217034"/>
                    <a:pt x="12099" y="209287"/>
                  </a:cubicBezTo>
                  <a:cubicBezTo>
                    <a:pt x="4352" y="201540"/>
                    <a:pt x="0" y="191033"/>
                    <a:pt x="0" y="180078"/>
                  </a:cubicBezTo>
                  <a:lnTo>
                    <a:pt x="0" y="41308"/>
                  </a:lnTo>
                  <a:cubicBezTo>
                    <a:pt x="0" y="30353"/>
                    <a:pt x="4352" y="19846"/>
                    <a:pt x="12099" y="12099"/>
                  </a:cubicBezTo>
                  <a:cubicBezTo>
                    <a:pt x="19846" y="4352"/>
                    <a:pt x="30353" y="0"/>
                    <a:pt x="41308" y="0"/>
                  </a:cubicBezTo>
                  <a:close/>
                </a:path>
              </a:pathLst>
            </a:custGeom>
            <a:ln w="38100" cap="rnd">
              <a:solidFill>
                <a:srgbClr val="5BA3F8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0" y="-38100"/>
              <a:ext cx="2196153" cy="259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9522123" y="6541042"/>
            <a:ext cx="7626703" cy="774611"/>
            <a:chOff x="0" y="0"/>
            <a:chExt cx="2179733" cy="221386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2179733" cy="221386"/>
            </a:xfrm>
            <a:custGeom>
              <a:avLst/>
              <a:gdLst/>
              <a:ahLst/>
              <a:cxnLst/>
              <a:rect l="l" t="t" r="r" b="b"/>
              <a:pathLst>
                <a:path w="2179733" h="221386">
                  <a:moveTo>
                    <a:pt x="41619" y="0"/>
                  </a:moveTo>
                  <a:lnTo>
                    <a:pt x="2138114" y="0"/>
                  </a:lnTo>
                  <a:cubicBezTo>
                    <a:pt x="2161099" y="0"/>
                    <a:pt x="2179733" y="18634"/>
                    <a:pt x="2179733" y="41619"/>
                  </a:cubicBezTo>
                  <a:lnTo>
                    <a:pt x="2179733" y="179767"/>
                  </a:lnTo>
                  <a:cubicBezTo>
                    <a:pt x="2179733" y="190805"/>
                    <a:pt x="2175348" y="201391"/>
                    <a:pt x="2167543" y="209196"/>
                  </a:cubicBezTo>
                  <a:cubicBezTo>
                    <a:pt x="2159738" y="217001"/>
                    <a:pt x="2149152" y="221386"/>
                    <a:pt x="2138114" y="221386"/>
                  </a:cubicBezTo>
                  <a:lnTo>
                    <a:pt x="41619" y="221386"/>
                  </a:lnTo>
                  <a:cubicBezTo>
                    <a:pt x="30581" y="221386"/>
                    <a:pt x="19995" y="217001"/>
                    <a:pt x="12190" y="209196"/>
                  </a:cubicBezTo>
                  <a:cubicBezTo>
                    <a:pt x="4385" y="201391"/>
                    <a:pt x="0" y="190805"/>
                    <a:pt x="0" y="179767"/>
                  </a:cubicBezTo>
                  <a:lnTo>
                    <a:pt x="0" y="41619"/>
                  </a:lnTo>
                  <a:cubicBezTo>
                    <a:pt x="0" y="30581"/>
                    <a:pt x="4385" y="19995"/>
                    <a:pt x="12190" y="12190"/>
                  </a:cubicBezTo>
                  <a:cubicBezTo>
                    <a:pt x="19995" y="4385"/>
                    <a:pt x="30581" y="0"/>
                    <a:pt x="41619" y="0"/>
                  </a:cubicBezTo>
                  <a:close/>
                </a:path>
              </a:pathLst>
            </a:custGeom>
            <a:ln w="38100" cap="rnd">
              <a:solidFill>
                <a:srgbClr val="5BA3F8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0" y="-38100"/>
              <a:ext cx="2179733" cy="259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9522123" y="7744278"/>
            <a:ext cx="7646631" cy="774611"/>
            <a:chOff x="0" y="0"/>
            <a:chExt cx="2185428" cy="221386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2185428" cy="221386"/>
            </a:xfrm>
            <a:custGeom>
              <a:avLst/>
              <a:gdLst/>
              <a:ahLst/>
              <a:cxnLst/>
              <a:rect l="l" t="t" r="r" b="b"/>
              <a:pathLst>
                <a:path w="2185428" h="221386">
                  <a:moveTo>
                    <a:pt x="41511" y="0"/>
                  </a:moveTo>
                  <a:lnTo>
                    <a:pt x="2143918" y="0"/>
                  </a:lnTo>
                  <a:cubicBezTo>
                    <a:pt x="2166843" y="0"/>
                    <a:pt x="2185428" y="18585"/>
                    <a:pt x="2185428" y="41511"/>
                  </a:cubicBezTo>
                  <a:lnTo>
                    <a:pt x="2185428" y="179875"/>
                  </a:lnTo>
                  <a:cubicBezTo>
                    <a:pt x="2185428" y="202801"/>
                    <a:pt x="2166843" y="221386"/>
                    <a:pt x="2143918" y="221386"/>
                  </a:cubicBezTo>
                  <a:lnTo>
                    <a:pt x="41511" y="221386"/>
                  </a:lnTo>
                  <a:cubicBezTo>
                    <a:pt x="18585" y="221386"/>
                    <a:pt x="0" y="202801"/>
                    <a:pt x="0" y="179875"/>
                  </a:cubicBezTo>
                  <a:lnTo>
                    <a:pt x="0" y="41511"/>
                  </a:lnTo>
                  <a:cubicBezTo>
                    <a:pt x="0" y="18585"/>
                    <a:pt x="18585" y="0"/>
                    <a:pt x="41511" y="0"/>
                  </a:cubicBezTo>
                  <a:close/>
                </a:path>
              </a:pathLst>
            </a:custGeom>
            <a:ln w="38100" cap="rnd">
              <a:solidFill>
                <a:srgbClr val="5BA3F8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0" y="-38100"/>
              <a:ext cx="2185428" cy="259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878784" y="6548527"/>
            <a:ext cx="774611" cy="750264"/>
            <a:chOff x="0" y="0"/>
            <a:chExt cx="812800" cy="787253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812800" cy="787253"/>
            </a:xfrm>
            <a:custGeom>
              <a:avLst/>
              <a:gdLst/>
              <a:ahLst/>
              <a:cxnLst/>
              <a:rect l="l" t="t" r="r" b="b"/>
              <a:pathLst>
                <a:path w="812800" h="787253">
                  <a:moveTo>
                    <a:pt x="406400" y="0"/>
                  </a:moveTo>
                  <a:cubicBezTo>
                    <a:pt x="181951" y="0"/>
                    <a:pt x="0" y="176232"/>
                    <a:pt x="0" y="393626"/>
                  </a:cubicBezTo>
                  <a:cubicBezTo>
                    <a:pt x="0" y="611020"/>
                    <a:pt x="181951" y="787253"/>
                    <a:pt x="406400" y="787253"/>
                  </a:cubicBezTo>
                  <a:cubicBezTo>
                    <a:pt x="630849" y="787253"/>
                    <a:pt x="812800" y="611020"/>
                    <a:pt x="812800" y="393626"/>
                  </a:cubicBezTo>
                  <a:cubicBezTo>
                    <a:pt x="812800" y="17623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6200" y="35705"/>
              <a:ext cx="660400" cy="677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891206" y="7753803"/>
            <a:ext cx="774611" cy="774611"/>
            <a:chOff x="0" y="0"/>
            <a:chExt cx="812800" cy="81280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9841972" y="3052983"/>
            <a:ext cx="774611" cy="748144"/>
            <a:chOff x="0" y="0"/>
            <a:chExt cx="812800" cy="785029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812800" cy="785029"/>
            </a:xfrm>
            <a:custGeom>
              <a:avLst/>
              <a:gdLst/>
              <a:ahLst/>
              <a:cxnLst/>
              <a:rect l="l" t="t" r="r" b="b"/>
              <a:pathLst>
                <a:path w="812800" h="785029">
                  <a:moveTo>
                    <a:pt x="406400" y="0"/>
                  </a:moveTo>
                  <a:cubicBezTo>
                    <a:pt x="181951" y="0"/>
                    <a:pt x="0" y="175735"/>
                    <a:pt x="0" y="392514"/>
                  </a:cubicBezTo>
                  <a:cubicBezTo>
                    <a:pt x="0" y="609294"/>
                    <a:pt x="181951" y="785029"/>
                    <a:pt x="406400" y="785029"/>
                  </a:cubicBezTo>
                  <a:cubicBezTo>
                    <a:pt x="630849" y="785029"/>
                    <a:pt x="812800" y="609294"/>
                    <a:pt x="812800" y="392514"/>
                  </a:cubicBezTo>
                  <a:cubicBezTo>
                    <a:pt x="812800" y="17573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6200" y="35496"/>
              <a:ext cx="660400" cy="6759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9841972" y="4205326"/>
            <a:ext cx="774611" cy="743996"/>
            <a:chOff x="0" y="0"/>
            <a:chExt cx="812800" cy="780675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812800" cy="780675"/>
            </a:xfrm>
            <a:custGeom>
              <a:avLst/>
              <a:gdLst/>
              <a:ahLst/>
              <a:cxnLst/>
              <a:rect l="l" t="t" r="r" b="b"/>
              <a:pathLst>
                <a:path w="812800" h="780675">
                  <a:moveTo>
                    <a:pt x="406400" y="0"/>
                  </a:moveTo>
                  <a:cubicBezTo>
                    <a:pt x="181951" y="0"/>
                    <a:pt x="0" y="174760"/>
                    <a:pt x="0" y="390338"/>
                  </a:cubicBezTo>
                  <a:cubicBezTo>
                    <a:pt x="0" y="605915"/>
                    <a:pt x="181951" y="780675"/>
                    <a:pt x="406400" y="780675"/>
                  </a:cubicBezTo>
                  <a:cubicBezTo>
                    <a:pt x="630849" y="780675"/>
                    <a:pt x="812800" y="605915"/>
                    <a:pt x="812800" y="390338"/>
                  </a:cubicBezTo>
                  <a:cubicBezTo>
                    <a:pt x="812800" y="17476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6200" y="35088"/>
              <a:ext cx="660400" cy="6723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9841972" y="5330321"/>
            <a:ext cx="774611" cy="774611"/>
            <a:chOff x="0" y="0"/>
            <a:chExt cx="812800" cy="812800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9841972" y="6548527"/>
            <a:ext cx="774611" cy="774611"/>
            <a:chOff x="0" y="0"/>
            <a:chExt cx="812800" cy="812800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9841972" y="7744278"/>
            <a:ext cx="774611" cy="774611"/>
            <a:chOff x="0" y="0"/>
            <a:chExt cx="812800" cy="812800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7" name="TextBox 97"/>
          <p:cNvSpPr txBox="1"/>
          <p:nvPr/>
        </p:nvSpPr>
        <p:spPr>
          <a:xfrm>
            <a:off x="2043550" y="6632066"/>
            <a:ext cx="445021" cy="570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4"/>
              </a:lnSpc>
              <a:spcBef>
                <a:spcPct val="0"/>
              </a:spcBef>
            </a:pPr>
            <a:r>
              <a:rPr lang="en-US" sz="3317" b="1" dirty="0">
                <a:solidFill>
                  <a:srgbClr val="353552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04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2043549" y="7825454"/>
            <a:ext cx="445021" cy="570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4"/>
              </a:lnSpc>
              <a:spcBef>
                <a:spcPct val="0"/>
              </a:spcBef>
            </a:pPr>
            <a:r>
              <a:rPr lang="en-US" sz="3317" b="1" dirty="0">
                <a:solidFill>
                  <a:srgbClr val="353552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05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0006767" y="3125882"/>
            <a:ext cx="445021" cy="570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4"/>
              </a:lnSpc>
              <a:spcBef>
                <a:spcPct val="0"/>
              </a:spcBef>
            </a:pPr>
            <a:r>
              <a:rPr lang="en-US" sz="3317" b="1">
                <a:solidFill>
                  <a:srgbClr val="353552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07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10006767" y="4274041"/>
            <a:ext cx="445021" cy="570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4"/>
              </a:lnSpc>
              <a:spcBef>
                <a:spcPct val="0"/>
              </a:spcBef>
            </a:pPr>
            <a:r>
              <a:rPr lang="en-US" sz="3317" b="1">
                <a:solidFill>
                  <a:srgbClr val="353552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08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10006767" y="5406590"/>
            <a:ext cx="445021" cy="570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4"/>
              </a:lnSpc>
              <a:spcBef>
                <a:spcPct val="0"/>
              </a:spcBef>
            </a:pPr>
            <a:r>
              <a:rPr lang="en-US" sz="3317" b="1">
                <a:solidFill>
                  <a:srgbClr val="353552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09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10006767" y="6632066"/>
            <a:ext cx="445021" cy="570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4"/>
              </a:lnSpc>
              <a:spcBef>
                <a:spcPct val="0"/>
              </a:spcBef>
            </a:pPr>
            <a:r>
              <a:rPr lang="en-US" sz="3317" b="1" dirty="0">
                <a:solidFill>
                  <a:srgbClr val="353552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10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10006767" y="7818438"/>
            <a:ext cx="445021" cy="570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4"/>
              </a:lnSpc>
              <a:spcBef>
                <a:spcPct val="0"/>
              </a:spcBef>
            </a:pPr>
            <a:r>
              <a:rPr lang="en-US" sz="3317" b="1">
                <a:solidFill>
                  <a:srgbClr val="353552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11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2897145" y="3109950"/>
            <a:ext cx="2201347" cy="514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 dirty="0" err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Introducere</a:t>
            </a:r>
            <a:r>
              <a:rPr lang="en-US" sz="2999" b="1" dirty="0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2937150" y="4339721"/>
            <a:ext cx="2474119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 dirty="0" err="1">
                <a:solidFill>
                  <a:srgbClr val="353552"/>
                </a:solidFill>
                <a:latin typeface="Catamaran Bold"/>
                <a:ea typeface="Catamaran Bold"/>
                <a:cs typeface="Catamaran Bold"/>
                <a:sym typeface="Catamaran Bold"/>
              </a:rPr>
              <a:t>Cadrul</a:t>
            </a:r>
            <a:r>
              <a:rPr lang="en-US" sz="2999" b="1" dirty="0">
                <a:solidFill>
                  <a:srgbClr val="353552"/>
                </a:solidFill>
                <a:latin typeface="Catamaran Bold"/>
                <a:ea typeface="Catamaran Bold"/>
                <a:cs typeface="Catamaran Bold"/>
                <a:sym typeface="Catamaran Bold"/>
              </a:rPr>
              <a:t> </a:t>
            </a:r>
            <a:r>
              <a:rPr lang="en-US" sz="2999" b="1" dirty="0" err="1">
                <a:solidFill>
                  <a:srgbClr val="353552"/>
                </a:solidFill>
                <a:latin typeface="Catamaran Bold"/>
                <a:ea typeface="Catamaran Bold"/>
                <a:cs typeface="Catamaran Bold"/>
                <a:sym typeface="Catamaran Bold"/>
              </a:rPr>
              <a:t>teoretic</a:t>
            </a:r>
            <a:endParaRPr lang="en-US" sz="2999" b="1" dirty="0">
              <a:solidFill>
                <a:srgbClr val="353552"/>
              </a:solidFill>
              <a:latin typeface="Catamaran Bold"/>
              <a:ea typeface="Catamaran Bold"/>
              <a:cs typeface="Catamaran Bold"/>
              <a:sym typeface="Catamaran Bold"/>
            </a:endParaRPr>
          </a:p>
        </p:txBody>
      </p:sp>
      <p:sp>
        <p:nvSpPr>
          <p:cNvPr id="106" name="TextBox 106"/>
          <p:cNvSpPr txBox="1"/>
          <p:nvPr/>
        </p:nvSpPr>
        <p:spPr>
          <a:xfrm>
            <a:off x="2800942" y="5412827"/>
            <a:ext cx="4595098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 Literatura de specialitate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2847349" y="6644506"/>
            <a:ext cx="2970255" cy="491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Date </a:t>
            </a:r>
            <a:r>
              <a:rPr lang="en-US" sz="3000" b="1" dirty="0" err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și</a:t>
            </a:r>
            <a:r>
              <a:rPr lang="en-US" sz="3000" b="1" dirty="0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000" b="1" dirty="0" err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Variabile</a:t>
            </a:r>
            <a:endParaRPr lang="en-US" sz="3000" b="1" dirty="0">
              <a:solidFill>
                <a:srgbClr val="353552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08" name="TextBox 108"/>
          <p:cNvSpPr txBox="1"/>
          <p:nvPr/>
        </p:nvSpPr>
        <p:spPr>
          <a:xfrm>
            <a:off x="2730388" y="7880304"/>
            <a:ext cx="4341855" cy="491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ro-RO" sz="3000" b="1" dirty="0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M</a:t>
            </a:r>
            <a:r>
              <a:rPr lang="en-US" sz="3000" b="1" dirty="0" err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etodologi</a:t>
            </a:r>
            <a:r>
              <a:rPr lang="ro-RO" sz="3000" b="1" dirty="0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a cercetării</a:t>
            </a:r>
            <a:endParaRPr lang="en-US" sz="3000" b="1" dirty="0">
              <a:solidFill>
                <a:srgbClr val="353552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09" name="TextBox 109"/>
          <p:cNvSpPr txBox="1"/>
          <p:nvPr/>
        </p:nvSpPr>
        <p:spPr>
          <a:xfrm>
            <a:off x="10864233" y="5432988"/>
            <a:ext cx="4192786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Segmentarea spitalelor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0866896" y="7855543"/>
            <a:ext cx="1858504" cy="491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 err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Concluzii</a:t>
            </a:r>
            <a:endParaRPr lang="en-US" sz="3000" b="1" dirty="0">
              <a:solidFill>
                <a:srgbClr val="353552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11" name="TextBox 111"/>
          <p:cNvSpPr txBox="1"/>
          <p:nvPr/>
        </p:nvSpPr>
        <p:spPr>
          <a:xfrm>
            <a:off x="10866896" y="8896232"/>
            <a:ext cx="2239504" cy="491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 err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Bibliografie</a:t>
            </a:r>
            <a:endParaRPr lang="en-US" sz="3000" b="1" dirty="0">
              <a:solidFill>
                <a:srgbClr val="353552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12" name="TextBox 112"/>
          <p:cNvSpPr txBox="1"/>
          <p:nvPr/>
        </p:nvSpPr>
        <p:spPr>
          <a:xfrm>
            <a:off x="10699412" y="4261480"/>
            <a:ext cx="6309122" cy="514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Evaluarea performanței spitalicești</a:t>
            </a:r>
          </a:p>
        </p:txBody>
      </p:sp>
      <p:grpSp>
        <p:nvGrpSpPr>
          <p:cNvPr id="113" name="Group 113"/>
          <p:cNvGrpSpPr/>
          <p:nvPr/>
        </p:nvGrpSpPr>
        <p:grpSpPr>
          <a:xfrm>
            <a:off x="1535406" y="8880839"/>
            <a:ext cx="7081842" cy="774611"/>
            <a:chOff x="0" y="0"/>
            <a:chExt cx="2024010" cy="221386"/>
          </a:xfrm>
        </p:grpSpPr>
        <p:sp>
          <p:nvSpPr>
            <p:cNvPr id="114" name="Freeform 114"/>
            <p:cNvSpPr/>
            <p:nvPr/>
          </p:nvSpPr>
          <p:spPr>
            <a:xfrm>
              <a:off x="0" y="0"/>
              <a:ext cx="2024010" cy="221386"/>
            </a:xfrm>
            <a:custGeom>
              <a:avLst/>
              <a:gdLst/>
              <a:ahLst/>
              <a:cxnLst/>
              <a:rect l="l" t="t" r="r" b="b"/>
              <a:pathLst>
                <a:path w="2024010" h="221386">
                  <a:moveTo>
                    <a:pt x="44821" y="0"/>
                  </a:moveTo>
                  <a:lnTo>
                    <a:pt x="1979189" y="0"/>
                  </a:lnTo>
                  <a:cubicBezTo>
                    <a:pt x="1991076" y="0"/>
                    <a:pt x="2002477" y="4722"/>
                    <a:pt x="2010882" y="13128"/>
                  </a:cubicBezTo>
                  <a:cubicBezTo>
                    <a:pt x="2019288" y="21534"/>
                    <a:pt x="2024010" y="32934"/>
                    <a:pt x="2024010" y="44821"/>
                  </a:cubicBezTo>
                  <a:lnTo>
                    <a:pt x="2024010" y="176564"/>
                  </a:lnTo>
                  <a:cubicBezTo>
                    <a:pt x="2024010" y="201319"/>
                    <a:pt x="2003943" y="221386"/>
                    <a:pt x="1979189" y="221386"/>
                  </a:cubicBezTo>
                  <a:lnTo>
                    <a:pt x="44821" y="221386"/>
                  </a:lnTo>
                  <a:cubicBezTo>
                    <a:pt x="20067" y="221386"/>
                    <a:pt x="0" y="201319"/>
                    <a:pt x="0" y="176564"/>
                  </a:cubicBezTo>
                  <a:lnTo>
                    <a:pt x="0" y="44821"/>
                  </a:lnTo>
                  <a:cubicBezTo>
                    <a:pt x="0" y="20067"/>
                    <a:pt x="20067" y="0"/>
                    <a:pt x="44821" y="0"/>
                  </a:cubicBezTo>
                  <a:close/>
                </a:path>
              </a:pathLst>
            </a:custGeom>
            <a:ln w="38100" cap="rnd">
              <a:solidFill>
                <a:srgbClr val="5BA3F8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0" y="-38100"/>
              <a:ext cx="2024010" cy="259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1891206" y="8880839"/>
            <a:ext cx="774611" cy="754235"/>
            <a:chOff x="0" y="0"/>
            <a:chExt cx="812800" cy="791419"/>
          </a:xfrm>
        </p:grpSpPr>
        <p:sp>
          <p:nvSpPr>
            <p:cNvPr id="117" name="Freeform 117"/>
            <p:cNvSpPr/>
            <p:nvPr/>
          </p:nvSpPr>
          <p:spPr>
            <a:xfrm>
              <a:off x="0" y="0"/>
              <a:ext cx="812800" cy="791419"/>
            </a:xfrm>
            <a:custGeom>
              <a:avLst/>
              <a:gdLst/>
              <a:ahLst/>
              <a:cxnLst/>
              <a:rect l="l" t="t" r="r" b="b"/>
              <a:pathLst>
                <a:path w="812800" h="791419">
                  <a:moveTo>
                    <a:pt x="406400" y="0"/>
                  </a:moveTo>
                  <a:cubicBezTo>
                    <a:pt x="181951" y="0"/>
                    <a:pt x="0" y="177165"/>
                    <a:pt x="0" y="395710"/>
                  </a:cubicBezTo>
                  <a:cubicBezTo>
                    <a:pt x="0" y="614254"/>
                    <a:pt x="181951" y="791419"/>
                    <a:pt x="406400" y="791419"/>
                  </a:cubicBezTo>
                  <a:cubicBezTo>
                    <a:pt x="630849" y="791419"/>
                    <a:pt x="812800" y="614254"/>
                    <a:pt x="812800" y="395710"/>
                  </a:cubicBezTo>
                  <a:cubicBezTo>
                    <a:pt x="812800" y="177165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76200" y="36096"/>
              <a:ext cx="660400" cy="6811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9" name="TextBox 119"/>
          <p:cNvSpPr txBox="1"/>
          <p:nvPr/>
        </p:nvSpPr>
        <p:spPr>
          <a:xfrm>
            <a:off x="2056001" y="8960443"/>
            <a:ext cx="445021" cy="570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4"/>
              </a:lnSpc>
              <a:spcBef>
                <a:spcPct val="0"/>
              </a:spcBef>
            </a:pPr>
            <a:r>
              <a:rPr lang="en-US" sz="3317" b="1" dirty="0">
                <a:solidFill>
                  <a:srgbClr val="353552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06</a:t>
            </a:r>
          </a:p>
        </p:txBody>
      </p:sp>
      <p:grpSp>
        <p:nvGrpSpPr>
          <p:cNvPr id="120" name="Group 120"/>
          <p:cNvGrpSpPr/>
          <p:nvPr/>
        </p:nvGrpSpPr>
        <p:grpSpPr>
          <a:xfrm>
            <a:off x="9522123" y="8851227"/>
            <a:ext cx="7626703" cy="774611"/>
            <a:chOff x="0" y="0"/>
            <a:chExt cx="2179733" cy="221386"/>
          </a:xfrm>
        </p:grpSpPr>
        <p:sp>
          <p:nvSpPr>
            <p:cNvPr id="121" name="Freeform 121"/>
            <p:cNvSpPr/>
            <p:nvPr/>
          </p:nvSpPr>
          <p:spPr>
            <a:xfrm>
              <a:off x="0" y="0"/>
              <a:ext cx="2179733" cy="221386"/>
            </a:xfrm>
            <a:custGeom>
              <a:avLst/>
              <a:gdLst/>
              <a:ahLst/>
              <a:cxnLst/>
              <a:rect l="l" t="t" r="r" b="b"/>
              <a:pathLst>
                <a:path w="2179733" h="221386">
                  <a:moveTo>
                    <a:pt x="41619" y="0"/>
                  </a:moveTo>
                  <a:lnTo>
                    <a:pt x="2138114" y="0"/>
                  </a:lnTo>
                  <a:cubicBezTo>
                    <a:pt x="2161099" y="0"/>
                    <a:pt x="2179733" y="18634"/>
                    <a:pt x="2179733" y="41619"/>
                  </a:cubicBezTo>
                  <a:lnTo>
                    <a:pt x="2179733" y="179767"/>
                  </a:lnTo>
                  <a:cubicBezTo>
                    <a:pt x="2179733" y="190805"/>
                    <a:pt x="2175348" y="201391"/>
                    <a:pt x="2167543" y="209196"/>
                  </a:cubicBezTo>
                  <a:cubicBezTo>
                    <a:pt x="2159738" y="217001"/>
                    <a:pt x="2149152" y="221386"/>
                    <a:pt x="2138114" y="221386"/>
                  </a:cubicBezTo>
                  <a:lnTo>
                    <a:pt x="41619" y="221386"/>
                  </a:lnTo>
                  <a:cubicBezTo>
                    <a:pt x="30581" y="221386"/>
                    <a:pt x="19995" y="217001"/>
                    <a:pt x="12190" y="209196"/>
                  </a:cubicBezTo>
                  <a:cubicBezTo>
                    <a:pt x="4385" y="201391"/>
                    <a:pt x="0" y="190805"/>
                    <a:pt x="0" y="179767"/>
                  </a:cubicBezTo>
                  <a:lnTo>
                    <a:pt x="0" y="41619"/>
                  </a:lnTo>
                  <a:cubicBezTo>
                    <a:pt x="0" y="30581"/>
                    <a:pt x="4385" y="19995"/>
                    <a:pt x="12190" y="12190"/>
                  </a:cubicBezTo>
                  <a:cubicBezTo>
                    <a:pt x="19995" y="4385"/>
                    <a:pt x="30581" y="0"/>
                    <a:pt x="41619" y="0"/>
                  </a:cubicBezTo>
                  <a:close/>
                </a:path>
              </a:pathLst>
            </a:custGeom>
            <a:ln w="38100" cap="rnd">
              <a:solidFill>
                <a:srgbClr val="5BA3F8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0" y="-38100"/>
              <a:ext cx="2179733" cy="259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9841972" y="8851227"/>
            <a:ext cx="774611" cy="774611"/>
            <a:chOff x="0" y="0"/>
            <a:chExt cx="812800" cy="812800"/>
          </a:xfrm>
        </p:grpSpPr>
        <p:sp>
          <p:nvSpPr>
            <p:cNvPr id="124" name="Freeform 1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6" name="TextBox 126"/>
          <p:cNvSpPr txBox="1"/>
          <p:nvPr/>
        </p:nvSpPr>
        <p:spPr>
          <a:xfrm>
            <a:off x="10006767" y="8928464"/>
            <a:ext cx="445021" cy="1158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4"/>
              </a:lnSpc>
            </a:pPr>
            <a:r>
              <a:rPr lang="en-US" sz="3317" b="1">
                <a:solidFill>
                  <a:srgbClr val="353552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12</a:t>
            </a:r>
          </a:p>
          <a:p>
            <a:pPr algn="ctr">
              <a:lnSpc>
                <a:spcPts val="4644"/>
              </a:lnSpc>
              <a:spcBef>
                <a:spcPct val="0"/>
              </a:spcBef>
            </a:pPr>
            <a:endParaRPr lang="en-US" sz="3317" b="1">
              <a:solidFill>
                <a:srgbClr val="353552"/>
              </a:solidFill>
              <a:latin typeface="Source Sans 3 Bold"/>
              <a:ea typeface="Source Sans 3 Bold"/>
              <a:cs typeface="Source Sans 3 Bold"/>
              <a:sym typeface="Source Sans 3 Bold"/>
            </a:endParaRPr>
          </a:p>
        </p:txBody>
      </p:sp>
      <p:sp>
        <p:nvSpPr>
          <p:cNvPr id="127" name="TextBox 127"/>
          <p:cNvSpPr txBox="1"/>
          <p:nvPr/>
        </p:nvSpPr>
        <p:spPr>
          <a:xfrm>
            <a:off x="10813973" y="3132800"/>
            <a:ext cx="5721427" cy="491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 dirty="0" err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Construirea</a:t>
            </a:r>
            <a:r>
              <a:rPr lang="en-US" sz="2999" b="1" dirty="0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999" b="1" dirty="0" err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indicilor</a:t>
            </a:r>
            <a:r>
              <a:rPr lang="en-US" sz="2999" b="1" dirty="0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999" b="1" dirty="0" err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compoziți</a:t>
            </a:r>
            <a:endParaRPr lang="en-US" sz="2999" b="1" dirty="0">
              <a:solidFill>
                <a:srgbClr val="353552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28" name="TextBox 128"/>
          <p:cNvSpPr txBox="1"/>
          <p:nvPr/>
        </p:nvSpPr>
        <p:spPr>
          <a:xfrm>
            <a:off x="10866896" y="6623547"/>
            <a:ext cx="3557945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Evaluarea eficienței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2666772" y="8960443"/>
            <a:ext cx="3568740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 err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Etapele</a:t>
            </a:r>
            <a:r>
              <a:rPr lang="en-US" sz="3000" b="1" dirty="0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000" b="1" dirty="0" err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cercetării</a:t>
            </a:r>
            <a:endParaRPr lang="en-US" sz="3000" b="1" dirty="0">
              <a:solidFill>
                <a:srgbClr val="353552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801525" y="9397003"/>
            <a:ext cx="1650450" cy="1432050"/>
          </a:xfrm>
          <a:custGeom>
            <a:avLst/>
            <a:gdLst/>
            <a:ahLst/>
            <a:cxnLst/>
            <a:rect l="l" t="t" r="r" b="b"/>
            <a:pathLst>
              <a:path w="1650450" h="1432050">
                <a:moveTo>
                  <a:pt x="0" y="0"/>
                </a:moveTo>
                <a:lnTo>
                  <a:pt x="1650450" y="0"/>
                </a:lnTo>
                <a:lnTo>
                  <a:pt x="1650450" y="1432050"/>
                </a:lnTo>
                <a:lnTo>
                  <a:pt x="0" y="14320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374304" y="9654056"/>
            <a:ext cx="1057939" cy="917945"/>
          </a:xfrm>
          <a:custGeom>
            <a:avLst/>
            <a:gdLst/>
            <a:ahLst/>
            <a:cxnLst/>
            <a:rect l="l" t="t" r="r" b="b"/>
            <a:pathLst>
              <a:path w="1057939" h="917945">
                <a:moveTo>
                  <a:pt x="0" y="0"/>
                </a:moveTo>
                <a:lnTo>
                  <a:pt x="1057940" y="0"/>
                </a:lnTo>
                <a:lnTo>
                  <a:pt x="1057940" y="917946"/>
                </a:lnTo>
                <a:lnTo>
                  <a:pt x="0" y="9179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rot="161881">
            <a:off x="15416389" y="10113028"/>
            <a:ext cx="404699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2223015" y="9400141"/>
            <a:ext cx="1111578" cy="964486"/>
          </a:xfrm>
          <a:custGeom>
            <a:avLst/>
            <a:gdLst/>
            <a:ahLst/>
            <a:cxnLst/>
            <a:rect l="l" t="t" r="r" b="b"/>
            <a:pathLst>
              <a:path w="1111578" h="964486">
                <a:moveTo>
                  <a:pt x="0" y="0"/>
                </a:moveTo>
                <a:lnTo>
                  <a:pt x="1111578" y="0"/>
                </a:lnTo>
                <a:lnTo>
                  <a:pt x="1111578" y="964486"/>
                </a:lnTo>
                <a:lnTo>
                  <a:pt x="0" y="9644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rot="10013647">
            <a:off x="13304158" y="9997828"/>
            <a:ext cx="1100105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2485305">
            <a:off x="16930889" y="9022528"/>
            <a:ext cx="1189622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rot="5449264">
            <a:off x="17234122" y="7874568"/>
            <a:ext cx="1454999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 rot="-10800000">
            <a:off x="17847650" y="8526900"/>
            <a:ext cx="229200" cy="229200"/>
            <a:chOff x="0" y="0"/>
            <a:chExt cx="305600" cy="3056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05562" cy="305562"/>
            </a:xfrm>
            <a:custGeom>
              <a:avLst/>
              <a:gdLst/>
              <a:ahLst/>
              <a:cxnLst/>
              <a:rect l="l" t="t" r="r" b="b"/>
              <a:pathLst>
                <a:path w="305562" h="305562">
                  <a:moveTo>
                    <a:pt x="305562" y="152781"/>
                  </a:moveTo>
                  <a:cubicBezTo>
                    <a:pt x="305562" y="68453"/>
                    <a:pt x="237236" y="0"/>
                    <a:pt x="152781" y="0"/>
                  </a:cubicBezTo>
                  <a:cubicBezTo>
                    <a:pt x="68326" y="0"/>
                    <a:pt x="0" y="68453"/>
                    <a:pt x="0" y="152781"/>
                  </a:cubicBezTo>
                  <a:cubicBezTo>
                    <a:pt x="0" y="237109"/>
                    <a:pt x="68453" y="305562"/>
                    <a:pt x="152781" y="305562"/>
                  </a:cubicBezTo>
                  <a:cubicBezTo>
                    <a:pt x="237109" y="305562"/>
                    <a:pt x="305562" y="237109"/>
                    <a:pt x="305562" y="152781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 rot="5400000">
            <a:off x="17713897" y="6704643"/>
            <a:ext cx="493650" cy="429450"/>
            <a:chOff x="0" y="0"/>
            <a:chExt cx="658200" cy="572600"/>
          </a:xfrm>
        </p:grpSpPr>
        <p:sp>
          <p:nvSpPr>
            <p:cNvPr id="12" name="Freeform 12"/>
            <p:cNvSpPr/>
            <p:nvPr/>
          </p:nvSpPr>
          <p:spPr>
            <a:xfrm>
              <a:off x="63" y="0"/>
              <a:ext cx="658114" cy="572643"/>
            </a:xfrm>
            <a:custGeom>
              <a:avLst/>
              <a:gdLst/>
              <a:ahLst/>
              <a:cxnLst/>
              <a:rect l="l" t="t" r="r" b="b"/>
              <a:pathLst>
                <a:path w="658114" h="572643">
                  <a:moveTo>
                    <a:pt x="634048" y="291973"/>
                  </a:moveTo>
                  <a:lnTo>
                    <a:pt x="496507" y="18415"/>
                  </a:lnTo>
                  <a:lnTo>
                    <a:pt x="507810" y="12700"/>
                  </a:lnTo>
                  <a:lnTo>
                    <a:pt x="507810" y="25400"/>
                  </a:lnTo>
                  <a:lnTo>
                    <a:pt x="150305" y="25400"/>
                  </a:lnTo>
                  <a:lnTo>
                    <a:pt x="150305" y="12700"/>
                  </a:lnTo>
                  <a:lnTo>
                    <a:pt x="161608" y="18415"/>
                  </a:lnTo>
                  <a:lnTo>
                    <a:pt x="23940" y="291973"/>
                  </a:lnTo>
                  <a:lnTo>
                    <a:pt x="12637" y="286258"/>
                  </a:lnTo>
                  <a:lnTo>
                    <a:pt x="23940" y="280543"/>
                  </a:lnTo>
                  <a:lnTo>
                    <a:pt x="161608" y="554228"/>
                  </a:lnTo>
                  <a:lnTo>
                    <a:pt x="150305" y="559943"/>
                  </a:lnTo>
                  <a:lnTo>
                    <a:pt x="150305" y="547243"/>
                  </a:lnTo>
                  <a:lnTo>
                    <a:pt x="507810" y="547243"/>
                  </a:lnTo>
                  <a:lnTo>
                    <a:pt x="507810" y="559943"/>
                  </a:lnTo>
                  <a:lnTo>
                    <a:pt x="496507" y="554228"/>
                  </a:lnTo>
                  <a:lnTo>
                    <a:pt x="634048" y="280543"/>
                  </a:lnTo>
                  <a:lnTo>
                    <a:pt x="645351" y="286258"/>
                  </a:lnTo>
                  <a:lnTo>
                    <a:pt x="634048" y="291973"/>
                  </a:lnTo>
                  <a:moveTo>
                    <a:pt x="656781" y="280543"/>
                  </a:moveTo>
                  <a:cubicBezTo>
                    <a:pt x="658559" y="284099"/>
                    <a:pt x="658559" y="288417"/>
                    <a:pt x="656781" y="291973"/>
                  </a:cubicBezTo>
                  <a:lnTo>
                    <a:pt x="519113" y="565658"/>
                  </a:lnTo>
                  <a:cubicBezTo>
                    <a:pt x="516954" y="569976"/>
                    <a:pt x="512509" y="572643"/>
                    <a:pt x="507810" y="572643"/>
                  </a:cubicBezTo>
                  <a:lnTo>
                    <a:pt x="150305" y="572643"/>
                  </a:lnTo>
                  <a:cubicBezTo>
                    <a:pt x="145479" y="572643"/>
                    <a:pt x="141161" y="569976"/>
                    <a:pt x="139002" y="565658"/>
                  </a:cubicBezTo>
                  <a:lnTo>
                    <a:pt x="1334" y="291973"/>
                  </a:lnTo>
                  <a:cubicBezTo>
                    <a:pt x="-444" y="288417"/>
                    <a:pt x="-444" y="284099"/>
                    <a:pt x="1334" y="280543"/>
                  </a:cubicBezTo>
                  <a:lnTo>
                    <a:pt x="138875" y="6985"/>
                  </a:lnTo>
                  <a:cubicBezTo>
                    <a:pt x="141034" y="2667"/>
                    <a:pt x="145479" y="0"/>
                    <a:pt x="150178" y="0"/>
                  </a:cubicBezTo>
                  <a:lnTo>
                    <a:pt x="507810" y="0"/>
                  </a:lnTo>
                  <a:cubicBezTo>
                    <a:pt x="512636" y="0"/>
                    <a:pt x="516954" y="2667"/>
                    <a:pt x="519113" y="6985"/>
                  </a:cubicBezTo>
                  <a:lnTo>
                    <a:pt x="656781" y="280543"/>
                  </a:lnTo>
                  <a:close/>
                </a:path>
              </a:pathLst>
            </a:custGeom>
            <a:solidFill>
              <a:srgbClr val="6875A7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Freeform 13"/>
          <p:cNvSpPr/>
          <p:nvPr/>
        </p:nvSpPr>
        <p:spPr>
          <a:xfrm>
            <a:off x="1359269" y="-968387"/>
            <a:ext cx="1766477" cy="1532723"/>
          </a:xfrm>
          <a:custGeom>
            <a:avLst/>
            <a:gdLst/>
            <a:ahLst/>
            <a:cxnLst/>
            <a:rect l="l" t="t" r="r" b="b"/>
            <a:pathLst>
              <a:path w="1766477" h="1532723">
                <a:moveTo>
                  <a:pt x="0" y="0"/>
                </a:moveTo>
                <a:lnTo>
                  <a:pt x="1766478" y="0"/>
                </a:lnTo>
                <a:lnTo>
                  <a:pt x="1766478" y="1532724"/>
                </a:lnTo>
                <a:lnTo>
                  <a:pt x="0" y="15327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 rot="-10800000">
            <a:off x="-503797" y="1398501"/>
            <a:ext cx="933450" cy="811050"/>
            <a:chOff x="0" y="0"/>
            <a:chExt cx="1244600" cy="1081400"/>
          </a:xfrm>
        </p:grpSpPr>
        <p:sp>
          <p:nvSpPr>
            <p:cNvPr id="15" name="Freeform 15"/>
            <p:cNvSpPr/>
            <p:nvPr/>
          </p:nvSpPr>
          <p:spPr>
            <a:xfrm>
              <a:off x="63" y="0"/>
              <a:ext cx="1244600" cy="1081405"/>
            </a:xfrm>
            <a:custGeom>
              <a:avLst/>
              <a:gdLst/>
              <a:ahLst/>
              <a:cxnLst/>
              <a:rect l="l" t="t" r="r" b="b"/>
              <a:pathLst>
                <a:path w="1244600" h="1081405">
                  <a:moveTo>
                    <a:pt x="1220534" y="546354"/>
                  </a:moveTo>
                  <a:lnTo>
                    <a:pt x="955612" y="18415"/>
                  </a:lnTo>
                  <a:lnTo>
                    <a:pt x="967042" y="12700"/>
                  </a:lnTo>
                  <a:lnTo>
                    <a:pt x="967042" y="25400"/>
                  </a:lnTo>
                  <a:lnTo>
                    <a:pt x="277432" y="25400"/>
                  </a:lnTo>
                  <a:lnTo>
                    <a:pt x="277432" y="12700"/>
                  </a:lnTo>
                  <a:lnTo>
                    <a:pt x="288735" y="18415"/>
                  </a:lnTo>
                  <a:lnTo>
                    <a:pt x="23940" y="546354"/>
                  </a:lnTo>
                  <a:lnTo>
                    <a:pt x="12637" y="540639"/>
                  </a:lnTo>
                  <a:lnTo>
                    <a:pt x="23940" y="534924"/>
                  </a:lnTo>
                  <a:lnTo>
                    <a:pt x="288862" y="1062990"/>
                  </a:lnTo>
                  <a:lnTo>
                    <a:pt x="277559" y="1068705"/>
                  </a:lnTo>
                  <a:lnTo>
                    <a:pt x="277559" y="1056005"/>
                  </a:lnTo>
                  <a:lnTo>
                    <a:pt x="967042" y="1056005"/>
                  </a:lnTo>
                  <a:lnTo>
                    <a:pt x="967042" y="1068705"/>
                  </a:lnTo>
                  <a:lnTo>
                    <a:pt x="955739" y="1062990"/>
                  </a:lnTo>
                  <a:lnTo>
                    <a:pt x="1220534" y="535051"/>
                  </a:lnTo>
                  <a:lnTo>
                    <a:pt x="1231837" y="540766"/>
                  </a:lnTo>
                  <a:lnTo>
                    <a:pt x="1220534" y="546481"/>
                  </a:lnTo>
                  <a:moveTo>
                    <a:pt x="1243267" y="535051"/>
                  </a:moveTo>
                  <a:cubicBezTo>
                    <a:pt x="1245045" y="538607"/>
                    <a:pt x="1245045" y="542798"/>
                    <a:pt x="1243267" y="546481"/>
                  </a:cubicBezTo>
                  <a:lnTo>
                    <a:pt x="978345" y="1074420"/>
                  </a:lnTo>
                  <a:cubicBezTo>
                    <a:pt x="976186" y="1078738"/>
                    <a:pt x="971741" y="1081405"/>
                    <a:pt x="967042" y="1081405"/>
                  </a:cubicBezTo>
                  <a:lnTo>
                    <a:pt x="277432" y="1081405"/>
                  </a:lnTo>
                  <a:cubicBezTo>
                    <a:pt x="272606" y="1081405"/>
                    <a:pt x="268288" y="1078738"/>
                    <a:pt x="266129" y="1074420"/>
                  </a:cubicBezTo>
                  <a:lnTo>
                    <a:pt x="1334" y="546354"/>
                  </a:lnTo>
                  <a:cubicBezTo>
                    <a:pt x="-444" y="542798"/>
                    <a:pt x="-444" y="538607"/>
                    <a:pt x="1334" y="534924"/>
                  </a:cubicBezTo>
                  <a:lnTo>
                    <a:pt x="266129" y="6985"/>
                  </a:lnTo>
                  <a:cubicBezTo>
                    <a:pt x="268288" y="2667"/>
                    <a:pt x="272733" y="0"/>
                    <a:pt x="277432" y="0"/>
                  </a:cubicBezTo>
                  <a:lnTo>
                    <a:pt x="967042" y="0"/>
                  </a:lnTo>
                  <a:cubicBezTo>
                    <a:pt x="971868" y="0"/>
                    <a:pt x="976186" y="2667"/>
                    <a:pt x="978345" y="6985"/>
                  </a:cubicBezTo>
                  <a:lnTo>
                    <a:pt x="1243140" y="535051"/>
                  </a:ln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 rot="-10800000">
            <a:off x="976852" y="400874"/>
            <a:ext cx="204600" cy="204600"/>
            <a:chOff x="0" y="0"/>
            <a:chExt cx="272800" cy="27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72796" cy="272796"/>
            </a:xfrm>
            <a:custGeom>
              <a:avLst/>
              <a:gdLst/>
              <a:ahLst/>
              <a:cxnLst/>
              <a:rect l="l" t="t" r="r" b="b"/>
              <a:pathLst>
                <a:path w="272796" h="272796">
                  <a:moveTo>
                    <a:pt x="272796" y="136398"/>
                  </a:moveTo>
                  <a:cubicBezTo>
                    <a:pt x="272796" y="61087"/>
                    <a:pt x="211709" y="0"/>
                    <a:pt x="136398" y="0"/>
                  </a:cubicBezTo>
                  <a:cubicBezTo>
                    <a:pt x="61087" y="0"/>
                    <a:pt x="0" y="61087"/>
                    <a:pt x="0" y="136398"/>
                  </a:cubicBezTo>
                  <a:cubicBezTo>
                    <a:pt x="0" y="211709"/>
                    <a:pt x="61087" y="272796"/>
                    <a:pt x="136398" y="272796"/>
                  </a:cubicBezTo>
                  <a:cubicBezTo>
                    <a:pt x="211709" y="272796"/>
                    <a:pt x="272796" y="211709"/>
                    <a:pt x="272796" y="136398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AutoShape 18"/>
          <p:cNvSpPr/>
          <p:nvPr/>
        </p:nvSpPr>
        <p:spPr>
          <a:xfrm rot="200137">
            <a:off x="1051862" y="-202024"/>
            <a:ext cx="327405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" name="AutoShape 19"/>
          <p:cNvSpPr/>
          <p:nvPr/>
        </p:nvSpPr>
        <p:spPr>
          <a:xfrm rot="3754738">
            <a:off x="-73191" y="487974"/>
            <a:ext cx="1576134" cy="0"/>
          </a:xfrm>
          <a:prstGeom prst="line">
            <a:avLst/>
          </a:prstGeom>
          <a:ln w="9525" cap="rnd">
            <a:solidFill>
              <a:srgbClr val="5BA3F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" name="AutoShape 20"/>
          <p:cNvSpPr/>
          <p:nvPr/>
        </p:nvSpPr>
        <p:spPr>
          <a:xfrm rot="78807">
            <a:off x="-452608" y="1170574"/>
            <a:ext cx="831068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/>
          <p:nvPr/>
        </p:nvGrpSpPr>
        <p:grpSpPr>
          <a:xfrm rot="-10800000">
            <a:off x="1004526" y="-266726"/>
            <a:ext cx="129600" cy="129600"/>
            <a:chOff x="0" y="0"/>
            <a:chExt cx="172800" cy="17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72847" cy="172720"/>
            </a:xfrm>
            <a:custGeom>
              <a:avLst/>
              <a:gdLst/>
              <a:ahLst/>
              <a:cxnLst/>
              <a:rect l="l" t="t" r="r" b="b"/>
              <a:pathLst>
                <a:path w="172847" h="172720">
                  <a:moveTo>
                    <a:pt x="172847" y="86360"/>
                  </a:moveTo>
                  <a:cubicBezTo>
                    <a:pt x="172847" y="38608"/>
                    <a:pt x="134112" y="0"/>
                    <a:pt x="86487" y="0"/>
                  </a:cubicBezTo>
                  <a:cubicBezTo>
                    <a:pt x="38862" y="0"/>
                    <a:pt x="0" y="38735"/>
                    <a:pt x="0" y="86360"/>
                  </a:cubicBezTo>
                  <a:cubicBezTo>
                    <a:pt x="0" y="133985"/>
                    <a:pt x="38735" y="172720"/>
                    <a:pt x="86360" y="172720"/>
                  </a:cubicBezTo>
                  <a:cubicBezTo>
                    <a:pt x="133985" y="172720"/>
                    <a:pt x="172720" y="133985"/>
                    <a:pt x="172720" y="86360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AutoShape 23"/>
          <p:cNvSpPr/>
          <p:nvPr/>
        </p:nvSpPr>
        <p:spPr>
          <a:xfrm rot="7219507">
            <a:off x="30195" y="1713624"/>
            <a:ext cx="1287863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4" name="Group 24"/>
          <p:cNvGrpSpPr/>
          <p:nvPr/>
        </p:nvGrpSpPr>
        <p:grpSpPr>
          <a:xfrm rot="-10800000">
            <a:off x="926076" y="2188474"/>
            <a:ext cx="147000" cy="146400"/>
            <a:chOff x="0" y="0"/>
            <a:chExt cx="196000" cy="1952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96088" cy="195326"/>
            </a:xfrm>
            <a:custGeom>
              <a:avLst/>
              <a:gdLst/>
              <a:ahLst/>
              <a:cxnLst/>
              <a:rect l="l" t="t" r="r" b="b"/>
              <a:pathLst>
                <a:path w="196088" h="195326">
                  <a:moveTo>
                    <a:pt x="195961" y="97663"/>
                  </a:moveTo>
                  <a:cubicBezTo>
                    <a:pt x="195961" y="43688"/>
                    <a:pt x="152146" y="0"/>
                    <a:pt x="98044" y="0"/>
                  </a:cubicBezTo>
                  <a:cubicBezTo>
                    <a:pt x="43942" y="0"/>
                    <a:pt x="0" y="43688"/>
                    <a:pt x="0" y="97663"/>
                  </a:cubicBezTo>
                  <a:cubicBezTo>
                    <a:pt x="0" y="151638"/>
                    <a:pt x="43815" y="195326"/>
                    <a:pt x="98044" y="195326"/>
                  </a:cubicBezTo>
                  <a:cubicBezTo>
                    <a:pt x="152273" y="195326"/>
                    <a:pt x="196088" y="151638"/>
                    <a:pt x="196088" y="97663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 rot="-10800000">
            <a:off x="-556174" y="1092024"/>
            <a:ext cx="157200" cy="157200"/>
            <a:chOff x="0" y="0"/>
            <a:chExt cx="209600" cy="2096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209550" y="104775"/>
                  </a:moveTo>
                  <a:cubicBezTo>
                    <a:pt x="209550" y="46863"/>
                    <a:pt x="162687" y="0"/>
                    <a:pt x="104775" y="0"/>
                  </a:cubicBezTo>
                  <a:cubicBezTo>
                    <a:pt x="46863" y="0"/>
                    <a:pt x="0" y="46863"/>
                    <a:pt x="0" y="104775"/>
                  </a:cubicBezTo>
                  <a:cubicBezTo>
                    <a:pt x="0" y="162687"/>
                    <a:pt x="46863" y="209550"/>
                    <a:pt x="104775" y="209550"/>
                  </a:cubicBezTo>
                  <a:cubicBezTo>
                    <a:pt x="162687" y="209550"/>
                    <a:pt x="209550" y="162687"/>
                    <a:pt x="209550" y="104775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 rot="-10800000">
            <a:off x="-250570" y="400868"/>
            <a:ext cx="614400" cy="532200"/>
            <a:chOff x="0" y="0"/>
            <a:chExt cx="819200" cy="7096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9150" cy="709549"/>
            </a:xfrm>
            <a:custGeom>
              <a:avLst/>
              <a:gdLst/>
              <a:ahLst/>
              <a:cxnLst/>
              <a:rect l="l" t="t" r="r" b="b"/>
              <a:pathLst>
                <a:path w="819150" h="709549">
                  <a:moveTo>
                    <a:pt x="819150" y="354838"/>
                  </a:moveTo>
                  <a:lnTo>
                    <a:pt x="641858" y="0"/>
                  </a:lnTo>
                  <a:lnTo>
                    <a:pt x="177419" y="0"/>
                  </a:lnTo>
                  <a:lnTo>
                    <a:pt x="0" y="354838"/>
                  </a:lnTo>
                  <a:lnTo>
                    <a:pt x="177419" y="709549"/>
                  </a:lnTo>
                  <a:lnTo>
                    <a:pt x="641858" y="709549"/>
                  </a:lnTo>
                  <a:close/>
                </a:path>
              </a:pathLst>
            </a:custGeom>
            <a:solidFill>
              <a:srgbClr val="5BA3F8">
                <a:alpha val="35294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531425" y="904493"/>
            <a:ext cx="15225150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Introducere</a:t>
            </a:r>
          </a:p>
        </p:txBody>
      </p:sp>
      <p:sp>
        <p:nvSpPr>
          <p:cNvPr id="31" name="AutoShape 31"/>
          <p:cNvSpPr/>
          <p:nvPr/>
        </p:nvSpPr>
        <p:spPr>
          <a:xfrm rot="27633" flipV="1">
            <a:off x="8983386" y="7236595"/>
            <a:ext cx="2422016" cy="19053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32" name="AutoShape 32"/>
          <p:cNvSpPr/>
          <p:nvPr/>
        </p:nvSpPr>
        <p:spPr>
          <a:xfrm rot="27852" flipV="1">
            <a:off x="12492521" y="7253710"/>
            <a:ext cx="2527790" cy="2191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Box 33"/>
          <p:cNvSpPr txBox="1"/>
          <p:nvPr/>
        </p:nvSpPr>
        <p:spPr>
          <a:xfrm>
            <a:off x="-968229" y="2773024"/>
            <a:ext cx="6856224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520"/>
              </a:lnSpc>
            </a:pPr>
            <a:r>
              <a:rPr lang="en-US" sz="4000" b="1" dirty="0" err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Contextul</a:t>
            </a:r>
            <a:r>
              <a:rPr lang="en-US" sz="4000" b="1" dirty="0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 actual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28700" y="3646466"/>
            <a:ext cx="5649518" cy="416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799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Finanțarea sănătății rămâne sub</a:t>
            </a:r>
          </a:p>
          <a:p>
            <a:pPr algn="ctr">
              <a:lnSpc>
                <a:spcPts val="4199"/>
              </a:lnSpc>
            </a:pPr>
            <a:r>
              <a:rPr lang="en-US" sz="2799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media europeană, iar resursele sunt</a:t>
            </a:r>
          </a:p>
          <a:p>
            <a:pPr algn="ctr">
              <a:lnSpc>
                <a:spcPts val="4199"/>
              </a:lnSpc>
            </a:pPr>
            <a:r>
              <a:rPr lang="en-US" sz="2799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utilizate ineficient în contextul</a:t>
            </a:r>
          </a:p>
          <a:p>
            <a:pPr algn="ctr">
              <a:lnSpc>
                <a:spcPts val="4199"/>
              </a:lnSpc>
            </a:pPr>
            <a:r>
              <a:rPr lang="en-US" sz="2799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presiunilor demografice, bugetare și</a:t>
            </a:r>
          </a:p>
          <a:p>
            <a:pPr algn="ctr">
              <a:lnSpc>
                <a:spcPts val="4199"/>
              </a:lnSpc>
            </a:pPr>
            <a:r>
              <a:rPr lang="en-US" sz="2799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cererii crescânde de servicii medicale.</a:t>
            </a:r>
          </a:p>
          <a:p>
            <a:pPr algn="ctr">
              <a:lnSpc>
                <a:spcPts val="4199"/>
              </a:lnSpc>
            </a:pPr>
            <a:endParaRPr lang="en-US" sz="2799">
              <a:solidFill>
                <a:srgbClr val="353552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algn="ctr">
              <a:lnSpc>
                <a:spcPts val="4199"/>
              </a:lnSpc>
            </a:pPr>
            <a:endParaRPr lang="en-US" sz="2799">
              <a:solidFill>
                <a:srgbClr val="353552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algn="ctr">
              <a:lnSpc>
                <a:spcPts val="4199"/>
              </a:lnSpc>
            </a:pPr>
            <a:endParaRPr lang="en-US" sz="2799">
              <a:solidFill>
                <a:srgbClr val="353552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grpSp>
        <p:nvGrpSpPr>
          <p:cNvPr id="35" name="Group 35"/>
          <p:cNvGrpSpPr/>
          <p:nvPr/>
        </p:nvGrpSpPr>
        <p:grpSpPr>
          <a:xfrm rot="-5400000">
            <a:off x="4343759" y="5030135"/>
            <a:ext cx="4993952" cy="19530"/>
            <a:chOff x="0" y="0"/>
            <a:chExt cx="6658603" cy="26040"/>
          </a:xfrm>
        </p:grpSpPr>
        <p:sp>
          <p:nvSpPr>
            <p:cNvPr id="36" name="Freeform 36"/>
            <p:cNvSpPr/>
            <p:nvPr/>
          </p:nvSpPr>
          <p:spPr>
            <a:xfrm>
              <a:off x="0" y="635"/>
              <a:ext cx="6658610" cy="25400"/>
            </a:xfrm>
            <a:custGeom>
              <a:avLst/>
              <a:gdLst/>
              <a:ahLst/>
              <a:cxnLst/>
              <a:rect l="l" t="t" r="r" b="b"/>
              <a:pathLst>
                <a:path w="6658610" h="25400">
                  <a:moveTo>
                    <a:pt x="12700" y="0"/>
                  </a:moveTo>
                  <a:lnTo>
                    <a:pt x="6645910" y="0"/>
                  </a:lnTo>
                  <a:cubicBezTo>
                    <a:pt x="6652895" y="0"/>
                    <a:pt x="6658610" y="5715"/>
                    <a:pt x="6658610" y="12700"/>
                  </a:cubicBezTo>
                  <a:cubicBezTo>
                    <a:pt x="6658610" y="19685"/>
                    <a:pt x="6652895" y="25400"/>
                    <a:pt x="6645910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6875A7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7" name="Freeform 37"/>
          <p:cNvSpPr/>
          <p:nvPr/>
        </p:nvSpPr>
        <p:spPr>
          <a:xfrm>
            <a:off x="7213549" y="6235362"/>
            <a:ext cx="2395742" cy="383166"/>
          </a:xfrm>
          <a:custGeom>
            <a:avLst/>
            <a:gdLst/>
            <a:ahLst/>
            <a:cxnLst/>
            <a:rect l="l" t="t" r="r" b="b"/>
            <a:pathLst>
              <a:path w="2395742" h="383166">
                <a:moveTo>
                  <a:pt x="0" y="0"/>
                </a:moveTo>
                <a:lnTo>
                  <a:pt x="2395742" y="0"/>
                </a:lnTo>
                <a:lnTo>
                  <a:pt x="2395742" y="383166"/>
                </a:lnTo>
                <a:lnTo>
                  <a:pt x="0" y="3831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TextBox 38"/>
          <p:cNvSpPr txBox="1"/>
          <p:nvPr/>
        </p:nvSpPr>
        <p:spPr>
          <a:xfrm>
            <a:off x="7079659" y="2737782"/>
            <a:ext cx="2663550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20"/>
              </a:lnSpc>
            </a:pPr>
            <a:r>
              <a:rPr lang="en-US" sz="4000" b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Problema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850500" y="3600159"/>
            <a:ext cx="3196950" cy="206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799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Lipsa integrării metodelor de analiză în instrumente de suport decizional.</a:t>
            </a:r>
          </a:p>
        </p:txBody>
      </p:sp>
      <p:sp>
        <p:nvSpPr>
          <p:cNvPr id="40" name="Freeform 40"/>
          <p:cNvSpPr/>
          <p:nvPr/>
        </p:nvSpPr>
        <p:spPr>
          <a:xfrm>
            <a:off x="10717720" y="6235362"/>
            <a:ext cx="2395742" cy="383166"/>
          </a:xfrm>
          <a:custGeom>
            <a:avLst/>
            <a:gdLst/>
            <a:ahLst/>
            <a:cxnLst/>
            <a:rect l="l" t="t" r="r" b="b"/>
            <a:pathLst>
              <a:path w="2395742" h="383166">
                <a:moveTo>
                  <a:pt x="0" y="0"/>
                </a:moveTo>
                <a:lnTo>
                  <a:pt x="2395742" y="0"/>
                </a:lnTo>
                <a:lnTo>
                  <a:pt x="2395742" y="383166"/>
                </a:lnTo>
                <a:lnTo>
                  <a:pt x="0" y="3831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1" name="TextBox 41"/>
          <p:cNvSpPr txBox="1"/>
          <p:nvPr/>
        </p:nvSpPr>
        <p:spPr>
          <a:xfrm>
            <a:off x="10573201" y="2737782"/>
            <a:ext cx="2663550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20"/>
              </a:lnSpc>
            </a:pPr>
            <a:r>
              <a:rPr lang="en-US" sz="4000" b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Motivația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252322" y="3600159"/>
            <a:ext cx="3305307" cy="2588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799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Valorificarea BI pentru transformarea datelor în informații relevante pentru managementul spitalelor.</a:t>
            </a:r>
          </a:p>
        </p:txBody>
      </p:sp>
      <p:sp>
        <p:nvSpPr>
          <p:cNvPr id="43" name="Freeform 43"/>
          <p:cNvSpPr/>
          <p:nvPr/>
        </p:nvSpPr>
        <p:spPr>
          <a:xfrm>
            <a:off x="14313630" y="6235362"/>
            <a:ext cx="2395742" cy="383166"/>
          </a:xfrm>
          <a:custGeom>
            <a:avLst/>
            <a:gdLst/>
            <a:ahLst/>
            <a:cxnLst/>
            <a:rect l="l" t="t" r="r" b="b"/>
            <a:pathLst>
              <a:path w="2395742" h="383166">
                <a:moveTo>
                  <a:pt x="0" y="0"/>
                </a:moveTo>
                <a:lnTo>
                  <a:pt x="2395742" y="0"/>
                </a:lnTo>
                <a:lnTo>
                  <a:pt x="2395742" y="383166"/>
                </a:lnTo>
                <a:lnTo>
                  <a:pt x="0" y="3831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4" name="TextBox 44"/>
          <p:cNvSpPr txBox="1"/>
          <p:nvPr/>
        </p:nvSpPr>
        <p:spPr>
          <a:xfrm>
            <a:off x="14179726" y="2737782"/>
            <a:ext cx="2663550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20"/>
              </a:lnSpc>
            </a:pPr>
            <a:r>
              <a:rPr lang="en-US" sz="4000" b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Obiectiv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3919580" y="3600159"/>
            <a:ext cx="3437844" cy="3112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799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Evaluarea performanței a 330 de spitale publice și eficiența a 65 de spitale de nivel de bază.</a:t>
            </a:r>
          </a:p>
          <a:p>
            <a:pPr algn="ctr">
              <a:lnSpc>
                <a:spcPts val="4199"/>
              </a:lnSpc>
            </a:pPr>
            <a:endParaRPr lang="en-US" sz="2799">
              <a:solidFill>
                <a:srgbClr val="353552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grpSp>
        <p:nvGrpSpPr>
          <p:cNvPr id="46" name="Group 46"/>
          <p:cNvGrpSpPr/>
          <p:nvPr/>
        </p:nvGrpSpPr>
        <p:grpSpPr>
          <a:xfrm rot="-10800000">
            <a:off x="7191701" y="8240925"/>
            <a:ext cx="9426550" cy="154700"/>
            <a:chOff x="0" y="0"/>
            <a:chExt cx="12568733" cy="206267"/>
          </a:xfrm>
        </p:grpSpPr>
        <p:sp>
          <p:nvSpPr>
            <p:cNvPr id="47" name="Freeform 47"/>
            <p:cNvSpPr/>
            <p:nvPr/>
          </p:nvSpPr>
          <p:spPr>
            <a:xfrm>
              <a:off x="0" y="180848"/>
              <a:ext cx="12568682" cy="25400"/>
            </a:xfrm>
            <a:custGeom>
              <a:avLst/>
              <a:gdLst/>
              <a:ahLst/>
              <a:cxnLst/>
              <a:rect l="l" t="t" r="r" b="b"/>
              <a:pathLst>
                <a:path w="12568682" h="25400">
                  <a:moveTo>
                    <a:pt x="12555982" y="25400"/>
                  </a:move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lnTo>
                    <a:pt x="12555982" y="0"/>
                  </a:lnTo>
                  <a:cubicBezTo>
                    <a:pt x="12562967" y="0"/>
                    <a:pt x="12568682" y="5715"/>
                    <a:pt x="12568682" y="12700"/>
                  </a:cubicBezTo>
                  <a:cubicBezTo>
                    <a:pt x="12568682" y="19685"/>
                    <a:pt x="12562967" y="25400"/>
                    <a:pt x="12555982" y="25400"/>
                  </a:cubicBezTo>
                  <a:close/>
                </a:path>
              </a:pathLst>
            </a:custGeom>
            <a:solidFill>
              <a:srgbClr val="6875A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830034" y="6751738"/>
            <a:ext cx="1162800" cy="1007400"/>
            <a:chOff x="0" y="0"/>
            <a:chExt cx="1550400" cy="13432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550416" cy="1343152"/>
            </a:xfrm>
            <a:custGeom>
              <a:avLst/>
              <a:gdLst/>
              <a:ahLst/>
              <a:cxnLst/>
              <a:rect l="l" t="t" r="r" b="b"/>
              <a:pathLst>
                <a:path w="1550416" h="1343152">
                  <a:moveTo>
                    <a:pt x="0" y="671576"/>
                  </a:moveTo>
                  <a:lnTo>
                    <a:pt x="335788" y="0"/>
                  </a:lnTo>
                  <a:lnTo>
                    <a:pt x="1214628" y="0"/>
                  </a:lnTo>
                  <a:lnTo>
                    <a:pt x="1550416" y="671576"/>
                  </a:lnTo>
                  <a:lnTo>
                    <a:pt x="1214628" y="1343152"/>
                  </a:lnTo>
                  <a:lnTo>
                    <a:pt x="335788" y="1343152"/>
                  </a:lnTo>
                  <a:close/>
                </a:path>
              </a:pathLst>
            </a:custGeom>
            <a:solidFill>
              <a:srgbClr val="7CBE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1343558" y="6751738"/>
            <a:ext cx="1162800" cy="1007400"/>
            <a:chOff x="0" y="0"/>
            <a:chExt cx="1550400" cy="13432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550416" cy="1343152"/>
            </a:xfrm>
            <a:custGeom>
              <a:avLst/>
              <a:gdLst/>
              <a:ahLst/>
              <a:cxnLst/>
              <a:rect l="l" t="t" r="r" b="b"/>
              <a:pathLst>
                <a:path w="1550416" h="1343152">
                  <a:moveTo>
                    <a:pt x="0" y="671576"/>
                  </a:moveTo>
                  <a:lnTo>
                    <a:pt x="335788" y="0"/>
                  </a:lnTo>
                  <a:lnTo>
                    <a:pt x="1214628" y="0"/>
                  </a:lnTo>
                  <a:lnTo>
                    <a:pt x="1550416" y="671576"/>
                  </a:lnTo>
                  <a:lnTo>
                    <a:pt x="1214628" y="1343152"/>
                  </a:lnTo>
                  <a:lnTo>
                    <a:pt x="335788" y="1343152"/>
                  </a:lnTo>
                  <a:close/>
                </a:path>
              </a:pathLst>
            </a:custGeom>
            <a:solidFill>
              <a:srgbClr val="7CBE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4838384" y="6751738"/>
            <a:ext cx="1162800" cy="1007400"/>
            <a:chOff x="0" y="0"/>
            <a:chExt cx="1550400" cy="13432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550416" cy="1343152"/>
            </a:xfrm>
            <a:custGeom>
              <a:avLst/>
              <a:gdLst/>
              <a:ahLst/>
              <a:cxnLst/>
              <a:rect l="l" t="t" r="r" b="b"/>
              <a:pathLst>
                <a:path w="1550416" h="1343152">
                  <a:moveTo>
                    <a:pt x="0" y="671576"/>
                  </a:moveTo>
                  <a:lnTo>
                    <a:pt x="335788" y="0"/>
                  </a:lnTo>
                  <a:lnTo>
                    <a:pt x="1214628" y="0"/>
                  </a:lnTo>
                  <a:lnTo>
                    <a:pt x="1550416" y="671576"/>
                  </a:lnTo>
                  <a:lnTo>
                    <a:pt x="1214628" y="1343152"/>
                  </a:lnTo>
                  <a:lnTo>
                    <a:pt x="335788" y="1343152"/>
                  </a:lnTo>
                  <a:close/>
                </a:path>
              </a:pathLst>
            </a:custGeom>
            <a:solidFill>
              <a:srgbClr val="7CBE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4" name="Freeform 54"/>
          <p:cNvSpPr/>
          <p:nvPr/>
        </p:nvSpPr>
        <p:spPr>
          <a:xfrm>
            <a:off x="8186492" y="6906298"/>
            <a:ext cx="449856" cy="698262"/>
          </a:xfrm>
          <a:custGeom>
            <a:avLst/>
            <a:gdLst/>
            <a:ahLst/>
            <a:cxnLst/>
            <a:rect l="l" t="t" r="r" b="b"/>
            <a:pathLst>
              <a:path w="449856" h="698262">
                <a:moveTo>
                  <a:pt x="0" y="0"/>
                </a:moveTo>
                <a:lnTo>
                  <a:pt x="449856" y="0"/>
                </a:lnTo>
                <a:lnTo>
                  <a:pt x="449856" y="698262"/>
                </a:lnTo>
                <a:lnTo>
                  <a:pt x="0" y="6982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5" name="Freeform 55"/>
          <p:cNvSpPr/>
          <p:nvPr/>
        </p:nvSpPr>
        <p:spPr>
          <a:xfrm>
            <a:off x="15020358" y="6879988"/>
            <a:ext cx="798796" cy="750886"/>
          </a:xfrm>
          <a:custGeom>
            <a:avLst/>
            <a:gdLst/>
            <a:ahLst/>
            <a:cxnLst/>
            <a:rect l="l" t="t" r="r" b="b"/>
            <a:pathLst>
              <a:path w="798796" h="750886">
                <a:moveTo>
                  <a:pt x="0" y="0"/>
                </a:moveTo>
                <a:lnTo>
                  <a:pt x="798796" y="0"/>
                </a:lnTo>
                <a:lnTo>
                  <a:pt x="798796" y="750886"/>
                </a:lnTo>
                <a:lnTo>
                  <a:pt x="0" y="7508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6" name="Freeform 56"/>
          <p:cNvSpPr/>
          <p:nvPr/>
        </p:nvSpPr>
        <p:spPr>
          <a:xfrm>
            <a:off x="11562796" y="6894318"/>
            <a:ext cx="724446" cy="722216"/>
          </a:xfrm>
          <a:custGeom>
            <a:avLst/>
            <a:gdLst/>
            <a:ahLst/>
            <a:cxnLst/>
            <a:rect l="l" t="t" r="r" b="b"/>
            <a:pathLst>
              <a:path w="724446" h="722216">
                <a:moveTo>
                  <a:pt x="0" y="0"/>
                </a:moveTo>
                <a:lnTo>
                  <a:pt x="724446" y="0"/>
                </a:lnTo>
                <a:lnTo>
                  <a:pt x="724446" y="722216"/>
                </a:lnTo>
                <a:lnTo>
                  <a:pt x="0" y="7222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746610" y="-611036"/>
            <a:ext cx="1834998" cy="1589342"/>
          </a:xfrm>
          <a:custGeom>
            <a:avLst/>
            <a:gdLst/>
            <a:ahLst/>
            <a:cxnLst/>
            <a:rect l="l" t="t" r="r" b="b"/>
            <a:pathLst>
              <a:path w="1834998" h="1589342">
                <a:moveTo>
                  <a:pt x="0" y="0"/>
                </a:moveTo>
                <a:lnTo>
                  <a:pt x="1834998" y="0"/>
                </a:lnTo>
                <a:lnTo>
                  <a:pt x="1834998" y="1589342"/>
                </a:lnTo>
                <a:lnTo>
                  <a:pt x="0" y="15893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8022024" y="41500"/>
            <a:ext cx="1189313" cy="1031935"/>
          </a:xfrm>
          <a:custGeom>
            <a:avLst/>
            <a:gdLst/>
            <a:ahLst/>
            <a:cxnLst/>
            <a:rect l="l" t="t" r="r" b="b"/>
            <a:pathLst>
              <a:path w="1189313" h="1031935">
                <a:moveTo>
                  <a:pt x="0" y="0"/>
                </a:moveTo>
                <a:lnTo>
                  <a:pt x="1189314" y="0"/>
                </a:lnTo>
                <a:lnTo>
                  <a:pt x="1189314" y="1031936"/>
                </a:lnTo>
                <a:lnTo>
                  <a:pt x="0" y="1031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940174" y="1259500"/>
            <a:ext cx="1189313" cy="1031935"/>
          </a:xfrm>
          <a:custGeom>
            <a:avLst/>
            <a:gdLst/>
            <a:ahLst/>
            <a:cxnLst/>
            <a:rect l="l" t="t" r="r" b="b"/>
            <a:pathLst>
              <a:path w="1189313" h="1031935">
                <a:moveTo>
                  <a:pt x="0" y="0"/>
                </a:moveTo>
                <a:lnTo>
                  <a:pt x="1189314" y="0"/>
                </a:lnTo>
                <a:lnTo>
                  <a:pt x="1189314" y="1031936"/>
                </a:lnTo>
                <a:lnTo>
                  <a:pt x="0" y="1031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7099078" y="1170126"/>
            <a:ext cx="204600" cy="204600"/>
            <a:chOff x="0" y="0"/>
            <a:chExt cx="272800" cy="27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2796" cy="272796"/>
            </a:xfrm>
            <a:custGeom>
              <a:avLst/>
              <a:gdLst/>
              <a:ahLst/>
              <a:cxnLst/>
              <a:rect l="l" t="t" r="r" b="b"/>
              <a:pathLst>
                <a:path w="272796" h="272796">
                  <a:moveTo>
                    <a:pt x="272796" y="136398"/>
                  </a:moveTo>
                  <a:cubicBezTo>
                    <a:pt x="272796" y="61087"/>
                    <a:pt x="211709" y="0"/>
                    <a:pt x="136398" y="0"/>
                  </a:cubicBezTo>
                  <a:cubicBezTo>
                    <a:pt x="61087" y="0"/>
                    <a:pt x="0" y="61087"/>
                    <a:pt x="0" y="136398"/>
                  </a:cubicBezTo>
                  <a:cubicBezTo>
                    <a:pt x="0" y="211709"/>
                    <a:pt x="61087" y="272796"/>
                    <a:pt x="136398" y="272796"/>
                  </a:cubicBezTo>
                  <a:cubicBezTo>
                    <a:pt x="211709" y="272796"/>
                    <a:pt x="272796" y="211709"/>
                    <a:pt x="272796" y="136398"/>
                  </a:cubicBezTo>
                  <a:close/>
                </a:path>
              </a:pathLst>
            </a:custGeom>
            <a:solidFill>
              <a:srgbClr val="7CBE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4754525" y="281857"/>
            <a:ext cx="633450" cy="551250"/>
            <a:chOff x="0" y="0"/>
            <a:chExt cx="844600" cy="735000"/>
          </a:xfrm>
        </p:grpSpPr>
        <p:sp>
          <p:nvSpPr>
            <p:cNvPr id="8" name="Freeform 8"/>
            <p:cNvSpPr/>
            <p:nvPr/>
          </p:nvSpPr>
          <p:spPr>
            <a:xfrm>
              <a:off x="63" y="0"/>
              <a:ext cx="844550" cy="734949"/>
            </a:xfrm>
            <a:custGeom>
              <a:avLst/>
              <a:gdLst/>
              <a:ahLst/>
              <a:cxnLst/>
              <a:rect l="l" t="t" r="r" b="b"/>
              <a:pathLst>
                <a:path w="844550" h="734949">
                  <a:moveTo>
                    <a:pt x="820484" y="373253"/>
                  </a:moveTo>
                  <a:lnTo>
                    <a:pt x="642303" y="18415"/>
                  </a:lnTo>
                  <a:lnTo>
                    <a:pt x="653606" y="12700"/>
                  </a:lnTo>
                  <a:lnTo>
                    <a:pt x="653606" y="25400"/>
                  </a:lnTo>
                  <a:lnTo>
                    <a:pt x="190818" y="25400"/>
                  </a:lnTo>
                  <a:lnTo>
                    <a:pt x="190818" y="12700"/>
                  </a:lnTo>
                  <a:lnTo>
                    <a:pt x="202121" y="18415"/>
                  </a:lnTo>
                  <a:lnTo>
                    <a:pt x="23940" y="373253"/>
                  </a:lnTo>
                  <a:lnTo>
                    <a:pt x="12637" y="367538"/>
                  </a:lnTo>
                  <a:lnTo>
                    <a:pt x="23940" y="361823"/>
                  </a:lnTo>
                  <a:lnTo>
                    <a:pt x="202248" y="716661"/>
                  </a:lnTo>
                  <a:lnTo>
                    <a:pt x="190945" y="722376"/>
                  </a:lnTo>
                  <a:lnTo>
                    <a:pt x="190945" y="709676"/>
                  </a:lnTo>
                  <a:lnTo>
                    <a:pt x="653606" y="709676"/>
                  </a:lnTo>
                  <a:lnTo>
                    <a:pt x="653606" y="722376"/>
                  </a:lnTo>
                  <a:lnTo>
                    <a:pt x="642303" y="716661"/>
                  </a:lnTo>
                  <a:lnTo>
                    <a:pt x="820484" y="361823"/>
                  </a:lnTo>
                  <a:lnTo>
                    <a:pt x="831787" y="367538"/>
                  </a:lnTo>
                  <a:lnTo>
                    <a:pt x="820484" y="373253"/>
                  </a:lnTo>
                  <a:moveTo>
                    <a:pt x="843217" y="361823"/>
                  </a:moveTo>
                  <a:cubicBezTo>
                    <a:pt x="844995" y="365379"/>
                    <a:pt x="844995" y="369697"/>
                    <a:pt x="843217" y="373253"/>
                  </a:cubicBezTo>
                  <a:lnTo>
                    <a:pt x="664909" y="727964"/>
                  </a:lnTo>
                  <a:cubicBezTo>
                    <a:pt x="662750" y="732282"/>
                    <a:pt x="658305" y="734949"/>
                    <a:pt x="653606" y="734949"/>
                  </a:cubicBezTo>
                  <a:lnTo>
                    <a:pt x="190818" y="734949"/>
                  </a:lnTo>
                  <a:cubicBezTo>
                    <a:pt x="185992" y="734949"/>
                    <a:pt x="181674" y="732282"/>
                    <a:pt x="179515" y="727964"/>
                  </a:cubicBezTo>
                  <a:lnTo>
                    <a:pt x="1334" y="373253"/>
                  </a:lnTo>
                  <a:cubicBezTo>
                    <a:pt x="-444" y="369697"/>
                    <a:pt x="-444" y="365379"/>
                    <a:pt x="1334" y="361823"/>
                  </a:cubicBezTo>
                  <a:lnTo>
                    <a:pt x="179515" y="6985"/>
                  </a:lnTo>
                  <a:cubicBezTo>
                    <a:pt x="181674" y="2667"/>
                    <a:pt x="186119" y="0"/>
                    <a:pt x="190818" y="0"/>
                  </a:cubicBezTo>
                  <a:lnTo>
                    <a:pt x="653606" y="0"/>
                  </a:lnTo>
                  <a:cubicBezTo>
                    <a:pt x="658432" y="0"/>
                    <a:pt x="662750" y="2667"/>
                    <a:pt x="664909" y="6985"/>
                  </a:cubicBezTo>
                  <a:lnTo>
                    <a:pt x="843217" y="361823"/>
                  </a:lnTo>
                  <a:close/>
                </a:path>
              </a:pathLst>
            </a:custGeom>
            <a:solidFill>
              <a:srgbClr val="AFE0D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AutoShape 9"/>
          <p:cNvSpPr/>
          <p:nvPr/>
        </p:nvSpPr>
        <p:spPr>
          <a:xfrm rot="3599864">
            <a:off x="18617608" y="1277808"/>
            <a:ext cx="1180419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 rot="79323">
            <a:off x="18112989" y="1775468"/>
            <a:ext cx="825670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 rot="199407">
            <a:off x="17710085" y="557468"/>
            <a:ext cx="328603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 rot="6766566">
            <a:off x="17441121" y="371136"/>
            <a:ext cx="427375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 rot="3453659">
            <a:off x="17022286" y="2378772"/>
            <a:ext cx="245805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 rot="-1364276">
            <a:off x="16980926" y="2467136"/>
            <a:ext cx="156784" cy="156784"/>
            <a:chOff x="0" y="0"/>
            <a:chExt cx="209045" cy="20904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9042" cy="209042"/>
            </a:xfrm>
            <a:custGeom>
              <a:avLst/>
              <a:gdLst/>
              <a:ahLst/>
              <a:cxnLst/>
              <a:rect l="l" t="t" r="r" b="b"/>
              <a:pathLst>
                <a:path w="209042" h="209042">
                  <a:moveTo>
                    <a:pt x="209042" y="104521"/>
                  </a:moveTo>
                  <a:cubicBezTo>
                    <a:pt x="209042" y="46736"/>
                    <a:pt x="162306" y="0"/>
                    <a:pt x="104521" y="0"/>
                  </a:cubicBezTo>
                  <a:cubicBezTo>
                    <a:pt x="46736" y="0"/>
                    <a:pt x="0" y="46736"/>
                    <a:pt x="0" y="104521"/>
                  </a:cubicBezTo>
                  <a:cubicBezTo>
                    <a:pt x="0" y="162306"/>
                    <a:pt x="46736" y="209042"/>
                    <a:pt x="104521" y="209042"/>
                  </a:cubicBezTo>
                  <a:cubicBezTo>
                    <a:pt x="162306" y="209042"/>
                    <a:pt x="209042" y="162306"/>
                    <a:pt x="209042" y="104521"/>
                  </a:cubicBezTo>
                  <a:close/>
                </a:path>
              </a:pathLst>
            </a:custGeom>
            <a:solidFill>
              <a:srgbClr val="7CBE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AutoShape 16"/>
          <p:cNvSpPr/>
          <p:nvPr/>
        </p:nvSpPr>
        <p:spPr>
          <a:xfrm rot="7221008">
            <a:off x="15303758" y="-1088634"/>
            <a:ext cx="1128971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>
            <a:off x="15513804" y="-1636774"/>
            <a:ext cx="157200" cy="157200"/>
            <a:chOff x="0" y="0"/>
            <a:chExt cx="209600" cy="2096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209550" y="104775"/>
                  </a:moveTo>
                  <a:cubicBezTo>
                    <a:pt x="209550" y="46863"/>
                    <a:pt x="162687" y="0"/>
                    <a:pt x="104775" y="0"/>
                  </a:cubicBezTo>
                  <a:cubicBezTo>
                    <a:pt x="46863" y="0"/>
                    <a:pt x="0" y="46863"/>
                    <a:pt x="0" y="104775"/>
                  </a:cubicBezTo>
                  <a:cubicBezTo>
                    <a:pt x="0" y="162687"/>
                    <a:pt x="46863" y="209550"/>
                    <a:pt x="104775" y="209550"/>
                  </a:cubicBezTo>
                  <a:cubicBezTo>
                    <a:pt x="162687" y="209550"/>
                    <a:pt x="209550" y="162687"/>
                    <a:pt x="209550" y="104775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7414500" y="2484382"/>
            <a:ext cx="614400" cy="532200"/>
            <a:chOff x="0" y="0"/>
            <a:chExt cx="819200" cy="7096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9150" cy="709549"/>
            </a:xfrm>
            <a:custGeom>
              <a:avLst/>
              <a:gdLst/>
              <a:ahLst/>
              <a:cxnLst/>
              <a:rect l="l" t="t" r="r" b="b"/>
              <a:pathLst>
                <a:path w="819150" h="709549">
                  <a:moveTo>
                    <a:pt x="819150" y="354838"/>
                  </a:moveTo>
                  <a:lnTo>
                    <a:pt x="641858" y="0"/>
                  </a:lnTo>
                  <a:lnTo>
                    <a:pt x="177419" y="0"/>
                  </a:lnTo>
                  <a:lnTo>
                    <a:pt x="0" y="354838"/>
                  </a:lnTo>
                  <a:lnTo>
                    <a:pt x="177419" y="709549"/>
                  </a:lnTo>
                  <a:lnTo>
                    <a:pt x="641858" y="709549"/>
                  </a:lnTo>
                  <a:close/>
                </a:path>
              </a:pathLst>
            </a:custGeom>
            <a:solidFill>
              <a:srgbClr val="7CBEFF">
                <a:alpha val="35294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Freeform 21"/>
          <p:cNvSpPr/>
          <p:nvPr/>
        </p:nvSpPr>
        <p:spPr>
          <a:xfrm>
            <a:off x="13163990" y="-514629"/>
            <a:ext cx="1609354" cy="1396536"/>
          </a:xfrm>
          <a:custGeom>
            <a:avLst/>
            <a:gdLst/>
            <a:ahLst/>
            <a:cxnLst/>
            <a:rect l="l" t="t" r="r" b="b"/>
            <a:pathLst>
              <a:path w="1609354" h="1396536">
                <a:moveTo>
                  <a:pt x="0" y="0"/>
                </a:moveTo>
                <a:lnTo>
                  <a:pt x="1609354" y="0"/>
                </a:lnTo>
                <a:lnTo>
                  <a:pt x="1609354" y="1396536"/>
                </a:lnTo>
                <a:lnTo>
                  <a:pt x="0" y="13965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AutoShape 22"/>
          <p:cNvSpPr/>
          <p:nvPr/>
        </p:nvSpPr>
        <p:spPr>
          <a:xfrm rot="65360">
            <a:off x="14754440" y="183638"/>
            <a:ext cx="1002031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16998688" y="6343887"/>
            <a:ext cx="2370711" cy="1532723"/>
          </a:xfrm>
          <a:custGeom>
            <a:avLst/>
            <a:gdLst/>
            <a:ahLst/>
            <a:cxnLst/>
            <a:rect l="l" t="t" r="r" b="b"/>
            <a:pathLst>
              <a:path w="2370711" h="1532723">
                <a:moveTo>
                  <a:pt x="0" y="0"/>
                </a:moveTo>
                <a:lnTo>
                  <a:pt x="2370711" y="0"/>
                </a:lnTo>
                <a:lnTo>
                  <a:pt x="2370711" y="1532724"/>
                </a:lnTo>
                <a:lnTo>
                  <a:pt x="0" y="15327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AutoShape 24"/>
          <p:cNvSpPr/>
          <p:nvPr/>
        </p:nvSpPr>
        <p:spPr>
          <a:xfrm rot="2304185">
            <a:off x="17585742" y="8001414"/>
            <a:ext cx="465317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5" name="Group 25"/>
          <p:cNvGrpSpPr/>
          <p:nvPr/>
        </p:nvGrpSpPr>
        <p:grpSpPr>
          <a:xfrm rot="5400000">
            <a:off x="17136469" y="8193671"/>
            <a:ext cx="1018650" cy="884850"/>
            <a:chOff x="0" y="0"/>
            <a:chExt cx="1358200" cy="1179800"/>
          </a:xfrm>
        </p:grpSpPr>
        <p:sp>
          <p:nvSpPr>
            <p:cNvPr id="26" name="Freeform 26"/>
            <p:cNvSpPr/>
            <p:nvPr/>
          </p:nvSpPr>
          <p:spPr>
            <a:xfrm>
              <a:off x="63" y="0"/>
              <a:ext cx="1358138" cy="1179830"/>
            </a:xfrm>
            <a:custGeom>
              <a:avLst/>
              <a:gdLst/>
              <a:ahLst/>
              <a:cxnLst/>
              <a:rect l="l" t="t" r="r" b="b"/>
              <a:pathLst>
                <a:path w="1358138" h="1179830">
                  <a:moveTo>
                    <a:pt x="1334072" y="595630"/>
                  </a:moveTo>
                  <a:lnTo>
                    <a:pt x="1044639" y="18415"/>
                  </a:lnTo>
                  <a:lnTo>
                    <a:pt x="1055942" y="12700"/>
                  </a:lnTo>
                  <a:lnTo>
                    <a:pt x="1055942" y="25400"/>
                  </a:lnTo>
                  <a:lnTo>
                    <a:pt x="302070" y="25400"/>
                  </a:lnTo>
                  <a:lnTo>
                    <a:pt x="302070" y="12700"/>
                  </a:lnTo>
                  <a:lnTo>
                    <a:pt x="313373" y="18415"/>
                  </a:lnTo>
                  <a:lnTo>
                    <a:pt x="23940" y="595630"/>
                  </a:lnTo>
                  <a:lnTo>
                    <a:pt x="12637" y="589915"/>
                  </a:lnTo>
                  <a:lnTo>
                    <a:pt x="23940" y="584200"/>
                  </a:lnTo>
                  <a:lnTo>
                    <a:pt x="313373" y="1161415"/>
                  </a:lnTo>
                  <a:lnTo>
                    <a:pt x="302070" y="1167130"/>
                  </a:lnTo>
                  <a:lnTo>
                    <a:pt x="302070" y="1154430"/>
                  </a:lnTo>
                  <a:lnTo>
                    <a:pt x="1055942" y="1154430"/>
                  </a:lnTo>
                  <a:lnTo>
                    <a:pt x="1055942" y="1167130"/>
                  </a:lnTo>
                  <a:lnTo>
                    <a:pt x="1044639" y="1161415"/>
                  </a:lnTo>
                  <a:lnTo>
                    <a:pt x="1334072" y="584200"/>
                  </a:lnTo>
                  <a:lnTo>
                    <a:pt x="1345375" y="589915"/>
                  </a:lnTo>
                  <a:lnTo>
                    <a:pt x="1334072" y="595630"/>
                  </a:lnTo>
                  <a:moveTo>
                    <a:pt x="1356805" y="584200"/>
                  </a:moveTo>
                  <a:cubicBezTo>
                    <a:pt x="1358583" y="587756"/>
                    <a:pt x="1358583" y="591947"/>
                    <a:pt x="1356805" y="595630"/>
                  </a:cubicBezTo>
                  <a:lnTo>
                    <a:pt x="1067372" y="1172845"/>
                  </a:lnTo>
                  <a:cubicBezTo>
                    <a:pt x="1065213" y="1177163"/>
                    <a:pt x="1060768" y="1179830"/>
                    <a:pt x="1056069" y="1179830"/>
                  </a:cubicBezTo>
                  <a:lnTo>
                    <a:pt x="302070" y="1179830"/>
                  </a:lnTo>
                  <a:cubicBezTo>
                    <a:pt x="297244" y="1179830"/>
                    <a:pt x="292926" y="1177163"/>
                    <a:pt x="290767" y="1172845"/>
                  </a:cubicBezTo>
                  <a:lnTo>
                    <a:pt x="1334" y="595630"/>
                  </a:lnTo>
                  <a:cubicBezTo>
                    <a:pt x="-444" y="592074"/>
                    <a:pt x="-444" y="587883"/>
                    <a:pt x="1334" y="584200"/>
                  </a:cubicBezTo>
                  <a:lnTo>
                    <a:pt x="290767" y="6985"/>
                  </a:lnTo>
                  <a:cubicBezTo>
                    <a:pt x="292926" y="2667"/>
                    <a:pt x="297371" y="0"/>
                    <a:pt x="302070" y="0"/>
                  </a:cubicBezTo>
                  <a:lnTo>
                    <a:pt x="1055942" y="0"/>
                  </a:lnTo>
                  <a:cubicBezTo>
                    <a:pt x="1060768" y="0"/>
                    <a:pt x="1065086" y="2667"/>
                    <a:pt x="1067245" y="6985"/>
                  </a:cubicBezTo>
                  <a:lnTo>
                    <a:pt x="1356805" y="584200"/>
                  </a:lnTo>
                  <a:close/>
                </a:path>
              </a:pathLst>
            </a:custGeom>
            <a:solidFill>
              <a:srgbClr val="6875A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27"/>
          <p:cNvGrpSpPr/>
          <p:nvPr/>
        </p:nvGrpSpPr>
        <p:grpSpPr>
          <a:xfrm rot="5400000">
            <a:off x="17238017" y="8281569"/>
            <a:ext cx="815250" cy="709050"/>
            <a:chOff x="0" y="0"/>
            <a:chExt cx="1087000" cy="945400"/>
          </a:xfrm>
        </p:grpSpPr>
        <p:sp>
          <p:nvSpPr>
            <p:cNvPr id="28" name="Freeform 28"/>
            <p:cNvSpPr/>
            <p:nvPr/>
          </p:nvSpPr>
          <p:spPr>
            <a:xfrm>
              <a:off x="63" y="0"/>
              <a:ext cx="1086993" cy="945388"/>
            </a:xfrm>
            <a:custGeom>
              <a:avLst/>
              <a:gdLst/>
              <a:ahLst/>
              <a:cxnLst/>
              <a:rect l="l" t="t" r="r" b="b"/>
              <a:pathLst>
                <a:path w="1086993" h="945388">
                  <a:moveTo>
                    <a:pt x="1062927" y="478409"/>
                  </a:moveTo>
                  <a:lnTo>
                    <a:pt x="832041" y="18415"/>
                  </a:lnTo>
                  <a:lnTo>
                    <a:pt x="843471" y="12700"/>
                  </a:lnTo>
                  <a:lnTo>
                    <a:pt x="843471" y="25400"/>
                  </a:lnTo>
                  <a:lnTo>
                    <a:pt x="243523" y="25400"/>
                  </a:lnTo>
                  <a:lnTo>
                    <a:pt x="243523" y="12700"/>
                  </a:lnTo>
                  <a:lnTo>
                    <a:pt x="254826" y="18415"/>
                  </a:lnTo>
                  <a:lnTo>
                    <a:pt x="23940" y="478409"/>
                  </a:lnTo>
                  <a:lnTo>
                    <a:pt x="12637" y="472694"/>
                  </a:lnTo>
                  <a:lnTo>
                    <a:pt x="23940" y="466979"/>
                  </a:lnTo>
                  <a:lnTo>
                    <a:pt x="254826" y="926973"/>
                  </a:lnTo>
                  <a:lnTo>
                    <a:pt x="243523" y="932688"/>
                  </a:lnTo>
                  <a:lnTo>
                    <a:pt x="243523" y="919988"/>
                  </a:lnTo>
                  <a:lnTo>
                    <a:pt x="843471" y="919988"/>
                  </a:lnTo>
                  <a:lnTo>
                    <a:pt x="843471" y="932688"/>
                  </a:lnTo>
                  <a:lnTo>
                    <a:pt x="832168" y="926973"/>
                  </a:lnTo>
                  <a:lnTo>
                    <a:pt x="1062927" y="466979"/>
                  </a:lnTo>
                  <a:lnTo>
                    <a:pt x="1074230" y="472694"/>
                  </a:lnTo>
                  <a:lnTo>
                    <a:pt x="1062927" y="478409"/>
                  </a:lnTo>
                  <a:moveTo>
                    <a:pt x="1085660" y="466979"/>
                  </a:moveTo>
                  <a:cubicBezTo>
                    <a:pt x="1087438" y="470535"/>
                    <a:pt x="1087438" y="474726"/>
                    <a:pt x="1085660" y="478409"/>
                  </a:cubicBezTo>
                  <a:lnTo>
                    <a:pt x="854774" y="938403"/>
                  </a:lnTo>
                  <a:cubicBezTo>
                    <a:pt x="852615" y="942721"/>
                    <a:pt x="848170" y="945388"/>
                    <a:pt x="843471" y="945388"/>
                  </a:cubicBezTo>
                  <a:lnTo>
                    <a:pt x="243523" y="945388"/>
                  </a:lnTo>
                  <a:cubicBezTo>
                    <a:pt x="238697" y="945388"/>
                    <a:pt x="234379" y="942721"/>
                    <a:pt x="232220" y="938403"/>
                  </a:cubicBezTo>
                  <a:lnTo>
                    <a:pt x="1334" y="478409"/>
                  </a:lnTo>
                  <a:cubicBezTo>
                    <a:pt x="-444" y="474853"/>
                    <a:pt x="-444" y="470662"/>
                    <a:pt x="1334" y="466979"/>
                  </a:cubicBezTo>
                  <a:lnTo>
                    <a:pt x="232093" y="6985"/>
                  </a:lnTo>
                  <a:cubicBezTo>
                    <a:pt x="234252" y="2667"/>
                    <a:pt x="238697" y="0"/>
                    <a:pt x="243396" y="0"/>
                  </a:cubicBezTo>
                  <a:lnTo>
                    <a:pt x="843471" y="0"/>
                  </a:lnTo>
                  <a:cubicBezTo>
                    <a:pt x="848297" y="0"/>
                    <a:pt x="852615" y="2667"/>
                    <a:pt x="854774" y="6985"/>
                  </a:cubicBezTo>
                  <a:lnTo>
                    <a:pt x="1085533" y="466979"/>
                  </a:lnTo>
                  <a:close/>
                </a:path>
              </a:pathLst>
            </a:custGeom>
            <a:solidFill>
              <a:srgbClr val="AFE0D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" name="Freeform 29"/>
          <p:cNvSpPr/>
          <p:nvPr/>
        </p:nvSpPr>
        <p:spPr>
          <a:xfrm>
            <a:off x="162715" y="8696731"/>
            <a:ext cx="1031935" cy="1189313"/>
          </a:xfrm>
          <a:custGeom>
            <a:avLst/>
            <a:gdLst/>
            <a:ahLst/>
            <a:cxnLst/>
            <a:rect l="l" t="t" r="r" b="b"/>
            <a:pathLst>
              <a:path w="1031935" h="1189313">
                <a:moveTo>
                  <a:pt x="0" y="0"/>
                </a:moveTo>
                <a:lnTo>
                  <a:pt x="1031936" y="0"/>
                </a:lnTo>
                <a:lnTo>
                  <a:pt x="1031936" y="1189314"/>
                </a:lnTo>
                <a:lnTo>
                  <a:pt x="0" y="11893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0" name="Group 30"/>
          <p:cNvGrpSpPr/>
          <p:nvPr/>
        </p:nvGrpSpPr>
        <p:grpSpPr>
          <a:xfrm rot="-5400000">
            <a:off x="73341" y="9522539"/>
            <a:ext cx="204600" cy="204600"/>
            <a:chOff x="0" y="0"/>
            <a:chExt cx="272800" cy="27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72796" cy="272796"/>
            </a:xfrm>
            <a:custGeom>
              <a:avLst/>
              <a:gdLst/>
              <a:ahLst/>
              <a:cxnLst/>
              <a:rect l="l" t="t" r="r" b="b"/>
              <a:pathLst>
                <a:path w="272796" h="272796">
                  <a:moveTo>
                    <a:pt x="272796" y="136398"/>
                  </a:moveTo>
                  <a:cubicBezTo>
                    <a:pt x="272796" y="61087"/>
                    <a:pt x="211709" y="0"/>
                    <a:pt x="136398" y="0"/>
                  </a:cubicBezTo>
                  <a:cubicBezTo>
                    <a:pt x="61087" y="0"/>
                    <a:pt x="0" y="61087"/>
                    <a:pt x="0" y="136398"/>
                  </a:cubicBezTo>
                  <a:cubicBezTo>
                    <a:pt x="0" y="211709"/>
                    <a:pt x="61087" y="272796"/>
                    <a:pt x="136398" y="272796"/>
                  </a:cubicBezTo>
                  <a:cubicBezTo>
                    <a:pt x="211709" y="272796"/>
                    <a:pt x="272796" y="211709"/>
                    <a:pt x="272796" y="136398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2" name="AutoShape 32"/>
          <p:cNvSpPr/>
          <p:nvPr/>
        </p:nvSpPr>
        <p:spPr>
          <a:xfrm rot="5356719">
            <a:off x="-77902" y="7956595"/>
            <a:ext cx="1513170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3" name="Group 33"/>
          <p:cNvGrpSpPr/>
          <p:nvPr/>
        </p:nvGrpSpPr>
        <p:grpSpPr>
          <a:xfrm rot="-5400000">
            <a:off x="1074241" y="9879165"/>
            <a:ext cx="157200" cy="157200"/>
            <a:chOff x="0" y="0"/>
            <a:chExt cx="209600" cy="2096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209550" y="104775"/>
                  </a:moveTo>
                  <a:cubicBezTo>
                    <a:pt x="209550" y="46863"/>
                    <a:pt x="162687" y="0"/>
                    <a:pt x="104775" y="0"/>
                  </a:cubicBezTo>
                  <a:cubicBezTo>
                    <a:pt x="46863" y="0"/>
                    <a:pt x="0" y="46863"/>
                    <a:pt x="0" y="104775"/>
                  </a:cubicBezTo>
                  <a:cubicBezTo>
                    <a:pt x="0" y="162687"/>
                    <a:pt x="46863" y="209550"/>
                    <a:pt x="104775" y="209550"/>
                  </a:cubicBezTo>
                  <a:cubicBezTo>
                    <a:pt x="162687" y="209550"/>
                    <a:pt x="209550" y="162687"/>
                    <a:pt x="209550" y="104775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5"/>
          <p:cNvGrpSpPr/>
          <p:nvPr/>
        </p:nvGrpSpPr>
        <p:grpSpPr>
          <a:xfrm rot="-5400000">
            <a:off x="365242" y="6624316"/>
            <a:ext cx="627000" cy="543000"/>
            <a:chOff x="0" y="0"/>
            <a:chExt cx="836000" cy="7240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36041" cy="723900"/>
            </a:xfrm>
            <a:custGeom>
              <a:avLst/>
              <a:gdLst/>
              <a:ahLst/>
              <a:cxnLst/>
              <a:rect l="l" t="t" r="r" b="b"/>
              <a:pathLst>
                <a:path w="836041" h="723900">
                  <a:moveTo>
                    <a:pt x="836041" y="361950"/>
                  </a:moveTo>
                  <a:lnTo>
                    <a:pt x="654939" y="0"/>
                  </a:lnTo>
                  <a:lnTo>
                    <a:pt x="180975" y="0"/>
                  </a:lnTo>
                  <a:lnTo>
                    <a:pt x="0" y="361950"/>
                  </a:lnTo>
                  <a:lnTo>
                    <a:pt x="180975" y="723900"/>
                  </a:lnTo>
                  <a:lnTo>
                    <a:pt x="654939" y="723900"/>
                  </a:lnTo>
                  <a:close/>
                </a:path>
              </a:pathLst>
            </a:custGeom>
            <a:solidFill>
              <a:srgbClr val="7CBEFF">
                <a:alpha val="35294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7" name="Group 37"/>
          <p:cNvGrpSpPr/>
          <p:nvPr/>
        </p:nvGrpSpPr>
        <p:grpSpPr>
          <a:xfrm rot="-5400000">
            <a:off x="1525867" y="9441841"/>
            <a:ext cx="646050" cy="562050"/>
            <a:chOff x="0" y="0"/>
            <a:chExt cx="861400" cy="749400"/>
          </a:xfrm>
        </p:grpSpPr>
        <p:sp>
          <p:nvSpPr>
            <p:cNvPr id="38" name="Freeform 38"/>
            <p:cNvSpPr/>
            <p:nvPr/>
          </p:nvSpPr>
          <p:spPr>
            <a:xfrm>
              <a:off x="63" y="0"/>
              <a:ext cx="861441" cy="749427"/>
            </a:xfrm>
            <a:custGeom>
              <a:avLst/>
              <a:gdLst/>
              <a:ahLst/>
              <a:cxnLst/>
              <a:rect l="l" t="t" r="r" b="b"/>
              <a:pathLst>
                <a:path w="861441" h="749427">
                  <a:moveTo>
                    <a:pt x="837248" y="380365"/>
                  </a:moveTo>
                  <a:lnTo>
                    <a:pt x="655511" y="18415"/>
                  </a:lnTo>
                  <a:lnTo>
                    <a:pt x="666814" y="12700"/>
                  </a:lnTo>
                  <a:lnTo>
                    <a:pt x="666814" y="25400"/>
                  </a:lnTo>
                  <a:lnTo>
                    <a:pt x="194501" y="25400"/>
                  </a:lnTo>
                  <a:lnTo>
                    <a:pt x="194501" y="12700"/>
                  </a:lnTo>
                  <a:lnTo>
                    <a:pt x="205804" y="18415"/>
                  </a:lnTo>
                  <a:lnTo>
                    <a:pt x="23940" y="380365"/>
                  </a:lnTo>
                  <a:lnTo>
                    <a:pt x="12637" y="374650"/>
                  </a:lnTo>
                  <a:lnTo>
                    <a:pt x="23940" y="368935"/>
                  </a:lnTo>
                  <a:lnTo>
                    <a:pt x="205804" y="730885"/>
                  </a:lnTo>
                  <a:lnTo>
                    <a:pt x="194501" y="736600"/>
                  </a:lnTo>
                  <a:lnTo>
                    <a:pt x="194501" y="723900"/>
                  </a:lnTo>
                  <a:lnTo>
                    <a:pt x="666814" y="723900"/>
                  </a:lnTo>
                  <a:lnTo>
                    <a:pt x="666814" y="736600"/>
                  </a:lnTo>
                  <a:lnTo>
                    <a:pt x="655511" y="730885"/>
                  </a:lnTo>
                  <a:lnTo>
                    <a:pt x="837375" y="368935"/>
                  </a:lnTo>
                  <a:lnTo>
                    <a:pt x="848678" y="374650"/>
                  </a:lnTo>
                  <a:lnTo>
                    <a:pt x="837375" y="380365"/>
                  </a:lnTo>
                  <a:moveTo>
                    <a:pt x="860108" y="368935"/>
                  </a:moveTo>
                  <a:cubicBezTo>
                    <a:pt x="861886" y="372491"/>
                    <a:pt x="861886" y="376809"/>
                    <a:pt x="860108" y="380365"/>
                  </a:cubicBezTo>
                  <a:lnTo>
                    <a:pt x="678117" y="742442"/>
                  </a:lnTo>
                  <a:cubicBezTo>
                    <a:pt x="675958" y="746760"/>
                    <a:pt x="671513" y="749427"/>
                    <a:pt x="666814" y="749427"/>
                  </a:cubicBezTo>
                  <a:lnTo>
                    <a:pt x="194501" y="749427"/>
                  </a:lnTo>
                  <a:cubicBezTo>
                    <a:pt x="189675" y="749427"/>
                    <a:pt x="185357" y="746760"/>
                    <a:pt x="183198" y="742442"/>
                  </a:cubicBezTo>
                  <a:lnTo>
                    <a:pt x="1334" y="380365"/>
                  </a:lnTo>
                  <a:cubicBezTo>
                    <a:pt x="-444" y="376809"/>
                    <a:pt x="-444" y="372491"/>
                    <a:pt x="1334" y="368935"/>
                  </a:cubicBezTo>
                  <a:lnTo>
                    <a:pt x="183071" y="6985"/>
                  </a:lnTo>
                  <a:cubicBezTo>
                    <a:pt x="185230" y="2667"/>
                    <a:pt x="189675" y="0"/>
                    <a:pt x="194374" y="0"/>
                  </a:cubicBezTo>
                  <a:lnTo>
                    <a:pt x="666814" y="0"/>
                  </a:lnTo>
                  <a:cubicBezTo>
                    <a:pt x="671640" y="0"/>
                    <a:pt x="675958" y="2667"/>
                    <a:pt x="678117" y="6985"/>
                  </a:cubicBezTo>
                  <a:lnTo>
                    <a:pt x="859981" y="368935"/>
                  </a:ln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028700" y="466215"/>
            <a:ext cx="15225150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Capitolul 1 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847526" y="1753319"/>
            <a:ext cx="6791550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20"/>
              </a:lnSpc>
            </a:pPr>
            <a:r>
              <a:rPr lang="en-US" sz="4000" b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Cadrul teoretic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469664" y="3427215"/>
            <a:ext cx="4103550" cy="615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lang="en-US" sz="3500" b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Concepte cheie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092636" y="3387210"/>
            <a:ext cx="5367750" cy="1224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lang="en-US" sz="3500" b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Performanța sistemelor medicale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469664" y="4208991"/>
            <a:ext cx="4103550" cy="3636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2140" lvl="1" indent="-30607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Proces decizional </a:t>
            </a:r>
          </a:p>
          <a:p>
            <a:pPr marL="612140" lvl="1" indent="-30607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Indicatori cheie de performanță și risc </a:t>
            </a:r>
          </a:p>
          <a:p>
            <a:pPr marL="611987" lvl="1" indent="-305994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Business Intelligence</a:t>
            </a:r>
          </a:p>
          <a:p>
            <a:pPr marL="611987" lvl="1" indent="-305994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Performanța sistemelor medicale</a:t>
            </a:r>
          </a:p>
          <a:p>
            <a:pPr algn="l">
              <a:lnSpc>
                <a:spcPts val="4199"/>
              </a:lnSpc>
            </a:pPr>
            <a:endParaRPr lang="en-US" sz="2799">
              <a:solidFill>
                <a:srgbClr val="353552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44" name="AutoShape 44"/>
          <p:cNvSpPr/>
          <p:nvPr/>
        </p:nvSpPr>
        <p:spPr>
          <a:xfrm flipH="1">
            <a:off x="3521439" y="2442929"/>
            <a:ext cx="2721862" cy="1070012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5" name="AutoShape 45"/>
          <p:cNvSpPr/>
          <p:nvPr/>
        </p:nvSpPr>
        <p:spPr>
          <a:xfrm>
            <a:off x="6243301" y="2442929"/>
            <a:ext cx="2533210" cy="1030007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Box 46"/>
          <p:cNvSpPr txBox="1"/>
          <p:nvPr/>
        </p:nvSpPr>
        <p:spPr>
          <a:xfrm>
            <a:off x="11652921" y="4442735"/>
            <a:ext cx="5841234" cy="1224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lang="en-US" sz="3500" b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Finanțarea sistemului medical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2184267" y="5877199"/>
            <a:ext cx="4977651" cy="206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799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Finanțarea direcționează fonduri către zonele vulnerabile, asigurând accesul la servicii eficiente de sănătate.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092636" y="4716900"/>
            <a:ext cx="5351439" cy="565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6"/>
              </a:lnSpc>
            </a:pPr>
            <a:r>
              <a:rPr lang="en-US" sz="3200" b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Evaluarea performanței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243301" y="5358123"/>
            <a:ext cx="5127175" cy="206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799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Monitorizarea rezultatelor prin indicatori care reflectă accesul, calitatea și eficiența serviciilor sanitare.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253459" y="7383292"/>
            <a:ext cx="5117017" cy="565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6"/>
              </a:lnSpc>
            </a:pPr>
            <a:r>
              <a:rPr lang="en-US" sz="3200" b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Digitalizarea sistemului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482885" y="8053022"/>
            <a:ext cx="4658165" cy="1541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799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Tehnologiile digitale transformă datele medicale în decizii manageriale eficiente.</a:t>
            </a:r>
          </a:p>
        </p:txBody>
      </p:sp>
      <p:sp>
        <p:nvSpPr>
          <p:cNvPr id="52" name="AutoShape 52"/>
          <p:cNvSpPr/>
          <p:nvPr/>
        </p:nvSpPr>
        <p:spPr>
          <a:xfrm rot="5369949">
            <a:off x="9328065" y="6591108"/>
            <a:ext cx="5268162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3" name="AutoShape 53"/>
          <p:cNvSpPr/>
          <p:nvPr/>
        </p:nvSpPr>
        <p:spPr>
          <a:xfrm rot="167655">
            <a:off x="11652734" y="3964782"/>
            <a:ext cx="314023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4" name="AutoShape 54"/>
          <p:cNvSpPr/>
          <p:nvPr/>
        </p:nvSpPr>
        <p:spPr>
          <a:xfrm rot="167655">
            <a:off x="11666128" y="9217434"/>
            <a:ext cx="314023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084566" y="8704250"/>
            <a:ext cx="1376888" cy="1194687"/>
          </a:xfrm>
          <a:custGeom>
            <a:avLst/>
            <a:gdLst/>
            <a:ahLst/>
            <a:cxnLst/>
            <a:rect l="l" t="t" r="r" b="b"/>
            <a:pathLst>
              <a:path w="1376888" h="1194687">
                <a:moveTo>
                  <a:pt x="0" y="0"/>
                </a:moveTo>
                <a:lnTo>
                  <a:pt x="1376888" y="0"/>
                </a:lnTo>
                <a:lnTo>
                  <a:pt x="1376888" y="1194687"/>
                </a:lnTo>
                <a:lnTo>
                  <a:pt x="0" y="11946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721349" y="9538800"/>
            <a:ext cx="1339667" cy="1162392"/>
          </a:xfrm>
          <a:custGeom>
            <a:avLst/>
            <a:gdLst/>
            <a:ahLst/>
            <a:cxnLst/>
            <a:rect l="l" t="t" r="r" b="b"/>
            <a:pathLst>
              <a:path w="1339667" h="1162392">
                <a:moveTo>
                  <a:pt x="0" y="0"/>
                </a:moveTo>
                <a:lnTo>
                  <a:pt x="1339667" y="0"/>
                </a:lnTo>
                <a:lnTo>
                  <a:pt x="1339667" y="1162392"/>
                </a:lnTo>
                <a:lnTo>
                  <a:pt x="0" y="1162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061016" y="9967074"/>
            <a:ext cx="1189313" cy="1031935"/>
          </a:xfrm>
          <a:custGeom>
            <a:avLst/>
            <a:gdLst/>
            <a:ahLst/>
            <a:cxnLst/>
            <a:rect l="l" t="t" r="r" b="b"/>
            <a:pathLst>
              <a:path w="1189313" h="1031935">
                <a:moveTo>
                  <a:pt x="0" y="0"/>
                </a:moveTo>
                <a:lnTo>
                  <a:pt x="1189314" y="0"/>
                </a:lnTo>
                <a:lnTo>
                  <a:pt x="1189314" y="1031936"/>
                </a:lnTo>
                <a:lnTo>
                  <a:pt x="0" y="1031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9017343" y="7873187"/>
            <a:ext cx="1766477" cy="1532723"/>
          </a:xfrm>
          <a:custGeom>
            <a:avLst/>
            <a:gdLst/>
            <a:ahLst/>
            <a:cxnLst/>
            <a:rect l="l" t="t" r="r" b="b"/>
            <a:pathLst>
              <a:path w="1766477" h="1532723">
                <a:moveTo>
                  <a:pt x="0" y="0"/>
                </a:moveTo>
                <a:lnTo>
                  <a:pt x="1766478" y="0"/>
                </a:lnTo>
                <a:lnTo>
                  <a:pt x="1766478" y="1532724"/>
                </a:lnTo>
                <a:lnTo>
                  <a:pt x="0" y="15327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8272727" y="8857073"/>
            <a:ext cx="933450" cy="811050"/>
            <a:chOff x="0" y="0"/>
            <a:chExt cx="1244600" cy="1081400"/>
          </a:xfrm>
        </p:grpSpPr>
        <p:sp>
          <p:nvSpPr>
            <p:cNvPr id="7" name="Freeform 7"/>
            <p:cNvSpPr/>
            <p:nvPr/>
          </p:nvSpPr>
          <p:spPr>
            <a:xfrm>
              <a:off x="63" y="0"/>
              <a:ext cx="1244473" cy="1081405"/>
            </a:xfrm>
            <a:custGeom>
              <a:avLst/>
              <a:gdLst/>
              <a:ahLst/>
              <a:cxnLst/>
              <a:rect l="l" t="t" r="r" b="b"/>
              <a:pathLst>
                <a:path w="1244473" h="1081405">
                  <a:moveTo>
                    <a:pt x="1334" y="535051"/>
                  </a:moveTo>
                  <a:lnTo>
                    <a:pt x="266129" y="6985"/>
                  </a:lnTo>
                  <a:cubicBezTo>
                    <a:pt x="268288" y="2667"/>
                    <a:pt x="272733" y="0"/>
                    <a:pt x="277432" y="0"/>
                  </a:cubicBezTo>
                  <a:lnTo>
                    <a:pt x="967042" y="0"/>
                  </a:lnTo>
                  <a:cubicBezTo>
                    <a:pt x="971868" y="0"/>
                    <a:pt x="976186" y="2667"/>
                    <a:pt x="978345" y="6985"/>
                  </a:cubicBezTo>
                  <a:lnTo>
                    <a:pt x="1243140" y="535051"/>
                  </a:lnTo>
                  <a:cubicBezTo>
                    <a:pt x="1244918" y="538607"/>
                    <a:pt x="1244918" y="542798"/>
                    <a:pt x="1243140" y="546481"/>
                  </a:cubicBezTo>
                  <a:lnTo>
                    <a:pt x="978345" y="1074420"/>
                  </a:lnTo>
                  <a:cubicBezTo>
                    <a:pt x="976186" y="1078738"/>
                    <a:pt x="971741" y="1081405"/>
                    <a:pt x="967042" y="1081405"/>
                  </a:cubicBezTo>
                  <a:lnTo>
                    <a:pt x="277432" y="1081405"/>
                  </a:lnTo>
                  <a:cubicBezTo>
                    <a:pt x="272606" y="1081405"/>
                    <a:pt x="268288" y="1078738"/>
                    <a:pt x="266129" y="1074420"/>
                  </a:cubicBezTo>
                  <a:lnTo>
                    <a:pt x="1334" y="546354"/>
                  </a:lnTo>
                  <a:cubicBezTo>
                    <a:pt x="-444" y="542798"/>
                    <a:pt x="-444" y="538607"/>
                    <a:pt x="1334" y="534924"/>
                  </a:cubicBezTo>
                  <a:moveTo>
                    <a:pt x="24067" y="546354"/>
                  </a:moveTo>
                  <a:lnTo>
                    <a:pt x="12637" y="540639"/>
                  </a:lnTo>
                  <a:lnTo>
                    <a:pt x="23940" y="534924"/>
                  </a:lnTo>
                  <a:lnTo>
                    <a:pt x="288862" y="1062990"/>
                  </a:lnTo>
                  <a:lnTo>
                    <a:pt x="277559" y="1068705"/>
                  </a:lnTo>
                  <a:lnTo>
                    <a:pt x="277559" y="1056005"/>
                  </a:lnTo>
                  <a:lnTo>
                    <a:pt x="967042" y="1056005"/>
                  </a:lnTo>
                  <a:lnTo>
                    <a:pt x="967042" y="1068705"/>
                  </a:lnTo>
                  <a:lnTo>
                    <a:pt x="955739" y="1062990"/>
                  </a:lnTo>
                  <a:lnTo>
                    <a:pt x="1220534" y="535051"/>
                  </a:lnTo>
                  <a:lnTo>
                    <a:pt x="1231837" y="540766"/>
                  </a:lnTo>
                  <a:lnTo>
                    <a:pt x="1220534" y="546481"/>
                  </a:lnTo>
                  <a:lnTo>
                    <a:pt x="955612" y="18415"/>
                  </a:lnTo>
                  <a:lnTo>
                    <a:pt x="967042" y="12700"/>
                  </a:lnTo>
                  <a:lnTo>
                    <a:pt x="967042" y="25400"/>
                  </a:lnTo>
                  <a:lnTo>
                    <a:pt x="277432" y="25400"/>
                  </a:lnTo>
                  <a:lnTo>
                    <a:pt x="277432" y="12700"/>
                  </a:lnTo>
                  <a:lnTo>
                    <a:pt x="288735" y="18415"/>
                  </a:lnTo>
                  <a:lnTo>
                    <a:pt x="23940" y="546354"/>
                  </a:lnTo>
                  <a:close/>
                </a:path>
              </a:pathLst>
            </a:custGeom>
            <a:solidFill>
              <a:srgbClr val="AFE0D9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8634926" y="7832050"/>
            <a:ext cx="204600" cy="204600"/>
            <a:chOff x="0" y="0"/>
            <a:chExt cx="272800" cy="27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2796" cy="272796"/>
            </a:xfrm>
            <a:custGeom>
              <a:avLst/>
              <a:gdLst/>
              <a:ahLst/>
              <a:cxnLst/>
              <a:rect l="l" t="t" r="r" b="b"/>
              <a:pathLst>
                <a:path w="272796" h="272796">
                  <a:moveTo>
                    <a:pt x="0" y="136398"/>
                  </a:moveTo>
                  <a:cubicBezTo>
                    <a:pt x="0" y="61087"/>
                    <a:pt x="61087" y="0"/>
                    <a:pt x="136398" y="0"/>
                  </a:cubicBezTo>
                  <a:cubicBezTo>
                    <a:pt x="211709" y="0"/>
                    <a:pt x="272796" y="61087"/>
                    <a:pt x="272796" y="136398"/>
                  </a:cubicBezTo>
                  <a:cubicBezTo>
                    <a:pt x="272796" y="211709"/>
                    <a:pt x="211709" y="272796"/>
                    <a:pt x="136398" y="272796"/>
                  </a:cubicBezTo>
                  <a:cubicBezTo>
                    <a:pt x="61087" y="272796"/>
                    <a:pt x="0" y="211709"/>
                    <a:pt x="0" y="136398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583554" y="9973956"/>
            <a:ext cx="614400" cy="532200"/>
            <a:chOff x="0" y="0"/>
            <a:chExt cx="819200" cy="709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9150" cy="709549"/>
            </a:xfrm>
            <a:custGeom>
              <a:avLst/>
              <a:gdLst/>
              <a:ahLst/>
              <a:cxnLst/>
              <a:rect l="l" t="t" r="r" b="b"/>
              <a:pathLst>
                <a:path w="819150" h="709549">
                  <a:moveTo>
                    <a:pt x="0" y="354838"/>
                  </a:moveTo>
                  <a:lnTo>
                    <a:pt x="177419" y="0"/>
                  </a:lnTo>
                  <a:lnTo>
                    <a:pt x="641858" y="0"/>
                  </a:lnTo>
                  <a:lnTo>
                    <a:pt x="819150" y="354838"/>
                  </a:lnTo>
                  <a:lnTo>
                    <a:pt x="641858" y="709549"/>
                  </a:lnTo>
                  <a:lnTo>
                    <a:pt x="177419" y="709549"/>
                  </a:lnTo>
                  <a:close/>
                </a:path>
              </a:pathLst>
            </a:custGeom>
            <a:solidFill>
              <a:srgbClr val="7CBEFF">
                <a:alpha val="35294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AutoShape 12"/>
          <p:cNvSpPr/>
          <p:nvPr/>
        </p:nvSpPr>
        <p:spPr>
          <a:xfrm rot="200137">
            <a:off x="18709936" y="8639548"/>
            <a:ext cx="327405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18662600" y="8574650"/>
            <a:ext cx="129600" cy="129600"/>
            <a:chOff x="0" y="0"/>
            <a:chExt cx="172800" cy="17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72720" cy="172720"/>
            </a:xfrm>
            <a:custGeom>
              <a:avLst/>
              <a:gdLst/>
              <a:ahLst/>
              <a:cxnLst/>
              <a:rect l="l" t="t" r="r" b="b"/>
              <a:pathLst>
                <a:path w="172720" h="172720">
                  <a:moveTo>
                    <a:pt x="0" y="86360"/>
                  </a:moveTo>
                  <a:cubicBezTo>
                    <a:pt x="0" y="38735"/>
                    <a:pt x="38735" y="0"/>
                    <a:pt x="86360" y="0"/>
                  </a:cubicBezTo>
                  <a:cubicBezTo>
                    <a:pt x="133985" y="0"/>
                    <a:pt x="172720" y="38735"/>
                    <a:pt x="172720" y="86360"/>
                  </a:cubicBezTo>
                  <a:cubicBezTo>
                    <a:pt x="172720" y="133985"/>
                    <a:pt x="133985" y="172720"/>
                    <a:pt x="86360" y="172720"/>
                  </a:cubicBezTo>
                  <a:cubicBezTo>
                    <a:pt x="38735" y="172720"/>
                    <a:pt x="0" y="134112"/>
                    <a:pt x="0" y="86360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8584150" y="6102650"/>
            <a:ext cx="147000" cy="146400"/>
            <a:chOff x="0" y="0"/>
            <a:chExt cx="196000" cy="1952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6088" cy="195326"/>
            </a:xfrm>
            <a:custGeom>
              <a:avLst/>
              <a:gdLst/>
              <a:ahLst/>
              <a:cxnLst/>
              <a:rect l="l" t="t" r="r" b="b"/>
              <a:pathLst>
                <a:path w="196088" h="195326">
                  <a:moveTo>
                    <a:pt x="0" y="97663"/>
                  </a:moveTo>
                  <a:cubicBezTo>
                    <a:pt x="0" y="43688"/>
                    <a:pt x="43815" y="0"/>
                    <a:pt x="98044" y="0"/>
                  </a:cubicBezTo>
                  <a:cubicBezTo>
                    <a:pt x="152273" y="0"/>
                    <a:pt x="196088" y="43688"/>
                    <a:pt x="196088" y="97663"/>
                  </a:cubicBezTo>
                  <a:cubicBezTo>
                    <a:pt x="196088" y="151638"/>
                    <a:pt x="152273" y="195326"/>
                    <a:pt x="98044" y="195326"/>
                  </a:cubicBezTo>
                  <a:cubicBezTo>
                    <a:pt x="43815" y="195326"/>
                    <a:pt x="0" y="151511"/>
                    <a:pt x="0" y="97663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Freeform 17"/>
          <p:cNvSpPr/>
          <p:nvPr/>
        </p:nvSpPr>
        <p:spPr>
          <a:xfrm>
            <a:off x="17389096" y="-361412"/>
            <a:ext cx="1834998" cy="1589342"/>
          </a:xfrm>
          <a:custGeom>
            <a:avLst/>
            <a:gdLst/>
            <a:ahLst/>
            <a:cxnLst/>
            <a:rect l="l" t="t" r="r" b="b"/>
            <a:pathLst>
              <a:path w="1834998" h="1589342">
                <a:moveTo>
                  <a:pt x="0" y="0"/>
                </a:moveTo>
                <a:lnTo>
                  <a:pt x="1834998" y="0"/>
                </a:lnTo>
                <a:lnTo>
                  <a:pt x="1834998" y="1589342"/>
                </a:lnTo>
                <a:lnTo>
                  <a:pt x="0" y="15893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6032155" y="291124"/>
            <a:ext cx="916525" cy="795244"/>
          </a:xfrm>
          <a:custGeom>
            <a:avLst/>
            <a:gdLst/>
            <a:ahLst/>
            <a:cxnLst/>
            <a:rect l="l" t="t" r="r" b="b"/>
            <a:pathLst>
              <a:path w="916525" h="795244">
                <a:moveTo>
                  <a:pt x="0" y="0"/>
                </a:moveTo>
                <a:lnTo>
                  <a:pt x="916525" y="0"/>
                </a:lnTo>
                <a:lnTo>
                  <a:pt x="916525" y="795244"/>
                </a:lnTo>
                <a:lnTo>
                  <a:pt x="0" y="7952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7084566" y="1487002"/>
            <a:ext cx="1189313" cy="1031935"/>
          </a:xfrm>
          <a:custGeom>
            <a:avLst/>
            <a:gdLst/>
            <a:ahLst/>
            <a:cxnLst/>
            <a:rect l="l" t="t" r="r" b="b"/>
            <a:pathLst>
              <a:path w="1189313" h="1031935">
                <a:moveTo>
                  <a:pt x="0" y="0"/>
                </a:moveTo>
                <a:lnTo>
                  <a:pt x="1189313" y="0"/>
                </a:lnTo>
                <a:lnTo>
                  <a:pt x="1189313" y="1031935"/>
                </a:lnTo>
                <a:lnTo>
                  <a:pt x="0" y="10319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17667026" y="1419750"/>
            <a:ext cx="204600" cy="204600"/>
            <a:chOff x="0" y="0"/>
            <a:chExt cx="272800" cy="27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72796" cy="272796"/>
            </a:xfrm>
            <a:custGeom>
              <a:avLst/>
              <a:gdLst/>
              <a:ahLst/>
              <a:cxnLst/>
              <a:rect l="l" t="t" r="r" b="b"/>
              <a:pathLst>
                <a:path w="272796" h="272796">
                  <a:moveTo>
                    <a:pt x="0" y="136398"/>
                  </a:moveTo>
                  <a:cubicBezTo>
                    <a:pt x="0" y="61087"/>
                    <a:pt x="61087" y="0"/>
                    <a:pt x="136398" y="0"/>
                  </a:cubicBezTo>
                  <a:cubicBezTo>
                    <a:pt x="211709" y="0"/>
                    <a:pt x="272796" y="61087"/>
                    <a:pt x="272796" y="136398"/>
                  </a:cubicBezTo>
                  <a:cubicBezTo>
                    <a:pt x="272796" y="211709"/>
                    <a:pt x="211709" y="272796"/>
                    <a:pt x="136398" y="272796"/>
                  </a:cubicBezTo>
                  <a:cubicBezTo>
                    <a:pt x="61087" y="272796"/>
                    <a:pt x="0" y="211709"/>
                    <a:pt x="0" y="136398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6164379" y="-328819"/>
            <a:ext cx="633450" cy="551250"/>
            <a:chOff x="0" y="0"/>
            <a:chExt cx="844600" cy="735000"/>
          </a:xfrm>
        </p:grpSpPr>
        <p:sp>
          <p:nvSpPr>
            <p:cNvPr id="23" name="Freeform 23"/>
            <p:cNvSpPr/>
            <p:nvPr/>
          </p:nvSpPr>
          <p:spPr>
            <a:xfrm>
              <a:off x="63" y="0"/>
              <a:ext cx="844550" cy="734949"/>
            </a:xfrm>
            <a:custGeom>
              <a:avLst/>
              <a:gdLst/>
              <a:ahLst/>
              <a:cxnLst/>
              <a:rect l="l" t="t" r="r" b="b"/>
              <a:pathLst>
                <a:path w="844550" h="734949">
                  <a:moveTo>
                    <a:pt x="1334" y="361823"/>
                  </a:moveTo>
                  <a:lnTo>
                    <a:pt x="179515" y="6985"/>
                  </a:lnTo>
                  <a:cubicBezTo>
                    <a:pt x="181674" y="2667"/>
                    <a:pt x="186119" y="0"/>
                    <a:pt x="190818" y="0"/>
                  </a:cubicBezTo>
                  <a:lnTo>
                    <a:pt x="653606" y="0"/>
                  </a:lnTo>
                  <a:cubicBezTo>
                    <a:pt x="658432" y="0"/>
                    <a:pt x="662750" y="2667"/>
                    <a:pt x="664909" y="6985"/>
                  </a:cubicBezTo>
                  <a:lnTo>
                    <a:pt x="843217" y="361823"/>
                  </a:lnTo>
                  <a:cubicBezTo>
                    <a:pt x="844995" y="365379"/>
                    <a:pt x="844995" y="369697"/>
                    <a:pt x="843217" y="373253"/>
                  </a:cubicBezTo>
                  <a:lnTo>
                    <a:pt x="664909" y="727964"/>
                  </a:lnTo>
                  <a:cubicBezTo>
                    <a:pt x="662750" y="732282"/>
                    <a:pt x="658305" y="734949"/>
                    <a:pt x="653606" y="734949"/>
                  </a:cubicBezTo>
                  <a:lnTo>
                    <a:pt x="190818" y="734949"/>
                  </a:lnTo>
                  <a:cubicBezTo>
                    <a:pt x="185992" y="734949"/>
                    <a:pt x="181674" y="732282"/>
                    <a:pt x="179515" y="727964"/>
                  </a:cubicBezTo>
                  <a:lnTo>
                    <a:pt x="1334" y="373253"/>
                  </a:lnTo>
                  <a:cubicBezTo>
                    <a:pt x="-444" y="369697"/>
                    <a:pt x="-444" y="365379"/>
                    <a:pt x="1334" y="361823"/>
                  </a:cubicBezTo>
                  <a:moveTo>
                    <a:pt x="24067" y="373253"/>
                  </a:moveTo>
                  <a:lnTo>
                    <a:pt x="12637" y="367538"/>
                  </a:lnTo>
                  <a:lnTo>
                    <a:pt x="23940" y="361823"/>
                  </a:lnTo>
                  <a:lnTo>
                    <a:pt x="202248" y="716661"/>
                  </a:lnTo>
                  <a:lnTo>
                    <a:pt x="190945" y="722376"/>
                  </a:lnTo>
                  <a:lnTo>
                    <a:pt x="190945" y="709676"/>
                  </a:lnTo>
                  <a:lnTo>
                    <a:pt x="653606" y="709676"/>
                  </a:lnTo>
                  <a:lnTo>
                    <a:pt x="653606" y="722376"/>
                  </a:lnTo>
                  <a:lnTo>
                    <a:pt x="642303" y="716661"/>
                  </a:lnTo>
                  <a:lnTo>
                    <a:pt x="820484" y="361823"/>
                  </a:lnTo>
                  <a:lnTo>
                    <a:pt x="831787" y="367538"/>
                  </a:lnTo>
                  <a:lnTo>
                    <a:pt x="820484" y="373253"/>
                  </a:lnTo>
                  <a:lnTo>
                    <a:pt x="642303" y="18415"/>
                  </a:lnTo>
                  <a:lnTo>
                    <a:pt x="653606" y="12700"/>
                  </a:lnTo>
                  <a:lnTo>
                    <a:pt x="653606" y="25400"/>
                  </a:lnTo>
                  <a:lnTo>
                    <a:pt x="190818" y="25400"/>
                  </a:lnTo>
                  <a:lnTo>
                    <a:pt x="190818" y="12700"/>
                  </a:lnTo>
                  <a:lnTo>
                    <a:pt x="202121" y="18415"/>
                  </a:lnTo>
                  <a:lnTo>
                    <a:pt x="23940" y="373253"/>
                  </a:lnTo>
                  <a:close/>
                </a:path>
              </a:pathLst>
            </a:custGeom>
            <a:solidFill>
              <a:srgbClr val="7CBE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" name="AutoShape 24"/>
          <p:cNvSpPr/>
          <p:nvPr/>
        </p:nvSpPr>
        <p:spPr>
          <a:xfrm rot="79323">
            <a:off x="16032045" y="2025092"/>
            <a:ext cx="825670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5" name="AutoShape 25"/>
          <p:cNvSpPr/>
          <p:nvPr/>
        </p:nvSpPr>
        <p:spPr>
          <a:xfrm rot="199407">
            <a:off x="16932017" y="807092"/>
            <a:ext cx="328603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6" name="AutoShape 26"/>
          <p:cNvSpPr/>
          <p:nvPr/>
        </p:nvSpPr>
        <p:spPr>
          <a:xfrm rot="6766566">
            <a:off x="17102209" y="620760"/>
            <a:ext cx="427375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7" name="AutoShape 27"/>
          <p:cNvSpPr/>
          <p:nvPr/>
        </p:nvSpPr>
        <p:spPr>
          <a:xfrm>
            <a:off x="17962229" y="2521349"/>
            <a:ext cx="471450" cy="80265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8" name="Group 28"/>
          <p:cNvGrpSpPr/>
          <p:nvPr/>
        </p:nvGrpSpPr>
        <p:grpSpPr>
          <a:xfrm>
            <a:off x="18273879" y="3166799"/>
            <a:ext cx="157200" cy="157200"/>
            <a:chOff x="0" y="0"/>
            <a:chExt cx="209600" cy="2096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0" y="104775"/>
                  </a:moveTo>
                  <a:cubicBezTo>
                    <a:pt x="0" y="46863"/>
                    <a:pt x="46863" y="0"/>
                    <a:pt x="104775" y="0"/>
                  </a:cubicBezTo>
                  <a:cubicBezTo>
                    <a:pt x="162687" y="0"/>
                    <a:pt x="209550" y="46863"/>
                    <a:pt x="209550" y="104775"/>
                  </a:cubicBezTo>
                  <a:cubicBezTo>
                    <a:pt x="209550" y="162687"/>
                    <a:pt x="162687" y="209550"/>
                    <a:pt x="104775" y="209550"/>
                  </a:cubicBezTo>
                  <a:cubicBezTo>
                    <a:pt x="46863" y="209550"/>
                    <a:pt x="0" y="162687"/>
                    <a:pt x="0" y="104775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" name="AutoShape 30"/>
          <p:cNvSpPr/>
          <p:nvPr/>
        </p:nvSpPr>
        <p:spPr>
          <a:xfrm rot="7221008">
            <a:off x="18537974" y="-839010"/>
            <a:ext cx="1128971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1" name="Group 31"/>
          <p:cNvGrpSpPr/>
          <p:nvPr/>
        </p:nvGrpSpPr>
        <p:grpSpPr>
          <a:xfrm>
            <a:off x="19299700" y="-1387150"/>
            <a:ext cx="157200" cy="157200"/>
            <a:chOff x="0" y="0"/>
            <a:chExt cx="209600" cy="2096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0" y="104775"/>
                  </a:moveTo>
                  <a:cubicBezTo>
                    <a:pt x="0" y="46863"/>
                    <a:pt x="46863" y="0"/>
                    <a:pt x="104775" y="0"/>
                  </a:cubicBezTo>
                  <a:cubicBezTo>
                    <a:pt x="162687" y="0"/>
                    <a:pt x="209550" y="46863"/>
                    <a:pt x="209550" y="104775"/>
                  </a:cubicBezTo>
                  <a:cubicBezTo>
                    <a:pt x="209550" y="162687"/>
                    <a:pt x="162687" y="209550"/>
                    <a:pt x="104775" y="209550"/>
                  </a:cubicBezTo>
                  <a:cubicBezTo>
                    <a:pt x="46863" y="209550"/>
                    <a:pt x="0" y="162687"/>
                    <a:pt x="0" y="104775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" name="Freeform 33"/>
          <p:cNvSpPr/>
          <p:nvPr/>
        </p:nvSpPr>
        <p:spPr>
          <a:xfrm>
            <a:off x="72094" y="8353202"/>
            <a:ext cx="1175894" cy="1818792"/>
          </a:xfrm>
          <a:custGeom>
            <a:avLst/>
            <a:gdLst/>
            <a:ahLst/>
            <a:cxnLst/>
            <a:rect l="l" t="t" r="r" b="b"/>
            <a:pathLst>
              <a:path w="1175894" h="1818792">
                <a:moveTo>
                  <a:pt x="0" y="0"/>
                </a:moveTo>
                <a:lnTo>
                  <a:pt x="1175895" y="0"/>
                </a:lnTo>
                <a:lnTo>
                  <a:pt x="1175895" y="1818792"/>
                </a:lnTo>
                <a:lnTo>
                  <a:pt x="0" y="18187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TextBox 34"/>
          <p:cNvSpPr txBox="1"/>
          <p:nvPr/>
        </p:nvSpPr>
        <p:spPr>
          <a:xfrm>
            <a:off x="602272" y="484059"/>
            <a:ext cx="7917279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1" dirty="0" err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Literatura</a:t>
            </a:r>
            <a:r>
              <a:rPr lang="en-US" sz="5000" b="1" dirty="0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 de </a:t>
            </a:r>
            <a:r>
              <a:rPr lang="en-US" sz="5000" b="1" dirty="0" err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specialitate</a:t>
            </a:r>
            <a:endParaRPr lang="en-US" sz="5000" b="1" dirty="0">
              <a:solidFill>
                <a:srgbClr val="353552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graphicFrame>
        <p:nvGraphicFramePr>
          <p:cNvPr id="35" name="Table 35"/>
          <p:cNvGraphicFramePr>
            <a:graphicFrameLocks noGrp="1"/>
          </p:cNvGraphicFramePr>
          <p:nvPr/>
        </p:nvGraphicFramePr>
        <p:xfrm>
          <a:off x="453552" y="2039379"/>
          <a:ext cx="10788243" cy="6065498"/>
        </p:xfrm>
        <a:graphic>
          <a:graphicData uri="http://schemas.openxmlformats.org/drawingml/2006/table">
            <a:tbl>
              <a:tblPr/>
              <a:tblGrid>
                <a:gridCol w="38206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676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3640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399" b="1">
                          <a:solidFill>
                            <a:srgbClr val="353552"/>
                          </a:solidFill>
                          <a:latin typeface="Catamaran Bold"/>
                          <a:ea typeface="Catamaran Bold"/>
                          <a:cs typeface="Catamaran Bold"/>
                          <a:sym typeface="Catamaran Bold"/>
                        </a:rPr>
                        <a:t>Direcție de cercetare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C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399" b="1">
                          <a:solidFill>
                            <a:srgbClr val="353552"/>
                          </a:solidFill>
                          <a:latin typeface="Catamaran Bold"/>
                          <a:ea typeface="Catamaran Bold"/>
                          <a:cs typeface="Catamaran Bold"/>
                          <a:sym typeface="Catamaran Bold"/>
                        </a:rPr>
                        <a:t>Aspecte evidențiate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8697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353552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Monitorizarea performanței sistemului medical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C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59"/>
                        </a:lnSpc>
                        <a:defRPr/>
                      </a:pPr>
                      <a:r>
                        <a:rPr lang="en-US" sz="2299">
                          <a:solidFill>
                            <a:srgbClr val="353552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Analiza și prognoza indicatorilor de performanță, precum durata spitalizării, gradul de ocupare a paturilor, costurile și complexitatea cazurilor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8478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353552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Evaluarea eficienței sistemului medical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C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353552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Compararea eficienței spitalelor și sistemelor de sănătate prin modele DEA și indicele Malmquist.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8258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353552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Aplicarea metodelor statistice pentru analiza sănătății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C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353552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Identificarea tiparelor și a factorilor care influențează performanța și rezultatele prin Analiza Cluster, Analiza Factorială Explicativă, Analiza Corelației Canonice.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16425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353552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Business Intelligence în sănătate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C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353552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Dezvoltarea tablourilor de bord și a sistemelor suport pentru fundamentarea deciziilor manageriale.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36" name="Group 36"/>
          <p:cNvGrpSpPr/>
          <p:nvPr/>
        </p:nvGrpSpPr>
        <p:grpSpPr>
          <a:xfrm>
            <a:off x="12021119" y="5553033"/>
            <a:ext cx="803383" cy="696017"/>
            <a:chOff x="0" y="0"/>
            <a:chExt cx="1550400" cy="13432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550416" cy="1343152"/>
            </a:xfrm>
            <a:custGeom>
              <a:avLst/>
              <a:gdLst/>
              <a:ahLst/>
              <a:cxnLst/>
              <a:rect l="l" t="t" r="r" b="b"/>
              <a:pathLst>
                <a:path w="1550416" h="1343152">
                  <a:moveTo>
                    <a:pt x="0" y="671576"/>
                  </a:moveTo>
                  <a:lnTo>
                    <a:pt x="335788" y="0"/>
                  </a:lnTo>
                  <a:lnTo>
                    <a:pt x="1214628" y="0"/>
                  </a:lnTo>
                  <a:lnTo>
                    <a:pt x="1550416" y="671576"/>
                  </a:lnTo>
                  <a:lnTo>
                    <a:pt x="1214628" y="1343152"/>
                  </a:lnTo>
                  <a:lnTo>
                    <a:pt x="335788" y="1343152"/>
                  </a:lnTo>
                  <a:close/>
                </a:path>
              </a:pathLst>
            </a:custGeom>
            <a:solidFill>
              <a:srgbClr val="7CBE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" name="Freeform 38"/>
          <p:cNvSpPr/>
          <p:nvPr/>
        </p:nvSpPr>
        <p:spPr>
          <a:xfrm>
            <a:off x="12110852" y="5553033"/>
            <a:ext cx="623917" cy="622611"/>
          </a:xfrm>
          <a:custGeom>
            <a:avLst/>
            <a:gdLst/>
            <a:ahLst/>
            <a:cxnLst/>
            <a:rect l="l" t="t" r="r" b="b"/>
            <a:pathLst>
              <a:path w="623917" h="622611">
                <a:moveTo>
                  <a:pt x="0" y="0"/>
                </a:moveTo>
                <a:lnTo>
                  <a:pt x="623917" y="0"/>
                </a:lnTo>
                <a:lnTo>
                  <a:pt x="623917" y="622611"/>
                </a:lnTo>
                <a:lnTo>
                  <a:pt x="0" y="6226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9" name="TextBox 39"/>
          <p:cNvSpPr txBox="1"/>
          <p:nvPr/>
        </p:nvSpPr>
        <p:spPr>
          <a:xfrm>
            <a:off x="12899884" y="5543771"/>
            <a:ext cx="4089797" cy="632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67"/>
              </a:lnSpc>
              <a:spcBef>
                <a:spcPct val="0"/>
              </a:spcBef>
            </a:pPr>
            <a:r>
              <a:rPr lang="en-US" sz="3600" b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Contribuția lucrării</a:t>
            </a:r>
          </a:p>
        </p:txBody>
      </p:sp>
      <p:grpSp>
        <p:nvGrpSpPr>
          <p:cNvPr id="40" name="Group 40"/>
          <p:cNvGrpSpPr>
            <a:grpSpLocks noChangeAspect="1"/>
          </p:cNvGrpSpPr>
          <p:nvPr/>
        </p:nvGrpSpPr>
        <p:grpSpPr>
          <a:xfrm>
            <a:off x="13009887" y="893634"/>
            <a:ext cx="3869791" cy="3869791"/>
            <a:chOff x="0" y="0"/>
            <a:chExt cx="6350000" cy="6350000"/>
          </a:xfrm>
        </p:grpSpPr>
        <p:sp>
          <p:nvSpPr>
            <p:cNvPr id="41" name="Freeform 41"/>
            <p:cNvSpPr/>
            <p:nvPr/>
          </p:nvSpPr>
          <p:spPr>
            <a:xfrm>
              <a:off x="655320" y="655320"/>
              <a:ext cx="5039360" cy="5039360"/>
            </a:xfrm>
            <a:custGeom>
              <a:avLst/>
              <a:gdLst/>
              <a:ahLst/>
              <a:cxnLst/>
              <a:rect l="l" t="t" r="r" b="b"/>
              <a:pathLst>
                <a:path w="5039360" h="5039360">
                  <a:moveTo>
                    <a:pt x="2519680" y="0"/>
                  </a:moveTo>
                  <a:cubicBezTo>
                    <a:pt x="1127760" y="0"/>
                    <a:pt x="0" y="1127760"/>
                    <a:pt x="0" y="2519680"/>
                  </a:cubicBezTo>
                  <a:cubicBezTo>
                    <a:pt x="0" y="3911600"/>
                    <a:pt x="1127760" y="5039360"/>
                    <a:pt x="2519680" y="5039360"/>
                  </a:cubicBezTo>
                  <a:cubicBezTo>
                    <a:pt x="3911600" y="5039360"/>
                    <a:pt x="5039360" y="3911600"/>
                    <a:pt x="5039360" y="2519680"/>
                  </a:cubicBezTo>
                  <a:cubicBezTo>
                    <a:pt x="5039360" y="1127760"/>
                    <a:pt x="3911600" y="0"/>
                    <a:pt x="2519680" y="0"/>
                  </a:cubicBezTo>
                  <a:close/>
                </a:path>
              </a:pathLst>
            </a:custGeom>
            <a:blipFill>
              <a:blip r:embed="rId12"/>
              <a:stretch>
                <a:fillRect l="-4986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42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3670" y="0"/>
                    <a:pt x="0" y="1424940"/>
                    <a:pt x="0" y="3175000"/>
                  </a:cubicBezTo>
                  <a:cubicBezTo>
                    <a:pt x="0" y="4925060"/>
                    <a:pt x="1423670" y="6350000"/>
                    <a:pt x="3175000" y="6350000"/>
                  </a:cubicBezTo>
                  <a:cubicBezTo>
                    <a:pt x="4925060" y="6350000"/>
                    <a:pt x="6350000" y="4926330"/>
                    <a:pt x="6350000" y="3175000"/>
                  </a:cubicBezTo>
                  <a:cubicBezTo>
                    <a:pt x="6350000" y="1424940"/>
                    <a:pt x="4926330" y="0"/>
                    <a:pt x="3175000" y="0"/>
                  </a:cubicBezTo>
                  <a:close/>
                  <a:moveTo>
                    <a:pt x="3175000" y="5833110"/>
                  </a:moveTo>
                  <a:cubicBezTo>
                    <a:pt x="1709420" y="5833110"/>
                    <a:pt x="516890" y="4640580"/>
                    <a:pt x="516890" y="3175000"/>
                  </a:cubicBezTo>
                  <a:cubicBezTo>
                    <a:pt x="516890" y="1709420"/>
                    <a:pt x="1709420" y="516890"/>
                    <a:pt x="3175000" y="516890"/>
                  </a:cubicBezTo>
                  <a:cubicBezTo>
                    <a:pt x="4640580" y="516890"/>
                    <a:pt x="5833110" y="1709420"/>
                    <a:pt x="5833110" y="3175000"/>
                  </a:cubicBezTo>
                  <a:cubicBezTo>
                    <a:pt x="5833110" y="4640580"/>
                    <a:pt x="4640580" y="5833110"/>
                    <a:pt x="3175000" y="5833110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2596198" y="6239525"/>
            <a:ext cx="4802423" cy="3112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799" spc="13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Integrarea metodelor statistice de analiza datelor și a unui model de analiza eficienței într-un sistem decizional integrat de Business Intelligence.</a:t>
            </a:r>
          </a:p>
          <a:p>
            <a:pPr algn="ctr">
              <a:lnSpc>
                <a:spcPts val="4199"/>
              </a:lnSpc>
            </a:pPr>
            <a:endParaRPr lang="en-US" sz="2799" spc="13">
              <a:solidFill>
                <a:srgbClr val="353552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801525" y="-634903"/>
            <a:ext cx="1650450" cy="1432050"/>
          </a:xfrm>
          <a:custGeom>
            <a:avLst/>
            <a:gdLst/>
            <a:ahLst/>
            <a:cxnLst/>
            <a:rect l="l" t="t" r="r" b="b"/>
            <a:pathLst>
              <a:path w="1650450" h="1432050">
                <a:moveTo>
                  <a:pt x="0" y="0"/>
                </a:moveTo>
                <a:lnTo>
                  <a:pt x="1650450" y="0"/>
                </a:lnTo>
                <a:lnTo>
                  <a:pt x="1650450" y="1432050"/>
                </a:lnTo>
                <a:lnTo>
                  <a:pt x="0" y="14320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374304" y="-377852"/>
            <a:ext cx="1057939" cy="917945"/>
          </a:xfrm>
          <a:custGeom>
            <a:avLst/>
            <a:gdLst/>
            <a:ahLst/>
            <a:cxnLst/>
            <a:rect l="l" t="t" r="r" b="b"/>
            <a:pathLst>
              <a:path w="1057939" h="917945">
                <a:moveTo>
                  <a:pt x="0" y="0"/>
                </a:moveTo>
                <a:lnTo>
                  <a:pt x="1057940" y="0"/>
                </a:lnTo>
                <a:lnTo>
                  <a:pt x="1057940" y="917946"/>
                </a:lnTo>
                <a:lnTo>
                  <a:pt x="0" y="9179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rot="161881">
            <a:off x="15416389" y="81122"/>
            <a:ext cx="404699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2223015" y="-44879"/>
            <a:ext cx="1111578" cy="964486"/>
          </a:xfrm>
          <a:custGeom>
            <a:avLst/>
            <a:gdLst/>
            <a:ahLst/>
            <a:cxnLst/>
            <a:rect l="l" t="t" r="r" b="b"/>
            <a:pathLst>
              <a:path w="1111578" h="964486">
                <a:moveTo>
                  <a:pt x="0" y="0"/>
                </a:moveTo>
                <a:lnTo>
                  <a:pt x="1111578" y="0"/>
                </a:lnTo>
                <a:lnTo>
                  <a:pt x="1111578" y="964486"/>
                </a:lnTo>
                <a:lnTo>
                  <a:pt x="0" y="9644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rot="9641332">
            <a:off x="13286546" y="259322"/>
            <a:ext cx="1135327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18416">
            <a:off x="8682879" y="437364"/>
            <a:ext cx="3556101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8208927" y="222317"/>
            <a:ext cx="493050" cy="430050"/>
            <a:chOff x="0" y="0"/>
            <a:chExt cx="657400" cy="573400"/>
          </a:xfrm>
        </p:grpSpPr>
        <p:sp>
          <p:nvSpPr>
            <p:cNvPr id="9" name="Freeform 9"/>
            <p:cNvSpPr/>
            <p:nvPr/>
          </p:nvSpPr>
          <p:spPr>
            <a:xfrm>
              <a:off x="63" y="0"/>
              <a:ext cx="657352" cy="573405"/>
            </a:xfrm>
            <a:custGeom>
              <a:avLst/>
              <a:gdLst/>
              <a:ahLst/>
              <a:cxnLst/>
              <a:rect l="l" t="t" r="r" b="b"/>
              <a:pathLst>
                <a:path w="657352" h="573405">
                  <a:moveTo>
                    <a:pt x="1334" y="281051"/>
                  </a:moveTo>
                  <a:lnTo>
                    <a:pt x="139129" y="6985"/>
                  </a:lnTo>
                  <a:cubicBezTo>
                    <a:pt x="141288" y="2667"/>
                    <a:pt x="145733" y="0"/>
                    <a:pt x="150432" y="0"/>
                  </a:cubicBezTo>
                  <a:lnTo>
                    <a:pt x="506794" y="0"/>
                  </a:lnTo>
                  <a:cubicBezTo>
                    <a:pt x="511620" y="0"/>
                    <a:pt x="515938" y="2667"/>
                    <a:pt x="518097" y="6985"/>
                  </a:cubicBezTo>
                  <a:lnTo>
                    <a:pt x="656019" y="281051"/>
                  </a:lnTo>
                  <a:cubicBezTo>
                    <a:pt x="657797" y="284607"/>
                    <a:pt x="657797" y="288925"/>
                    <a:pt x="656019" y="292481"/>
                  </a:cubicBezTo>
                  <a:lnTo>
                    <a:pt x="518224" y="566420"/>
                  </a:lnTo>
                  <a:cubicBezTo>
                    <a:pt x="516065" y="570738"/>
                    <a:pt x="511620" y="573405"/>
                    <a:pt x="506921" y="573405"/>
                  </a:cubicBezTo>
                  <a:lnTo>
                    <a:pt x="150432" y="573405"/>
                  </a:lnTo>
                  <a:cubicBezTo>
                    <a:pt x="145606" y="573405"/>
                    <a:pt x="141288" y="570738"/>
                    <a:pt x="139129" y="566420"/>
                  </a:cubicBezTo>
                  <a:lnTo>
                    <a:pt x="1334" y="292354"/>
                  </a:lnTo>
                  <a:cubicBezTo>
                    <a:pt x="-444" y="288798"/>
                    <a:pt x="-444" y="284480"/>
                    <a:pt x="1334" y="280924"/>
                  </a:cubicBezTo>
                  <a:moveTo>
                    <a:pt x="24067" y="292354"/>
                  </a:moveTo>
                  <a:lnTo>
                    <a:pt x="12637" y="286639"/>
                  </a:lnTo>
                  <a:lnTo>
                    <a:pt x="23940" y="280924"/>
                  </a:lnTo>
                  <a:lnTo>
                    <a:pt x="161735" y="554990"/>
                  </a:lnTo>
                  <a:lnTo>
                    <a:pt x="150432" y="560705"/>
                  </a:lnTo>
                  <a:lnTo>
                    <a:pt x="150432" y="548005"/>
                  </a:lnTo>
                  <a:lnTo>
                    <a:pt x="506794" y="548005"/>
                  </a:lnTo>
                  <a:lnTo>
                    <a:pt x="506794" y="560705"/>
                  </a:lnTo>
                  <a:lnTo>
                    <a:pt x="495491" y="554990"/>
                  </a:lnTo>
                  <a:lnTo>
                    <a:pt x="633286" y="281051"/>
                  </a:lnTo>
                  <a:lnTo>
                    <a:pt x="644589" y="286766"/>
                  </a:lnTo>
                  <a:lnTo>
                    <a:pt x="633286" y="292481"/>
                  </a:lnTo>
                  <a:lnTo>
                    <a:pt x="495491" y="18415"/>
                  </a:lnTo>
                  <a:lnTo>
                    <a:pt x="506794" y="12700"/>
                  </a:lnTo>
                  <a:lnTo>
                    <a:pt x="506794" y="25400"/>
                  </a:lnTo>
                  <a:lnTo>
                    <a:pt x="150432" y="25400"/>
                  </a:lnTo>
                  <a:lnTo>
                    <a:pt x="150432" y="12700"/>
                  </a:lnTo>
                  <a:lnTo>
                    <a:pt x="161735" y="18415"/>
                  </a:lnTo>
                  <a:lnTo>
                    <a:pt x="23940" y="292354"/>
                  </a:lnTo>
                  <a:close/>
                </a:path>
              </a:pathLst>
            </a:custGeom>
            <a:solidFill>
              <a:srgbClr val="6875A7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AutoShape 10"/>
          <p:cNvSpPr/>
          <p:nvPr/>
        </p:nvSpPr>
        <p:spPr>
          <a:xfrm rot="2485305">
            <a:off x="16930889" y="1171622"/>
            <a:ext cx="1189622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 rot="5449264">
            <a:off x="17234122" y="2319582"/>
            <a:ext cx="1454999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17847650" y="1438050"/>
            <a:ext cx="229200" cy="229200"/>
            <a:chOff x="0" y="0"/>
            <a:chExt cx="305600" cy="3056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05562" cy="305562"/>
            </a:xfrm>
            <a:custGeom>
              <a:avLst/>
              <a:gdLst/>
              <a:ahLst/>
              <a:cxnLst/>
              <a:rect l="l" t="t" r="r" b="b"/>
              <a:pathLst>
                <a:path w="305562" h="305562">
                  <a:moveTo>
                    <a:pt x="0" y="152781"/>
                  </a:moveTo>
                  <a:cubicBezTo>
                    <a:pt x="0" y="68453"/>
                    <a:pt x="68453" y="0"/>
                    <a:pt x="152781" y="0"/>
                  </a:cubicBezTo>
                  <a:cubicBezTo>
                    <a:pt x="237109" y="0"/>
                    <a:pt x="305562" y="68453"/>
                    <a:pt x="305562" y="152781"/>
                  </a:cubicBezTo>
                  <a:cubicBezTo>
                    <a:pt x="305562" y="237109"/>
                    <a:pt x="237236" y="305562"/>
                    <a:pt x="152781" y="305562"/>
                  </a:cubicBezTo>
                  <a:cubicBezTo>
                    <a:pt x="68326" y="305562"/>
                    <a:pt x="0" y="237236"/>
                    <a:pt x="0" y="152781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 rot="5400000">
            <a:off x="17713897" y="3060057"/>
            <a:ext cx="493650" cy="429450"/>
            <a:chOff x="0" y="0"/>
            <a:chExt cx="658200" cy="572600"/>
          </a:xfrm>
        </p:grpSpPr>
        <p:sp>
          <p:nvSpPr>
            <p:cNvPr id="15" name="Freeform 15"/>
            <p:cNvSpPr/>
            <p:nvPr/>
          </p:nvSpPr>
          <p:spPr>
            <a:xfrm>
              <a:off x="63" y="0"/>
              <a:ext cx="658114" cy="572643"/>
            </a:xfrm>
            <a:custGeom>
              <a:avLst/>
              <a:gdLst/>
              <a:ahLst/>
              <a:cxnLst/>
              <a:rect l="l" t="t" r="r" b="b"/>
              <a:pathLst>
                <a:path w="658114" h="572643">
                  <a:moveTo>
                    <a:pt x="1334" y="280543"/>
                  </a:moveTo>
                  <a:lnTo>
                    <a:pt x="138875" y="6985"/>
                  </a:lnTo>
                  <a:cubicBezTo>
                    <a:pt x="141034" y="2667"/>
                    <a:pt x="145479" y="0"/>
                    <a:pt x="150178" y="0"/>
                  </a:cubicBezTo>
                  <a:lnTo>
                    <a:pt x="507810" y="0"/>
                  </a:lnTo>
                  <a:cubicBezTo>
                    <a:pt x="512636" y="0"/>
                    <a:pt x="516954" y="2667"/>
                    <a:pt x="519113" y="6985"/>
                  </a:cubicBezTo>
                  <a:lnTo>
                    <a:pt x="656781" y="280543"/>
                  </a:lnTo>
                  <a:cubicBezTo>
                    <a:pt x="658559" y="284099"/>
                    <a:pt x="658559" y="288417"/>
                    <a:pt x="656781" y="291973"/>
                  </a:cubicBezTo>
                  <a:lnTo>
                    <a:pt x="519113" y="565658"/>
                  </a:lnTo>
                  <a:cubicBezTo>
                    <a:pt x="516954" y="569976"/>
                    <a:pt x="512509" y="572643"/>
                    <a:pt x="507810" y="572643"/>
                  </a:cubicBezTo>
                  <a:lnTo>
                    <a:pt x="150305" y="572643"/>
                  </a:lnTo>
                  <a:cubicBezTo>
                    <a:pt x="145479" y="572643"/>
                    <a:pt x="141161" y="569976"/>
                    <a:pt x="139002" y="565658"/>
                  </a:cubicBezTo>
                  <a:lnTo>
                    <a:pt x="1334" y="291973"/>
                  </a:lnTo>
                  <a:cubicBezTo>
                    <a:pt x="-444" y="288417"/>
                    <a:pt x="-444" y="284099"/>
                    <a:pt x="1334" y="280543"/>
                  </a:cubicBezTo>
                  <a:moveTo>
                    <a:pt x="24067" y="291973"/>
                  </a:moveTo>
                  <a:lnTo>
                    <a:pt x="12637" y="286258"/>
                  </a:lnTo>
                  <a:lnTo>
                    <a:pt x="23940" y="280543"/>
                  </a:lnTo>
                  <a:lnTo>
                    <a:pt x="161608" y="554228"/>
                  </a:lnTo>
                  <a:lnTo>
                    <a:pt x="150305" y="559943"/>
                  </a:lnTo>
                  <a:lnTo>
                    <a:pt x="150305" y="547243"/>
                  </a:lnTo>
                  <a:lnTo>
                    <a:pt x="507810" y="547243"/>
                  </a:lnTo>
                  <a:lnTo>
                    <a:pt x="507810" y="559943"/>
                  </a:lnTo>
                  <a:lnTo>
                    <a:pt x="496507" y="554228"/>
                  </a:lnTo>
                  <a:lnTo>
                    <a:pt x="634048" y="280543"/>
                  </a:lnTo>
                  <a:lnTo>
                    <a:pt x="645351" y="286258"/>
                  </a:lnTo>
                  <a:lnTo>
                    <a:pt x="634048" y="291973"/>
                  </a:lnTo>
                  <a:lnTo>
                    <a:pt x="496507" y="18415"/>
                  </a:lnTo>
                  <a:lnTo>
                    <a:pt x="507810" y="12700"/>
                  </a:lnTo>
                  <a:lnTo>
                    <a:pt x="507810" y="25400"/>
                  </a:lnTo>
                  <a:lnTo>
                    <a:pt x="150305" y="25400"/>
                  </a:lnTo>
                  <a:lnTo>
                    <a:pt x="150305" y="12700"/>
                  </a:lnTo>
                  <a:lnTo>
                    <a:pt x="161608" y="18415"/>
                  </a:lnTo>
                  <a:lnTo>
                    <a:pt x="23940" y="291973"/>
                  </a:lnTo>
                  <a:close/>
                </a:path>
              </a:pathLst>
            </a:custGeom>
            <a:solidFill>
              <a:srgbClr val="6875A7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Freeform 16"/>
          <p:cNvSpPr/>
          <p:nvPr/>
        </p:nvSpPr>
        <p:spPr>
          <a:xfrm>
            <a:off x="1359269" y="9341137"/>
            <a:ext cx="1766477" cy="1532723"/>
          </a:xfrm>
          <a:custGeom>
            <a:avLst/>
            <a:gdLst/>
            <a:ahLst/>
            <a:cxnLst/>
            <a:rect l="l" t="t" r="r" b="b"/>
            <a:pathLst>
              <a:path w="1766477" h="1532723">
                <a:moveTo>
                  <a:pt x="0" y="0"/>
                </a:moveTo>
                <a:lnTo>
                  <a:pt x="1766478" y="0"/>
                </a:lnTo>
                <a:lnTo>
                  <a:pt x="1766478" y="1532724"/>
                </a:lnTo>
                <a:lnTo>
                  <a:pt x="0" y="15327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>
            <a:off x="-503797" y="7695923"/>
            <a:ext cx="933450" cy="811050"/>
            <a:chOff x="0" y="0"/>
            <a:chExt cx="1244600" cy="1081400"/>
          </a:xfrm>
        </p:grpSpPr>
        <p:sp>
          <p:nvSpPr>
            <p:cNvPr id="18" name="Freeform 18"/>
            <p:cNvSpPr/>
            <p:nvPr/>
          </p:nvSpPr>
          <p:spPr>
            <a:xfrm>
              <a:off x="63" y="0"/>
              <a:ext cx="1244473" cy="1081405"/>
            </a:xfrm>
            <a:custGeom>
              <a:avLst/>
              <a:gdLst/>
              <a:ahLst/>
              <a:cxnLst/>
              <a:rect l="l" t="t" r="r" b="b"/>
              <a:pathLst>
                <a:path w="1244473" h="1081405">
                  <a:moveTo>
                    <a:pt x="1334" y="535051"/>
                  </a:moveTo>
                  <a:lnTo>
                    <a:pt x="266129" y="6985"/>
                  </a:lnTo>
                  <a:cubicBezTo>
                    <a:pt x="268288" y="2667"/>
                    <a:pt x="272733" y="0"/>
                    <a:pt x="277432" y="0"/>
                  </a:cubicBezTo>
                  <a:lnTo>
                    <a:pt x="967042" y="0"/>
                  </a:lnTo>
                  <a:cubicBezTo>
                    <a:pt x="971868" y="0"/>
                    <a:pt x="976186" y="2667"/>
                    <a:pt x="978345" y="6985"/>
                  </a:cubicBezTo>
                  <a:lnTo>
                    <a:pt x="1243140" y="535051"/>
                  </a:lnTo>
                  <a:cubicBezTo>
                    <a:pt x="1244918" y="538607"/>
                    <a:pt x="1244918" y="542798"/>
                    <a:pt x="1243140" y="546481"/>
                  </a:cubicBezTo>
                  <a:lnTo>
                    <a:pt x="978345" y="1074420"/>
                  </a:lnTo>
                  <a:cubicBezTo>
                    <a:pt x="976186" y="1078738"/>
                    <a:pt x="971741" y="1081405"/>
                    <a:pt x="967042" y="1081405"/>
                  </a:cubicBezTo>
                  <a:lnTo>
                    <a:pt x="277432" y="1081405"/>
                  </a:lnTo>
                  <a:cubicBezTo>
                    <a:pt x="272606" y="1081405"/>
                    <a:pt x="268288" y="1078738"/>
                    <a:pt x="266129" y="1074420"/>
                  </a:cubicBezTo>
                  <a:lnTo>
                    <a:pt x="1334" y="546354"/>
                  </a:lnTo>
                  <a:cubicBezTo>
                    <a:pt x="-444" y="542798"/>
                    <a:pt x="-444" y="538607"/>
                    <a:pt x="1334" y="534924"/>
                  </a:cubicBezTo>
                  <a:moveTo>
                    <a:pt x="24067" y="546354"/>
                  </a:moveTo>
                  <a:lnTo>
                    <a:pt x="12637" y="540639"/>
                  </a:lnTo>
                  <a:lnTo>
                    <a:pt x="23940" y="534924"/>
                  </a:lnTo>
                  <a:lnTo>
                    <a:pt x="288862" y="1062990"/>
                  </a:lnTo>
                  <a:lnTo>
                    <a:pt x="277559" y="1068705"/>
                  </a:lnTo>
                  <a:lnTo>
                    <a:pt x="277559" y="1056005"/>
                  </a:lnTo>
                  <a:lnTo>
                    <a:pt x="967042" y="1056005"/>
                  </a:lnTo>
                  <a:lnTo>
                    <a:pt x="967042" y="1068705"/>
                  </a:lnTo>
                  <a:lnTo>
                    <a:pt x="955739" y="1062990"/>
                  </a:lnTo>
                  <a:lnTo>
                    <a:pt x="1220534" y="535051"/>
                  </a:lnTo>
                  <a:lnTo>
                    <a:pt x="1231837" y="540766"/>
                  </a:lnTo>
                  <a:lnTo>
                    <a:pt x="1220534" y="546481"/>
                  </a:lnTo>
                  <a:lnTo>
                    <a:pt x="955612" y="18415"/>
                  </a:lnTo>
                  <a:lnTo>
                    <a:pt x="967042" y="12700"/>
                  </a:lnTo>
                  <a:lnTo>
                    <a:pt x="967042" y="25400"/>
                  </a:lnTo>
                  <a:lnTo>
                    <a:pt x="277432" y="25400"/>
                  </a:lnTo>
                  <a:lnTo>
                    <a:pt x="277432" y="12700"/>
                  </a:lnTo>
                  <a:lnTo>
                    <a:pt x="288735" y="18415"/>
                  </a:lnTo>
                  <a:lnTo>
                    <a:pt x="23940" y="546354"/>
                  </a:lnTo>
                  <a:close/>
                </a:path>
              </a:pathLst>
            </a:custGeom>
            <a:solidFill>
              <a:srgbClr val="AFE0D9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6852" y="9300000"/>
            <a:ext cx="204600" cy="204600"/>
            <a:chOff x="0" y="0"/>
            <a:chExt cx="272800" cy="27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72796" cy="272796"/>
            </a:xfrm>
            <a:custGeom>
              <a:avLst/>
              <a:gdLst/>
              <a:ahLst/>
              <a:cxnLst/>
              <a:rect l="l" t="t" r="r" b="b"/>
              <a:pathLst>
                <a:path w="272796" h="272796">
                  <a:moveTo>
                    <a:pt x="0" y="136398"/>
                  </a:moveTo>
                  <a:cubicBezTo>
                    <a:pt x="0" y="61087"/>
                    <a:pt x="61087" y="0"/>
                    <a:pt x="136398" y="0"/>
                  </a:cubicBezTo>
                  <a:cubicBezTo>
                    <a:pt x="211709" y="0"/>
                    <a:pt x="272796" y="61087"/>
                    <a:pt x="272796" y="136398"/>
                  </a:cubicBezTo>
                  <a:cubicBezTo>
                    <a:pt x="272796" y="211709"/>
                    <a:pt x="211709" y="272796"/>
                    <a:pt x="136398" y="272796"/>
                  </a:cubicBezTo>
                  <a:cubicBezTo>
                    <a:pt x="61087" y="272796"/>
                    <a:pt x="0" y="211709"/>
                    <a:pt x="0" y="136398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AutoShape 21"/>
          <p:cNvSpPr/>
          <p:nvPr/>
        </p:nvSpPr>
        <p:spPr>
          <a:xfrm rot="200137">
            <a:off x="1051862" y="10107498"/>
            <a:ext cx="327405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" name="AutoShape 22"/>
          <p:cNvSpPr/>
          <p:nvPr/>
        </p:nvSpPr>
        <p:spPr>
          <a:xfrm rot="3754738">
            <a:off x="-73191" y="9417500"/>
            <a:ext cx="1576134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" name="AutoShape 23"/>
          <p:cNvSpPr/>
          <p:nvPr/>
        </p:nvSpPr>
        <p:spPr>
          <a:xfrm rot="78807">
            <a:off x="-452608" y="8734900"/>
            <a:ext cx="831068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4" name="Group 24"/>
          <p:cNvGrpSpPr/>
          <p:nvPr/>
        </p:nvGrpSpPr>
        <p:grpSpPr>
          <a:xfrm>
            <a:off x="1004526" y="10042600"/>
            <a:ext cx="129600" cy="129600"/>
            <a:chOff x="0" y="0"/>
            <a:chExt cx="172800" cy="17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72720" cy="172720"/>
            </a:xfrm>
            <a:custGeom>
              <a:avLst/>
              <a:gdLst/>
              <a:ahLst/>
              <a:cxnLst/>
              <a:rect l="l" t="t" r="r" b="b"/>
              <a:pathLst>
                <a:path w="172720" h="172720">
                  <a:moveTo>
                    <a:pt x="0" y="86360"/>
                  </a:moveTo>
                  <a:cubicBezTo>
                    <a:pt x="0" y="38735"/>
                    <a:pt x="38735" y="0"/>
                    <a:pt x="86360" y="0"/>
                  </a:cubicBezTo>
                  <a:cubicBezTo>
                    <a:pt x="133985" y="0"/>
                    <a:pt x="172720" y="38735"/>
                    <a:pt x="172720" y="86360"/>
                  </a:cubicBezTo>
                  <a:cubicBezTo>
                    <a:pt x="172720" y="133985"/>
                    <a:pt x="133985" y="172720"/>
                    <a:pt x="86360" y="172720"/>
                  </a:cubicBezTo>
                  <a:cubicBezTo>
                    <a:pt x="38735" y="172720"/>
                    <a:pt x="0" y="134112"/>
                    <a:pt x="0" y="86360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AutoShape 26"/>
          <p:cNvSpPr/>
          <p:nvPr/>
        </p:nvSpPr>
        <p:spPr>
          <a:xfrm rot="7219507">
            <a:off x="30195" y="8191850"/>
            <a:ext cx="1287863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7" name="Group 27"/>
          <p:cNvGrpSpPr/>
          <p:nvPr/>
        </p:nvGrpSpPr>
        <p:grpSpPr>
          <a:xfrm>
            <a:off x="926076" y="7570600"/>
            <a:ext cx="147000" cy="146400"/>
            <a:chOff x="0" y="0"/>
            <a:chExt cx="196000" cy="1952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96088" cy="195326"/>
            </a:xfrm>
            <a:custGeom>
              <a:avLst/>
              <a:gdLst/>
              <a:ahLst/>
              <a:cxnLst/>
              <a:rect l="l" t="t" r="r" b="b"/>
              <a:pathLst>
                <a:path w="196088" h="195326">
                  <a:moveTo>
                    <a:pt x="0" y="97663"/>
                  </a:moveTo>
                  <a:cubicBezTo>
                    <a:pt x="0" y="43688"/>
                    <a:pt x="43815" y="0"/>
                    <a:pt x="98044" y="0"/>
                  </a:cubicBezTo>
                  <a:cubicBezTo>
                    <a:pt x="152273" y="0"/>
                    <a:pt x="196088" y="43688"/>
                    <a:pt x="196088" y="97663"/>
                  </a:cubicBezTo>
                  <a:cubicBezTo>
                    <a:pt x="196088" y="151638"/>
                    <a:pt x="152273" y="195326"/>
                    <a:pt x="98044" y="195326"/>
                  </a:cubicBezTo>
                  <a:cubicBezTo>
                    <a:pt x="43815" y="195326"/>
                    <a:pt x="0" y="151511"/>
                    <a:pt x="0" y="97663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-556174" y="8656250"/>
            <a:ext cx="157200" cy="157200"/>
            <a:chOff x="0" y="0"/>
            <a:chExt cx="209600" cy="2096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0" y="104775"/>
                  </a:moveTo>
                  <a:cubicBezTo>
                    <a:pt x="0" y="46863"/>
                    <a:pt x="46863" y="0"/>
                    <a:pt x="104775" y="0"/>
                  </a:cubicBezTo>
                  <a:cubicBezTo>
                    <a:pt x="162687" y="0"/>
                    <a:pt x="209550" y="46863"/>
                    <a:pt x="209550" y="104775"/>
                  </a:cubicBezTo>
                  <a:cubicBezTo>
                    <a:pt x="209550" y="162687"/>
                    <a:pt x="162687" y="209550"/>
                    <a:pt x="104775" y="209550"/>
                  </a:cubicBezTo>
                  <a:cubicBezTo>
                    <a:pt x="46863" y="209550"/>
                    <a:pt x="0" y="162687"/>
                    <a:pt x="0" y="104775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-250570" y="8972406"/>
            <a:ext cx="614400" cy="532200"/>
            <a:chOff x="0" y="0"/>
            <a:chExt cx="819200" cy="7096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9150" cy="709549"/>
            </a:xfrm>
            <a:custGeom>
              <a:avLst/>
              <a:gdLst/>
              <a:ahLst/>
              <a:cxnLst/>
              <a:rect l="l" t="t" r="r" b="b"/>
              <a:pathLst>
                <a:path w="819150" h="709549">
                  <a:moveTo>
                    <a:pt x="0" y="354838"/>
                  </a:moveTo>
                  <a:lnTo>
                    <a:pt x="177419" y="0"/>
                  </a:lnTo>
                  <a:lnTo>
                    <a:pt x="641858" y="0"/>
                  </a:lnTo>
                  <a:lnTo>
                    <a:pt x="819150" y="354838"/>
                  </a:lnTo>
                  <a:lnTo>
                    <a:pt x="641858" y="709549"/>
                  </a:lnTo>
                  <a:lnTo>
                    <a:pt x="177419" y="709549"/>
                  </a:lnTo>
                  <a:close/>
                </a:path>
              </a:pathLst>
            </a:custGeom>
            <a:solidFill>
              <a:srgbClr val="D7ECF3">
                <a:alpha val="35294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33" name="Table 33"/>
          <p:cNvGraphicFramePr>
            <a:graphicFrameLocks noGrp="1"/>
          </p:cNvGraphicFramePr>
          <p:nvPr/>
        </p:nvGraphicFramePr>
        <p:xfrm>
          <a:off x="8369240" y="2674847"/>
          <a:ext cx="9062673" cy="7296151"/>
        </p:xfrm>
        <a:graphic>
          <a:graphicData uri="http://schemas.openxmlformats.org/drawingml/2006/table">
            <a:tbl>
              <a:tblPr/>
              <a:tblGrid>
                <a:gridCol w="32095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3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33429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399" b="1">
                          <a:solidFill>
                            <a:srgbClr val="353552"/>
                          </a:solidFill>
                          <a:latin typeface="Catamaran Bold"/>
                          <a:ea typeface="Catamaran Bold"/>
                          <a:cs typeface="Catamaran Bold"/>
                          <a:sym typeface="Catamaran Bold"/>
                        </a:rPr>
                        <a:t>Variabile de intrare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C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399" b="1">
                          <a:solidFill>
                            <a:srgbClr val="353552"/>
                          </a:solidFill>
                          <a:latin typeface="Catamaran Bold"/>
                          <a:ea typeface="Catamaran Bold"/>
                          <a:cs typeface="Catamaran Bold"/>
                          <a:sym typeface="Catamaran Bold"/>
                        </a:rPr>
                        <a:t>Descriere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2674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353552"/>
                          </a:solidFill>
                          <a:latin typeface="Catamaran Bold"/>
                          <a:ea typeface="Catamaran Bold"/>
                          <a:cs typeface="Catamaran Bold"/>
                          <a:sym typeface="Catamaran Bold"/>
                        </a:rPr>
                        <a:t>Paturi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C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353552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Numărul de paturi disponibile în spitale.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0045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353552"/>
                          </a:solidFill>
                          <a:latin typeface="Catamaran Bold"/>
                          <a:ea typeface="Catamaran Bold"/>
                          <a:cs typeface="Catamaran Bold"/>
                          <a:sym typeface="Catamaran Bold"/>
                        </a:rPr>
                        <a:t>Medici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C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353552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Numărul de medici angajați cu normă întreagă și cu jumătate de normă.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0045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353552"/>
                          </a:solidFill>
                          <a:latin typeface="Catamaran Bold"/>
                          <a:ea typeface="Catamaran Bold"/>
                          <a:cs typeface="Catamaran Bold"/>
                          <a:sym typeface="Catamaran Bold"/>
                        </a:rPr>
                        <a:t>Asistenți medicali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C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353552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Numărul de asistenți medicali angajați cu normă întreagă și cu jumătate de normă.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4846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353552"/>
                          </a:solidFill>
                          <a:latin typeface="Catamaran Bold"/>
                          <a:ea typeface="Catamaran Bold"/>
                          <a:cs typeface="Catamaran Bold"/>
                          <a:sym typeface="Catamaran Bold"/>
                        </a:rPr>
                        <a:t>Cheltuieli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C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353552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Totalul cheltuielilor efectuate de spital în 2024.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0221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399" b="1">
                          <a:solidFill>
                            <a:srgbClr val="353552"/>
                          </a:solidFill>
                          <a:latin typeface="Catamaran Bold"/>
                          <a:ea typeface="Catamaran Bold"/>
                          <a:cs typeface="Catamaran Bold"/>
                          <a:sym typeface="Catamaran Bold"/>
                        </a:rPr>
                        <a:t>Variabile de ieșire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C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399" b="1">
                          <a:solidFill>
                            <a:srgbClr val="353552"/>
                          </a:solidFill>
                          <a:latin typeface="Catamaran Bold"/>
                          <a:ea typeface="Catamaran Bold"/>
                          <a:cs typeface="Catamaran Bold"/>
                          <a:sym typeface="Catamaran Bold"/>
                        </a:rPr>
                        <a:t>Descriere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4846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353552"/>
                          </a:solidFill>
                          <a:latin typeface="Catamaran Bold"/>
                          <a:ea typeface="Catamaran Bold"/>
                          <a:cs typeface="Catamaran Bold"/>
                          <a:sym typeface="Catamaran Bold"/>
                        </a:rPr>
                        <a:t>Pacienți tratați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C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353552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Numărul de pacienți tratați de fiecare spital în 2024.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30045"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353552"/>
                          </a:solidFill>
                          <a:latin typeface="Catamaran Bold"/>
                          <a:ea typeface="Catamaran Bold"/>
                          <a:cs typeface="Catamaran Bold"/>
                          <a:sym typeface="Catamaran Bold"/>
                        </a:rPr>
                        <a:t>Zile spitalizare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C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353552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Numărul total de zile de spitalizare pentru fiacre spital în 2024.</a:t>
                      </a:r>
                      <a:endParaRPr lang="en-US" sz="1100"/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875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4" name="Freeform 34"/>
          <p:cNvSpPr/>
          <p:nvPr/>
        </p:nvSpPr>
        <p:spPr>
          <a:xfrm>
            <a:off x="1181452" y="4129028"/>
            <a:ext cx="6236632" cy="4152327"/>
          </a:xfrm>
          <a:custGeom>
            <a:avLst/>
            <a:gdLst/>
            <a:ahLst/>
            <a:cxnLst/>
            <a:rect l="l" t="t" r="r" b="b"/>
            <a:pathLst>
              <a:path w="6236632" h="4152327">
                <a:moveTo>
                  <a:pt x="0" y="0"/>
                </a:moveTo>
                <a:lnTo>
                  <a:pt x="6236632" y="0"/>
                </a:lnTo>
                <a:lnTo>
                  <a:pt x="6236632" y="4152327"/>
                </a:lnTo>
                <a:lnTo>
                  <a:pt x="0" y="41523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TextBox 35"/>
          <p:cNvSpPr txBox="1"/>
          <p:nvPr/>
        </p:nvSpPr>
        <p:spPr>
          <a:xfrm>
            <a:off x="429653" y="1795355"/>
            <a:ext cx="4388550" cy="632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7"/>
              </a:lnSpc>
            </a:pPr>
            <a:r>
              <a:rPr lang="en-US" sz="3600" b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Sursa datelor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29653" y="511519"/>
            <a:ext cx="5064836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Date și Variabile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49001" y="2851698"/>
            <a:ext cx="7220139" cy="469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4"/>
              </a:lnSpc>
            </a:pPr>
            <a:r>
              <a:rPr lang="en-US" sz="2800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Institutul Național de Sănătate Publică — </a:t>
            </a:r>
            <a:r>
              <a:rPr lang="en-US" sz="2800" b="1">
                <a:solidFill>
                  <a:srgbClr val="353552"/>
                </a:solidFill>
                <a:latin typeface="Catamaran Bold"/>
                <a:ea typeface="Catamaran Bold"/>
                <a:cs typeface="Catamaran Bold"/>
                <a:sym typeface="Catamaran Bold"/>
              </a:rPr>
              <a:t>2024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369239" y="1766543"/>
            <a:ext cx="3844237" cy="5859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67"/>
              </a:lnSpc>
              <a:spcBef>
                <a:spcPct val="0"/>
              </a:spcBef>
            </a:pPr>
            <a:r>
              <a:rPr lang="en-US" sz="3600" b="1" dirty="0" err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Variabile</a:t>
            </a:r>
            <a:r>
              <a:rPr lang="en-US" sz="3600" b="1" dirty="0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600" b="1" dirty="0" err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utilizate</a:t>
            </a:r>
            <a:endParaRPr lang="en-US" sz="3600" b="1" dirty="0">
              <a:solidFill>
                <a:srgbClr val="353552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746610" y="-611036"/>
            <a:ext cx="1834998" cy="1589342"/>
          </a:xfrm>
          <a:custGeom>
            <a:avLst/>
            <a:gdLst/>
            <a:ahLst/>
            <a:cxnLst/>
            <a:rect l="l" t="t" r="r" b="b"/>
            <a:pathLst>
              <a:path w="1834998" h="1589342">
                <a:moveTo>
                  <a:pt x="0" y="0"/>
                </a:moveTo>
                <a:lnTo>
                  <a:pt x="1834998" y="0"/>
                </a:lnTo>
                <a:lnTo>
                  <a:pt x="1834998" y="1589342"/>
                </a:lnTo>
                <a:lnTo>
                  <a:pt x="0" y="15893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8022024" y="41500"/>
            <a:ext cx="1189313" cy="1031935"/>
          </a:xfrm>
          <a:custGeom>
            <a:avLst/>
            <a:gdLst/>
            <a:ahLst/>
            <a:cxnLst/>
            <a:rect l="l" t="t" r="r" b="b"/>
            <a:pathLst>
              <a:path w="1189313" h="1031935">
                <a:moveTo>
                  <a:pt x="0" y="0"/>
                </a:moveTo>
                <a:lnTo>
                  <a:pt x="1189314" y="0"/>
                </a:lnTo>
                <a:lnTo>
                  <a:pt x="1189314" y="1031936"/>
                </a:lnTo>
                <a:lnTo>
                  <a:pt x="0" y="1031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940174" y="1259500"/>
            <a:ext cx="1189313" cy="1031935"/>
          </a:xfrm>
          <a:custGeom>
            <a:avLst/>
            <a:gdLst/>
            <a:ahLst/>
            <a:cxnLst/>
            <a:rect l="l" t="t" r="r" b="b"/>
            <a:pathLst>
              <a:path w="1189313" h="1031935">
                <a:moveTo>
                  <a:pt x="0" y="0"/>
                </a:moveTo>
                <a:lnTo>
                  <a:pt x="1189314" y="0"/>
                </a:lnTo>
                <a:lnTo>
                  <a:pt x="1189314" y="1031936"/>
                </a:lnTo>
                <a:lnTo>
                  <a:pt x="0" y="1031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7099078" y="1170126"/>
            <a:ext cx="204600" cy="204600"/>
            <a:chOff x="0" y="0"/>
            <a:chExt cx="272800" cy="27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2796" cy="272796"/>
            </a:xfrm>
            <a:custGeom>
              <a:avLst/>
              <a:gdLst/>
              <a:ahLst/>
              <a:cxnLst/>
              <a:rect l="l" t="t" r="r" b="b"/>
              <a:pathLst>
                <a:path w="272796" h="272796">
                  <a:moveTo>
                    <a:pt x="272796" y="136398"/>
                  </a:moveTo>
                  <a:cubicBezTo>
                    <a:pt x="272796" y="61087"/>
                    <a:pt x="211709" y="0"/>
                    <a:pt x="136398" y="0"/>
                  </a:cubicBezTo>
                  <a:cubicBezTo>
                    <a:pt x="61087" y="0"/>
                    <a:pt x="0" y="61087"/>
                    <a:pt x="0" y="136398"/>
                  </a:cubicBezTo>
                  <a:cubicBezTo>
                    <a:pt x="0" y="211709"/>
                    <a:pt x="61087" y="272796"/>
                    <a:pt x="136398" y="272796"/>
                  </a:cubicBezTo>
                  <a:cubicBezTo>
                    <a:pt x="211709" y="272796"/>
                    <a:pt x="272796" y="211709"/>
                    <a:pt x="272796" y="136398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4754525" y="281857"/>
            <a:ext cx="633450" cy="551250"/>
            <a:chOff x="0" y="0"/>
            <a:chExt cx="844600" cy="735000"/>
          </a:xfrm>
        </p:grpSpPr>
        <p:sp>
          <p:nvSpPr>
            <p:cNvPr id="8" name="Freeform 8"/>
            <p:cNvSpPr/>
            <p:nvPr/>
          </p:nvSpPr>
          <p:spPr>
            <a:xfrm>
              <a:off x="63" y="0"/>
              <a:ext cx="844550" cy="734949"/>
            </a:xfrm>
            <a:custGeom>
              <a:avLst/>
              <a:gdLst/>
              <a:ahLst/>
              <a:cxnLst/>
              <a:rect l="l" t="t" r="r" b="b"/>
              <a:pathLst>
                <a:path w="844550" h="734949">
                  <a:moveTo>
                    <a:pt x="820484" y="373253"/>
                  </a:moveTo>
                  <a:lnTo>
                    <a:pt x="642303" y="18415"/>
                  </a:lnTo>
                  <a:lnTo>
                    <a:pt x="653606" y="12700"/>
                  </a:lnTo>
                  <a:lnTo>
                    <a:pt x="653606" y="25400"/>
                  </a:lnTo>
                  <a:lnTo>
                    <a:pt x="190818" y="25400"/>
                  </a:lnTo>
                  <a:lnTo>
                    <a:pt x="190818" y="12700"/>
                  </a:lnTo>
                  <a:lnTo>
                    <a:pt x="202121" y="18415"/>
                  </a:lnTo>
                  <a:lnTo>
                    <a:pt x="23940" y="373253"/>
                  </a:lnTo>
                  <a:lnTo>
                    <a:pt x="12637" y="367538"/>
                  </a:lnTo>
                  <a:lnTo>
                    <a:pt x="23940" y="361823"/>
                  </a:lnTo>
                  <a:lnTo>
                    <a:pt x="202248" y="716661"/>
                  </a:lnTo>
                  <a:lnTo>
                    <a:pt x="190945" y="722376"/>
                  </a:lnTo>
                  <a:lnTo>
                    <a:pt x="190945" y="709676"/>
                  </a:lnTo>
                  <a:lnTo>
                    <a:pt x="653606" y="709676"/>
                  </a:lnTo>
                  <a:lnTo>
                    <a:pt x="653606" y="722376"/>
                  </a:lnTo>
                  <a:lnTo>
                    <a:pt x="642303" y="716661"/>
                  </a:lnTo>
                  <a:lnTo>
                    <a:pt x="820484" y="361823"/>
                  </a:lnTo>
                  <a:lnTo>
                    <a:pt x="831787" y="367538"/>
                  </a:lnTo>
                  <a:lnTo>
                    <a:pt x="820484" y="373253"/>
                  </a:lnTo>
                  <a:moveTo>
                    <a:pt x="843217" y="361823"/>
                  </a:moveTo>
                  <a:cubicBezTo>
                    <a:pt x="844995" y="365379"/>
                    <a:pt x="844995" y="369697"/>
                    <a:pt x="843217" y="373253"/>
                  </a:cubicBezTo>
                  <a:lnTo>
                    <a:pt x="664909" y="727964"/>
                  </a:lnTo>
                  <a:cubicBezTo>
                    <a:pt x="662750" y="732282"/>
                    <a:pt x="658305" y="734949"/>
                    <a:pt x="653606" y="734949"/>
                  </a:cubicBezTo>
                  <a:lnTo>
                    <a:pt x="190818" y="734949"/>
                  </a:lnTo>
                  <a:cubicBezTo>
                    <a:pt x="185992" y="734949"/>
                    <a:pt x="181674" y="732282"/>
                    <a:pt x="179515" y="727964"/>
                  </a:cubicBezTo>
                  <a:lnTo>
                    <a:pt x="1334" y="373253"/>
                  </a:lnTo>
                  <a:cubicBezTo>
                    <a:pt x="-444" y="369697"/>
                    <a:pt x="-444" y="365379"/>
                    <a:pt x="1334" y="361823"/>
                  </a:cubicBezTo>
                  <a:lnTo>
                    <a:pt x="179515" y="6985"/>
                  </a:lnTo>
                  <a:cubicBezTo>
                    <a:pt x="181674" y="2667"/>
                    <a:pt x="186119" y="0"/>
                    <a:pt x="190818" y="0"/>
                  </a:cubicBezTo>
                  <a:lnTo>
                    <a:pt x="653606" y="0"/>
                  </a:lnTo>
                  <a:cubicBezTo>
                    <a:pt x="658432" y="0"/>
                    <a:pt x="662750" y="2667"/>
                    <a:pt x="664909" y="6985"/>
                  </a:cubicBezTo>
                  <a:lnTo>
                    <a:pt x="843217" y="361823"/>
                  </a:lnTo>
                  <a:close/>
                </a:path>
              </a:pathLst>
            </a:custGeom>
            <a:solidFill>
              <a:srgbClr val="AFE0D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AutoShape 9"/>
          <p:cNvSpPr/>
          <p:nvPr/>
        </p:nvSpPr>
        <p:spPr>
          <a:xfrm rot="3599864">
            <a:off x="18617608" y="1277808"/>
            <a:ext cx="1180419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 rot="79323">
            <a:off x="18112989" y="1775468"/>
            <a:ext cx="825670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 rot="199407">
            <a:off x="17710085" y="557468"/>
            <a:ext cx="328603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 rot="6766566">
            <a:off x="17441121" y="371136"/>
            <a:ext cx="427375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 rot="3453659">
            <a:off x="17022286" y="2378772"/>
            <a:ext cx="245805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 rot="-1364276">
            <a:off x="16980926" y="2467136"/>
            <a:ext cx="156784" cy="156784"/>
            <a:chOff x="0" y="0"/>
            <a:chExt cx="209045" cy="20904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9042" cy="209042"/>
            </a:xfrm>
            <a:custGeom>
              <a:avLst/>
              <a:gdLst/>
              <a:ahLst/>
              <a:cxnLst/>
              <a:rect l="l" t="t" r="r" b="b"/>
              <a:pathLst>
                <a:path w="209042" h="209042">
                  <a:moveTo>
                    <a:pt x="209042" y="104521"/>
                  </a:moveTo>
                  <a:cubicBezTo>
                    <a:pt x="209042" y="46736"/>
                    <a:pt x="162306" y="0"/>
                    <a:pt x="104521" y="0"/>
                  </a:cubicBezTo>
                  <a:cubicBezTo>
                    <a:pt x="46736" y="0"/>
                    <a:pt x="0" y="46736"/>
                    <a:pt x="0" y="104521"/>
                  </a:cubicBezTo>
                  <a:cubicBezTo>
                    <a:pt x="0" y="162306"/>
                    <a:pt x="46736" y="209042"/>
                    <a:pt x="104521" y="209042"/>
                  </a:cubicBezTo>
                  <a:cubicBezTo>
                    <a:pt x="162306" y="209042"/>
                    <a:pt x="209042" y="162306"/>
                    <a:pt x="209042" y="104521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AutoShape 16"/>
          <p:cNvSpPr/>
          <p:nvPr/>
        </p:nvSpPr>
        <p:spPr>
          <a:xfrm rot="7221008">
            <a:off x="15303758" y="-1088634"/>
            <a:ext cx="1128971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>
            <a:off x="15513804" y="-1636774"/>
            <a:ext cx="157200" cy="157200"/>
            <a:chOff x="0" y="0"/>
            <a:chExt cx="209600" cy="2096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209550" y="104775"/>
                  </a:moveTo>
                  <a:cubicBezTo>
                    <a:pt x="209550" y="46863"/>
                    <a:pt x="162687" y="0"/>
                    <a:pt x="104775" y="0"/>
                  </a:cubicBezTo>
                  <a:cubicBezTo>
                    <a:pt x="46863" y="0"/>
                    <a:pt x="0" y="46863"/>
                    <a:pt x="0" y="104775"/>
                  </a:cubicBezTo>
                  <a:cubicBezTo>
                    <a:pt x="0" y="162687"/>
                    <a:pt x="46863" y="209550"/>
                    <a:pt x="104775" y="209550"/>
                  </a:cubicBezTo>
                  <a:cubicBezTo>
                    <a:pt x="162687" y="209550"/>
                    <a:pt x="209550" y="162687"/>
                    <a:pt x="209550" y="104775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7414500" y="2484382"/>
            <a:ext cx="614400" cy="532200"/>
            <a:chOff x="0" y="0"/>
            <a:chExt cx="819200" cy="7096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9150" cy="709549"/>
            </a:xfrm>
            <a:custGeom>
              <a:avLst/>
              <a:gdLst/>
              <a:ahLst/>
              <a:cxnLst/>
              <a:rect l="l" t="t" r="r" b="b"/>
              <a:pathLst>
                <a:path w="819150" h="709549">
                  <a:moveTo>
                    <a:pt x="819150" y="354838"/>
                  </a:moveTo>
                  <a:lnTo>
                    <a:pt x="641858" y="0"/>
                  </a:lnTo>
                  <a:lnTo>
                    <a:pt x="177419" y="0"/>
                  </a:lnTo>
                  <a:lnTo>
                    <a:pt x="0" y="354838"/>
                  </a:lnTo>
                  <a:lnTo>
                    <a:pt x="177419" y="709549"/>
                  </a:lnTo>
                  <a:lnTo>
                    <a:pt x="641858" y="709549"/>
                  </a:lnTo>
                  <a:close/>
                </a:path>
              </a:pathLst>
            </a:custGeom>
            <a:solidFill>
              <a:srgbClr val="7CBEFF">
                <a:alpha val="35294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Freeform 21"/>
          <p:cNvSpPr/>
          <p:nvPr/>
        </p:nvSpPr>
        <p:spPr>
          <a:xfrm>
            <a:off x="13163990" y="-514629"/>
            <a:ext cx="1609354" cy="1396536"/>
          </a:xfrm>
          <a:custGeom>
            <a:avLst/>
            <a:gdLst/>
            <a:ahLst/>
            <a:cxnLst/>
            <a:rect l="l" t="t" r="r" b="b"/>
            <a:pathLst>
              <a:path w="1609354" h="1396536">
                <a:moveTo>
                  <a:pt x="0" y="0"/>
                </a:moveTo>
                <a:lnTo>
                  <a:pt x="1609354" y="0"/>
                </a:lnTo>
                <a:lnTo>
                  <a:pt x="1609354" y="1396536"/>
                </a:lnTo>
                <a:lnTo>
                  <a:pt x="0" y="13965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AutoShape 22"/>
          <p:cNvSpPr/>
          <p:nvPr/>
        </p:nvSpPr>
        <p:spPr>
          <a:xfrm rot="65360">
            <a:off x="14754440" y="183638"/>
            <a:ext cx="1002031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16998688" y="6343887"/>
            <a:ext cx="2370711" cy="1532723"/>
          </a:xfrm>
          <a:custGeom>
            <a:avLst/>
            <a:gdLst/>
            <a:ahLst/>
            <a:cxnLst/>
            <a:rect l="l" t="t" r="r" b="b"/>
            <a:pathLst>
              <a:path w="2370711" h="1532723">
                <a:moveTo>
                  <a:pt x="0" y="0"/>
                </a:moveTo>
                <a:lnTo>
                  <a:pt x="2370711" y="0"/>
                </a:lnTo>
                <a:lnTo>
                  <a:pt x="2370711" y="1532724"/>
                </a:lnTo>
                <a:lnTo>
                  <a:pt x="0" y="15327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AutoShape 24"/>
          <p:cNvSpPr/>
          <p:nvPr/>
        </p:nvSpPr>
        <p:spPr>
          <a:xfrm rot="2304185">
            <a:off x="17585742" y="8001414"/>
            <a:ext cx="465317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5" name="Group 25"/>
          <p:cNvGrpSpPr/>
          <p:nvPr/>
        </p:nvGrpSpPr>
        <p:grpSpPr>
          <a:xfrm rot="5400000">
            <a:off x="17136469" y="8193671"/>
            <a:ext cx="1018650" cy="884850"/>
            <a:chOff x="0" y="0"/>
            <a:chExt cx="1358200" cy="1179800"/>
          </a:xfrm>
        </p:grpSpPr>
        <p:sp>
          <p:nvSpPr>
            <p:cNvPr id="26" name="Freeform 26"/>
            <p:cNvSpPr/>
            <p:nvPr/>
          </p:nvSpPr>
          <p:spPr>
            <a:xfrm>
              <a:off x="63" y="0"/>
              <a:ext cx="1358138" cy="1179830"/>
            </a:xfrm>
            <a:custGeom>
              <a:avLst/>
              <a:gdLst/>
              <a:ahLst/>
              <a:cxnLst/>
              <a:rect l="l" t="t" r="r" b="b"/>
              <a:pathLst>
                <a:path w="1358138" h="1179830">
                  <a:moveTo>
                    <a:pt x="1334072" y="595630"/>
                  </a:moveTo>
                  <a:lnTo>
                    <a:pt x="1044639" y="18415"/>
                  </a:lnTo>
                  <a:lnTo>
                    <a:pt x="1055942" y="12700"/>
                  </a:lnTo>
                  <a:lnTo>
                    <a:pt x="1055942" y="25400"/>
                  </a:lnTo>
                  <a:lnTo>
                    <a:pt x="302070" y="25400"/>
                  </a:lnTo>
                  <a:lnTo>
                    <a:pt x="302070" y="12700"/>
                  </a:lnTo>
                  <a:lnTo>
                    <a:pt x="313373" y="18415"/>
                  </a:lnTo>
                  <a:lnTo>
                    <a:pt x="23940" y="595630"/>
                  </a:lnTo>
                  <a:lnTo>
                    <a:pt x="12637" y="589915"/>
                  </a:lnTo>
                  <a:lnTo>
                    <a:pt x="23940" y="584200"/>
                  </a:lnTo>
                  <a:lnTo>
                    <a:pt x="313373" y="1161415"/>
                  </a:lnTo>
                  <a:lnTo>
                    <a:pt x="302070" y="1167130"/>
                  </a:lnTo>
                  <a:lnTo>
                    <a:pt x="302070" y="1154430"/>
                  </a:lnTo>
                  <a:lnTo>
                    <a:pt x="1055942" y="1154430"/>
                  </a:lnTo>
                  <a:lnTo>
                    <a:pt x="1055942" y="1167130"/>
                  </a:lnTo>
                  <a:lnTo>
                    <a:pt x="1044639" y="1161415"/>
                  </a:lnTo>
                  <a:lnTo>
                    <a:pt x="1334072" y="584200"/>
                  </a:lnTo>
                  <a:lnTo>
                    <a:pt x="1345375" y="589915"/>
                  </a:lnTo>
                  <a:lnTo>
                    <a:pt x="1334072" y="595630"/>
                  </a:lnTo>
                  <a:moveTo>
                    <a:pt x="1356805" y="584200"/>
                  </a:moveTo>
                  <a:cubicBezTo>
                    <a:pt x="1358583" y="587756"/>
                    <a:pt x="1358583" y="591947"/>
                    <a:pt x="1356805" y="595630"/>
                  </a:cubicBezTo>
                  <a:lnTo>
                    <a:pt x="1067372" y="1172845"/>
                  </a:lnTo>
                  <a:cubicBezTo>
                    <a:pt x="1065213" y="1177163"/>
                    <a:pt x="1060768" y="1179830"/>
                    <a:pt x="1056069" y="1179830"/>
                  </a:cubicBezTo>
                  <a:lnTo>
                    <a:pt x="302070" y="1179830"/>
                  </a:lnTo>
                  <a:cubicBezTo>
                    <a:pt x="297244" y="1179830"/>
                    <a:pt x="292926" y="1177163"/>
                    <a:pt x="290767" y="1172845"/>
                  </a:cubicBezTo>
                  <a:lnTo>
                    <a:pt x="1334" y="595630"/>
                  </a:lnTo>
                  <a:cubicBezTo>
                    <a:pt x="-444" y="592074"/>
                    <a:pt x="-444" y="587883"/>
                    <a:pt x="1334" y="584200"/>
                  </a:cubicBezTo>
                  <a:lnTo>
                    <a:pt x="290767" y="6985"/>
                  </a:lnTo>
                  <a:cubicBezTo>
                    <a:pt x="292926" y="2667"/>
                    <a:pt x="297371" y="0"/>
                    <a:pt x="302070" y="0"/>
                  </a:cubicBezTo>
                  <a:lnTo>
                    <a:pt x="1055942" y="0"/>
                  </a:lnTo>
                  <a:cubicBezTo>
                    <a:pt x="1060768" y="0"/>
                    <a:pt x="1065086" y="2667"/>
                    <a:pt x="1067245" y="6985"/>
                  </a:cubicBezTo>
                  <a:lnTo>
                    <a:pt x="1356805" y="584200"/>
                  </a:lnTo>
                  <a:close/>
                </a:path>
              </a:pathLst>
            </a:custGeom>
            <a:solidFill>
              <a:srgbClr val="6875A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27"/>
          <p:cNvGrpSpPr/>
          <p:nvPr/>
        </p:nvGrpSpPr>
        <p:grpSpPr>
          <a:xfrm rot="5400000">
            <a:off x="17238017" y="8281569"/>
            <a:ext cx="815250" cy="709050"/>
            <a:chOff x="0" y="0"/>
            <a:chExt cx="1087000" cy="945400"/>
          </a:xfrm>
        </p:grpSpPr>
        <p:sp>
          <p:nvSpPr>
            <p:cNvPr id="28" name="Freeform 28"/>
            <p:cNvSpPr/>
            <p:nvPr/>
          </p:nvSpPr>
          <p:spPr>
            <a:xfrm>
              <a:off x="63" y="0"/>
              <a:ext cx="1086993" cy="945388"/>
            </a:xfrm>
            <a:custGeom>
              <a:avLst/>
              <a:gdLst/>
              <a:ahLst/>
              <a:cxnLst/>
              <a:rect l="l" t="t" r="r" b="b"/>
              <a:pathLst>
                <a:path w="1086993" h="945388">
                  <a:moveTo>
                    <a:pt x="1062927" y="478409"/>
                  </a:moveTo>
                  <a:lnTo>
                    <a:pt x="832041" y="18415"/>
                  </a:lnTo>
                  <a:lnTo>
                    <a:pt x="843471" y="12700"/>
                  </a:lnTo>
                  <a:lnTo>
                    <a:pt x="843471" y="25400"/>
                  </a:lnTo>
                  <a:lnTo>
                    <a:pt x="243523" y="25400"/>
                  </a:lnTo>
                  <a:lnTo>
                    <a:pt x="243523" y="12700"/>
                  </a:lnTo>
                  <a:lnTo>
                    <a:pt x="254826" y="18415"/>
                  </a:lnTo>
                  <a:lnTo>
                    <a:pt x="23940" y="478409"/>
                  </a:lnTo>
                  <a:lnTo>
                    <a:pt x="12637" y="472694"/>
                  </a:lnTo>
                  <a:lnTo>
                    <a:pt x="23940" y="466979"/>
                  </a:lnTo>
                  <a:lnTo>
                    <a:pt x="254826" y="926973"/>
                  </a:lnTo>
                  <a:lnTo>
                    <a:pt x="243523" y="932688"/>
                  </a:lnTo>
                  <a:lnTo>
                    <a:pt x="243523" y="919988"/>
                  </a:lnTo>
                  <a:lnTo>
                    <a:pt x="843471" y="919988"/>
                  </a:lnTo>
                  <a:lnTo>
                    <a:pt x="843471" y="932688"/>
                  </a:lnTo>
                  <a:lnTo>
                    <a:pt x="832168" y="926973"/>
                  </a:lnTo>
                  <a:lnTo>
                    <a:pt x="1062927" y="466979"/>
                  </a:lnTo>
                  <a:lnTo>
                    <a:pt x="1074230" y="472694"/>
                  </a:lnTo>
                  <a:lnTo>
                    <a:pt x="1062927" y="478409"/>
                  </a:lnTo>
                  <a:moveTo>
                    <a:pt x="1085660" y="466979"/>
                  </a:moveTo>
                  <a:cubicBezTo>
                    <a:pt x="1087438" y="470535"/>
                    <a:pt x="1087438" y="474726"/>
                    <a:pt x="1085660" y="478409"/>
                  </a:cubicBezTo>
                  <a:lnTo>
                    <a:pt x="854774" y="938403"/>
                  </a:lnTo>
                  <a:cubicBezTo>
                    <a:pt x="852615" y="942721"/>
                    <a:pt x="848170" y="945388"/>
                    <a:pt x="843471" y="945388"/>
                  </a:cubicBezTo>
                  <a:lnTo>
                    <a:pt x="243523" y="945388"/>
                  </a:lnTo>
                  <a:cubicBezTo>
                    <a:pt x="238697" y="945388"/>
                    <a:pt x="234379" y="942721"/>
                    <a:pt x="232220" y="938403"/>
                  </a:cubicBezTo>
                  <a:lnTo>
                    <a:pt x="1334" y="478409"/>
                  </a:lnTo>
                  <a:cubicBezTo>
                    <a:pt x="-444" y="474853"/>
                    <a:pt x="-444" y="470662"/>
                    <a:pt x="1334" y="466979"/>
                  </a:cubicBezTo>
                  <a:lnTo>
                    <a:pt x="232093" y="6985"/>
                  </a:lnTo>
                  <a:cubicBezTo>
                    <a:pt x="234252" y="2667"/>
                    <a:pt x="238697" y="0"/>
                    <a:pt x="243396" y="0"/>
                  </a:cubicBezTo>
                  <a:lnTo>
                    <a:pt x="843471" y="0"/>
                  </a:lnTo>
                  <a:cubicBezTo>
                    <a:pt x="848297" y="0"/>
                    <a:pt x="852615" y="2667"/>
                    <a:pt x="854774" y="6985"/>
                  </a:cubicBezTo>
                  <a:lnTo>
                    <a:pt x="1085533" y="466979"/>
                  </a:lnTo>
                  <a:close/>
                </a:path>
              </a:pathLst>
            </a:custGeom>
            <a:solidFill>
              <a:srgbClr val="AFE0D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" name="Freeform 29"/>
          <p:cNvSpPr/>
          <p:nvPr/>
        </p:nvSpPr>
        <p:spPr>
          <a:xfrm>
            <a:off x="153190" y="8856578"/>
            <a:ext cx="1031935" cy="1189313"/>
          </a:xfrm>
          <a:custGeom>
            <a:avLst/>
            <a:gdLst/>
            <a:ahLst/>
            <a:cxnLst/>
            <a:rect l="l" t="t" r="r" b="b"/>
            <a:pathLst>
              <a:path w="1031935" h="1189313">
                <a:moveTo>
                  <a:pt x="0" y="0"/>
                </a:moveTo>
                <a:lnTo>
                  <a:pt x="1031936" y="0"/>
                </a:lnTo>
                <a:lnTo>
                  <a:pt x="1031936" y="1189313"/>
                </a:lnTo>
                <a:lnTo>
                  <a:pt x="0" y="11893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0" name="Group 30"/>
          <p:cNvGrpSpPr/>
          <p:nvPr/>
        </p:nvGrpSpPr>
        <p:grpSpPr>
          <a:xfrm rot="-5400000">
            <a:off x="73341" y="9522539"/>
            <a:ext cx="204600" cy="204600"/>
            <a:chOff x="0" y="0"/>
            <a:chExt cx="272800" cy="27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72796" cy="272796"/>
            </a:xfrm>
            <a:custGeom>
              <a:avLst/>
              <a:gdLst/>
              <a:ahLst/>
              <a:cxnLst/>
              <a:rect l="l" t="t" r="r" b="b"/>
              <a:pathLst>
                <a:path w="272796" h="272796">
                  <a:moveTo>
                    <a:pt x="272796" y="136398"/>
                  </a:moveTo>
                  <a:cubicBezTo>
                    <a:pt x="272796" y="61087"/>
                    <a:pt x="211709" y="0"/>
                    <a:pt x="136398" y="0"/>
                  </a:cubicBezTo>
                  <a:cubicBezTo>
                    <a:pt x="61087" y="0"/>
                    <a:pt x="0" y="61087"/>
                    <a:pt x="0" y="136398"/>
                  </a:cubicBezTo>
                  <a:cubicBezTo>
                    <a:pt x="0" y="211709"/>
                    <a:pt x="61087" y="272796"/>
                    <a:pt x="136398" y="272796"/>
                  </a:cubicBezTo>
                  <a:cubicBezTo>
                    <a:pt x="211709" y="272796"/>
                    <a:pt x="272796" y="211709"/>
                    <a:pt x="272796" y="136398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2" name="AutoShape 32"/>
          <p:cNvSpPr/>
          <p:nvPr/>
        </p:nvSpPr>
        <p:spPr>
          <a:xfrm>
            <a:off x="645346" y="7343468"/>
            <a:ext cx="19050" cy="151305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3" name="Group 33"/>
          <p:cNvGrpSpPr/>
          <p:nvPr/>
        </p:nvGrpSpPr>
        <p:grpSpPr>
          <a:xfrm rot="-5400000">
            <a:off x="1074241" y="9879165"/>
            <a:ext cx="157200" cy="157200"/>
            <a:chOff x="0" y="0"/>
            <a:chExt cx="209600" cy="2096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209550" y="104775"/>
                  </a:moveTo>
                  <a:cubicBezTo>
                    <a:pt x="209550" y="46863"/>
                    <a:pt x="162687" y="0"/>
                    <a:pt x="104775" y="0"/>
                  </a:cubicBezTo>
                  <a:cubicBezTo>
                    <a:pt x="46863" y="0"/>
                    <a:pt x="0" y="46863"/>
                    <a:pt x="0" y="104775"/>
                  </a:cubicBezTo>
                  <a:cubicBezTo>
                    <a:pt x="0" y="162687"/>
                    <a:pt x="46863" y="209550"/>
                    <a:pt x="104775" y="209550"/>
                  </a:cubicBezTo>
                  <a:cubicBezTo>
                    <a:pt x="162687" y="209550"/>
                    <a:pt x="209550" y="162687"/>
                    <a:pt x="209550" y="104775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5"/>
          <p:cNvGrpSpPr/>
          <p:nvPr/>
        </p:nvGrpSpPr>
        <p:grpSpPr>
          <a:xfrm rot="-5400000">
            <a:off x="393829" y="6928017"/>
            <a:ext cx="503034" cy="435642"/>
            <a:chOff x="0" y="0"/>
            <a:chExt cx="836000" cy="7240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36041" cy="723900"/>
            </a:xfrm>
            <a:custGeom>
              <a:avLst/>
              <a:gdLst/>
              <a:ahLst/>
              <a:cxnLst/>
              <a:rect l="l" t="t" r="r" b="b"/>
              <a:pathLst>
                <a:path w="836041" h="723900">
                  <a:moveTo>
                    <a:pt x="836041" y="361950"/>
                  </a:moveTo>
                  <a:lnTo>
                    <a:pt x="654939" y="0"/>
                  </a:lnTo>
                  <a:lnTo>
                    <a:pt x="180975" y="0"/>
                  </a:lnTo>
                  <a:lnTo>
                    <a:pt x="0" y="361950"/>
                  </a:lnTo>
                  <a:lnTo>
                    <a:pt x="180975" y="723900"/>
                  </a:lnTo>
                  <a:lnTo>
                    <a:pt x="654939" y="723900"/>
                  </a:lnTo>
                  <a:close/>
                </a:path>
              </a:pathLst>
            </a:custGeom>
            <a:solidFill>
              <a:srgbClr val="7CBEFF">
                <a:alpha val="35294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7" name="Group 37"/>
          <p:cNvGrpSpPr/>
          <p:nvPr/>
        </p:nvGrpSpPr>
        <p:grpSpPr>
          <a:xfrm rot="-5400000">
            <a:off x="1525867" y="9441841"/>
            <a:ext cx="646050" cy="562050"/>
            <a:chOff x="0" y="0"/>
            <a:chExt cx="861400" cy="749400"/>
          </a:xfrm>
        </p:grpSpPr>
        <p:sp>
          <p:nvSpPr>
            <p:cNvPr id="38" name="Freeform 38"/>
            <p:cNvSpPr/>
            <p:nvPr/>
          </p:nvSpPr>
          <p:spPr>
            <a:xfrm>
              <a:off x="63" y="0"/>
              <a:ext cx="861441" cy="749427"/>
            </a:xfrm>
            <a:custGeom>
              <a:avLst/>
              <a:gdLst/>
              <a:ahLst/>
              <a:cxnLst/>
              <a:rect l="l" t="t" r="r" b="b"/>
              <a:pathLst>
                <a:path w="861441" h="749427">
                  <a:moveTo>
                    <a:pt x="837248" y="380365"/>
                  </a:moveTo>
                  <a:lnTo>
                    <a:pt x="655511" y="18415"/>
                  </a:lnTo>
                  <a:lnTo>
                    <a:pt x="666814" y="12700"/>
                  </a:lnTo>
                  <a:lnTo>
                    <a:pt x="666814" y="25400"/>
                  </a:lnTo>
                  <a:lnTo>
                    <a:pt x="194501" y="25400"/>
                  </a:lnTo>
                  <a:lnTo>
                    <a:pt x="194501" y="12700"/>
                  </a:lnTo>
                  <a:lnTo>
                    <a:pt x="205804" y="18415"/>
                  </a:lnTo>
                  <a:lnTo>
                    <a:pt x="23940" y="380365"/>
                  </a:lnTo>
                  <a:lnTo>
                    <a:pt x="12637" y="374650"/>
                  </a:lnTo>
                  <a:lnTo>
                    <a:pt x="23940" y="368935"/>
                  </a:lnTo>
                  <a:lnTo>
                    <a:pt x="205804" y="730885"/>
                  </a:lnTo>
                  <a:lnTo>
                    <a:pt x="194501" y="736600"/>
                  </a:lnTo>
                  <a:lnTo>
                    <a:pt x="194501" y="723900"/>
                  </a:lnTo>
                  <a:lnTo>
                    <a:pt x="666814" y="723900"/>
                  </a:lnTo>
                  <a:lnTo>
                    <a:pt x="666814" y="736600"/>
                  </a:lnTo>
                  <a:lnTo>
                    <a:pt x="655511" y="730885"/>
                  </a:lnTo>
                  <a:lnTo>
                    <a:pt x="837375" y="368935"/>
                  </a:lnTo>
                  <a:lnTo>
                    <a:pt x="848678" y="374650"/>
                  </a:lnTo>
                  <a:lnTo>
                    <a:pt x="837375" y="380365"/>
                  </a:lnTo>
                  <a:moveTo>
                    <a:pt x="860108" y="368935"/>
                  </a:moveTo>
                  <a:cubicBezTo>
                    <a:pt x="861886" y="372491"/>
                    <a:pt x="861886" y="376809"/>
                    <a:pt x="860108" y="380365"/>
                  </a:cubicBezTo>
                  <a:lnTo>
                    <a:pt x="678117" y="742442"/>
                  </a:lnTo>
                  <a:cubicBezTo>
                    <a:pt x="675958" y="746760"/>
                    <a:pt x="671513" y="749427"/>
                    <a:pt x="666814" y="749427"/>
                  </a:cubicBezTo>
                  <a:lnTo>
                    <a:pt x="194501" y="749427"/>
                  </a:lnTo>
                  <a:cubicBezTo>
                    <a:pt x="189675" y="749427"/>
                    <a:pt x="185357" y="746760"/>
                    <a:pt x="183198" y="742442"/>
                  </a:cubicBezTo>
                  <a:lnTo>
                    <a:pt x="1334" y="380365"/>
                  </a:lnTo>
                  <a:cubicBezTo>
                    <a:pt x="-444" y="376809"/>
                    <a:pt x="-444" y="372491"/>
                    <a:pt x="1334" y="368935"/>
                  </a:cubicBezTo>
                  <a:lnTo>
                    <a:pt x="183071" y="6985"/>
                  </a:lnTo>
                  <a:cubicBezTo>
                    <a:pt x="185230" y="2667"/>
                    <a:pt x="189675" y="0"/>
                    <a:pt x="194374" y="0"/>
                  </a:cubicBezTo>
                  <a:lnTo>
                    <a:pt x="666814" y="0"/>
                  </a:lnTo>
                  <a:cubicBezTo>
                    <a:pt x="671640" y="0"/>
                    <a:pt x="675958" y="2667"/>
                    <a:pt x="678117" y="6985"/>
                  </a:cubicBezTo>
                  <a:lnTo>
                    <a:pt x="859981" y="368935"/>
                  </a:ln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706863" y="589123"/>
            <a:ext cx="15225150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 dirty="0" err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Metodologia</a:t>
            </a:r>
            <a:r>
              <a:rPr lang="en-US" sz="6000" b="1" dirty="0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6000" b="1" dirty="0" err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cercet</a:t>
            </a:r>
            <a:r>
              <a:rPr lang="ro-RO" sz="6000" b="1" dirty="0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ării</a:t>
            </a:r>
            <a:endParaRPr lang="en-US" sz="6000" b="1" dirty="0">
              <a:solidFill>
                <a:srgbClr val="353552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0600125" y="2411015"/>
            <a:ext cx="6169950" cy="1017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799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Construirea indicilor compoziți de resurse și rezultate.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591844" y="4099068"/>
            <a:ext cx="6169950" cy="1541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799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Integrarea rezultatelor în două dashboarduri interactive pentru suport decizional.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619232" y="6128568"/>
            <a:ext cx="6169950" cy="1017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799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Gruparea spitalelor de bază în clustere omogene prin k-means.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600125" y="7930515"/>
            <a:ext cx="6169950" cy="1017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799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Evaluarea eficienței relative pe sub-eșantionul de 65 spitale.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69158" y="4868368"/>
            <a:ext cx="2566950" cy="2080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20"/>
              </a:lnSpc>
            </a:pPr>
            <a:r>
              <a:rPr lang="en-US" sz="4000" b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Sistem Decizional Integrat</a:t>
            </a:r>
          </a:p>
        </p:txBody>
      </p:sp>
      <p:sp>
        <p:nvSpPr>
          <p:cNvPr id="45" name="AutoShape 45"/>
          <p:cNvSpPr/>
          <p:nvPr/>
        </p:nvSpPr>
        <p:spPr>
          <a:xfrm flipV="1">
            <a:off x="1952633" y="2955038"/>
            <a:ext cx="2477534" cy="1999055"/>
          </a:xfrm>
          <a:prstGeom prst="line">
            <a:avLst/>
          </a:prstGeom>
          <a:ln w="9525" cap="rnd">
            <a:solidFill>
              <a:srgbClr val="35355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6" name="AutoShape 46"/>
          <p:cNvSpPr/>
          <p:nvPr/>
        </p:nvSpPr>
        <p:spPr>
          <a:xfrm>
            <a:off x="1952633" y="6948628"/>
            <a:ext cx="2477534" cy="1537060"/>
          </a:xfrm>
          <a:prstGeom prst="line">
            <a:avLst/>
          </a:prstGeom>
          <a:ln w="9525" cap="rnd">
            <a:solidFill>
              <a:srgbClr val="35355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7" name="AutoShape 47"/>
          <p:cNvSpPr/>
          <p:nvPr/>
        </p:nvSpPr>
        <p:spPr>
          <a:xfrm flipV="1">
            <a:off x="1952633" y="4798588"/>
            <a:ext cx="2477534" cy="155505"/>
          </a:xfrm>
          <a:prstGeom prst="line">
            <a:avLst/>
          </a:prstGeom>
          <a:ln w="9525" cap="rnd">
            <a:solidFill>
              <a:srgbClr val="35355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8" name="AutoShape 48"/>
          <p:cNvSpPr/>
          <p:nvPr/>
        </p:nvSpPr>
        <p:spPr>
          <a:xfrm flipV="1">
            <a:off x="1952633" y="6642138"/>
            <a:ext cx="2477534" cy="306490"/>
          </a:xfrm>
          <a:prstGeom prst="line">
            <a:avLst/>
          </a:prstGeom>
          <a:ln w="9525" cap="rnd">
            <a:solidFill>
              <a:srgbClr val="35355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Box 49"/>
          <p:cNvSpPr txBox="1"/>
          <p:nvPr/>
        </p:nvSpPr>
        <p:spPr>
          <a:xfrm>
            <a:off x="6021175" y="1970198"/>
            <a:ext cx="3612492" cy="1889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7"/>
              </a:lnSpc>
            </a:pPr>
            <a:r>
              <a:rPr lang="en-US" sz="3600" b="1" dirty="0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Analiza </a:t>
            </a:r>
            <a:r>
              <a:rPr lang="en-US" sz="3600" b="1" dirty="0" err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componentelor</a:t>
            </a:r>
            <a:r>
              <a:rPr lang="en-US" sz="3600" b="1" dirty="0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600" b="1" dirty="0" err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principale</a:t>
            </a:r>
            <a:endParaRPr lang="en-US" sz="3600" b="1" dirty="0">
              <a:solidFill>
                <a:srgbClr val="353552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5898495" y="4234513"/>
            <a:ext cx="4388550" cy="1260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7"/>
              </a:lnSpc>
            </a:pPr>
            <a:r>
              <a:rPr lang="en-US" sz="3600" b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Tablouri de bord Power BI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021175" y="6285898"/>
            <a:ext cx="4388550" cy="632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7"/>
              </a:lnSpc>
            </a:pPr>
            <a:r>
              <a:rPr lang="en-US" sz="3600" b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Analiza cluster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021175" y="7804023"/>
            <a:ext cx="4388550" cy="1260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7"/>
              </a:lnSpc>
            </a:pPr>
            <a:r>
              <a:rPr lang="en-US" sz="3600" b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DEA orientat pe outputuri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4430158" y="2451338"/>
            <a:ext cx="1162800" cy="1007400"/>
            <a:chOff x="0" y="0"/>
            <a:chExt cx="1550400" cy="13432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550416" cy="1343152"/>
            </a:xfrm>
            <a:custGeom>
              <a:avLst/>
              <a:gdLst/>
              <a:ahLst/>
              <a:cxnLst/>
              <a:rect l="l" t="t" r="r" b="b"/>
              <a:pathLst>
                <a:path w="1550416" h="1343152">
                  <a:moveTo>
                    <a:pt x="0" y="671576"/>
                  </a:moveTo>
                  <a:lnTo>
                    <a:pt x="335788" y="0"/>
                  </a:lnTo>
                  <a:lnTo>
                    <a:pt x="1214628" y="0"/>
                  </a:lnTo>
                  <a:lnTo>
                    <a:pt x="1550416" y="671576"/>
                  </a:lnTo>
                  <a:lnTo>
                    <a:pt x="1214628" y="1343152"/>
                  </a:lnTo>
                  <a:lnTo>
                    <a:pt x="335788" y="1343152"/>
                  </a:lnTo>
                  <a:close/>
                </a:path>
              </a:pathLst>
            </a:custGeom>
            <a:solidFill>
              <a:srgbClr val="7CBE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4430158" y="4294888"/>
            <a:ext cx="1162800" cy="1007400"/>
            <a:chOff x="0" y="0"/>
            <a:chExt cx="1550400" cy="13432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550416" cy="1343152"/>
            </a:xfrm>
            <a:custGeom>
              <a:avLst/>
              <a:gdLst/>
              <a:ahLst/>
              <a:cxnLst/>
              <a:rect l="l" t="t" r="r" b="b"/>
              <a:pathLst>
                <a:path w="1550416" h="1343152">
                  <a:moveTo>
                    <a:pt x="0" y="671576"/>
                  </a:moveTo>
                  <a:lnTo>
                    <a:pt x="335788" y="0"/>
                  </a:lnTo>
                  <a:lnTo>
                    <a:pt x="1214628" y="0"/>
                  </a:lnTo>
                  <a:lnTo>
                    <a:pt x="1550416" y="671576"/>
                  </a:lnTo>
                  <a:lnTo>
                    <a:pt x="1214628" y="1343152"/>
                  </a:lnTo>
                  <a:lnTo>
                    <a:pt x="335788" y="1343152"/>
                  </a:lnTo>
                  <a:close/>
                </a:path>
              </a:pathLst>
            </a:custGeom>
            <a:solidFill>
              <a:srgbClr val="7CBE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4430158" y="6138438"/>
            <a:ext cx="1162800" cy="1007400"/>
            <a:chOff x="0" y="0"/>
            <a:chExt cx="1550400" cy="134320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550416" cy="1343152"/>
            </a:xfrm>
            <a:custGeom>
              <a:avLst/>
              <a:gdLst/>
              <a:ahLst/>
              <a:cxnLst/>
              <a:rect l="l" t="t" r="r" b="b"/>
              <a:pathLst>
                <a:path w="1550416" h="1343152">
                  <a:moveTo>
                    <a:pt x="0" y="671576"/>
                  </a:moveTo>
                  <a:lnTo>
                    <a:pt x="335788" y="0"/>
                  </a:lnTo>
                  <a:lnTo>
                    <a:pt x="1214628" y="0"/>
                  </a:lnTo>
                  <a:lnTo>
                    <a:pt x="1550416" y="671576"/>
                  </a:lnTo>
                  <a:lnTo>
                    <a:pt x="1214628" y="1343152"/>
                  </a:lnTo>
                  <a:lnTo>
                    <a:pt x="335788" y="1343152"/>
                  </a:lnTo>
                  <a:close/>
                </a:path>
              </a:pathLst>
            </a:custGeom>
            <a:solidFill>
              <a:srgbClr val="7CBE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4430158" y="7981988"/>
            <a:ext cx="1162800" cy="1007400"/>
            <a:chOff x="0" y="0"/>
            <a:chExt cx="1550400" cy="13432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550416" cy="1343152"/>
            </a:xfrm>
            <a:custGeom>
              <a:avLst/>
              <a:gdLst/>
              <a:ahLst/>
              <a:cxnLst/>
              <a:rect l="l" t="t" r="r" b="b"/>
              <a:pathLst>
                <a:path w="1550416" h="1343152">
                  <a:moveTo>
                    <a:pt x="0" y="671576"/>
                  </a:moveTo>
                  <a:lnTo>
                    <a:pt x="335788" y="0"/>
                  </a:lnTo>
                  <a:lnTo>
                    <a:pt x="1214628" y="0"/>
                  </a:lnTo>
                  <a:lnTo>
                    <a:pt x="1550416" y="671576"/>
                  </a:lnTo>
                  <a:lnTo>
                    <a:pt x="1214628" y="1343152"/>
                  </a:lnTo>
                  <a:lnTo>
                    <a:pt x="335788" y="1343152"/>
                  </a:lnTo>
                  <a:close/>
                </a:path>
              </a:pathLst>
            </a:custGeom>
            <a:solidFill>
              <a:srgbClr val="7CBE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1" name="Freeform 61"/>
          <p:cNvSpPr/>
          <p:nvPr/>
        </p:nvSpPr>
        <p:spPr>
          <a:xfrm>
            <a:off x="4630356" y="2655034"/>
            <a:ext cx="762418" cy="624932"/>
          </a:xfrm>
          <a:custGeom>
            <a:avLst/>
            <a:gdLst/>
            <a:ahLst/>
            <a:cxnLst/>
            <a:rect l="l" t="t" r="r" b="b"/>
            <a:pathLst>
              <a:path w="762418" h="624932">
                <a:moveTo>
                  <a:pt x="0" y="0"/>
                </a:moveTo>
                <a:lnTo>
                  <a:pt x="762418" y="0"/>
                </a:lnTo>
                <a:lnTo>
                  <a:pt x="762418" y="624932"/>
                </a:lnTo>
                <a:lnTo>
                  <a:pt x="0" y="6249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2" name="Freeform 62"/>
          <p:cNvSpPr/>
          <p:nvPr/>
        </p:nvSpPr>
        <p:spPr>
          <a:xfrm>
            <a:off x="4611732" y="6335674"/>
            <a:ext cx="799624" cy="612954"/>
          </a:xfrm>
          <a:custGeom>
            <a:avLst/>
            <a:gdLst/>
            <a:ahLst/>
            <a:cxnLst/>
            <a:rect l="l" t="t" r="r" b="b"/>
            <a:pathLst>
              <a:path w="799624" h="612954">
                <a:moveTo>
                  <a:pt x="0" y="0"/>
                </a:moveTo>
                <a:lnTo>
                  <a:pt x="799624" y="0"/>
                </a:lnTo>
                <a:lnTo>
                  <a:pt x="799624" y="612954"/>
                </a:lnTo>
                <a:lnTo>
                  <a:pt x="0" y="6129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3" name="Freeform 63"/>
          <p:cNvSpPr/>
          <p:nvPr/>
        </p:nvSpPr>
        <p:spPr>
          <a:xfrm>
            <a:off x="4540116" y="4478750"/>
            <a:ext cx="852658" cy="664750"/>
          </a:xfrm>
          <a:custGeom>
            <a:avLst/>
            <a:gdLst/>
            <a:ahLst/>
            <a:cxnLst/>
            <a:rect l="l" t="t" r="r" b="b"/>
            <a:pathLst>
              <a:path w="852658" h="664750">
                <a:moveTo>
                  <a:pt x="0" y="0"/>
                </a:moveTo>
                <a:lnTo>
                  <a:pt x="852658" y="0"/>
                </a:lnTo>
                <a:lnTo>
                  <a:pt x="852658" y="664750"/>
                </a:lnTo>
                <a:lnTo>
                  <a:pt x="0" y="6647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4" name="Freeform 64"/>
          <p:cNvSpPr/>
          <p:nvPr/>
        </p:nvSpPr>
        <p:spPr>
          <a:xfrm>
            <a:off x="4611732" y="8069763"/>
            <a:ext cx="749418" cy="748020"/>
          </a:xfrm>
          <a:custGeom>
            <a:avLst/>
            <a:gdLst/>
            <a:ahLst/>
            <a:cxnLst/>
            <a:rect l="l" t="t" r="r" b="b"/>
            <a:pathLst>
              <a:path w="749418" h="748020">
                <a:moveTo>
                  <a:pt x="0" y="0"/>
                </a:moveTo>
                <a:lnTo>
                  <a:pt x="749418" y="0"/>
                </a:lnTo>
                <a:lnTo>
                  <a:pt x="749418" y="748020"/>
                </a:lnTo>
                <a:lnTo>
                  <a:pt x="0" y="748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960270" y="-1480440"/>
            <a:ext cx="2520733" cy="2187169"/>
          </a:xfrm>
          <a:custGeom>
            <a:avLst/>
            <a:gdLst/>
            <a:ahLst/>
            <a:cxnLst/>
            <a:rect l="l" t="t" r="r" b="b"/>
            <a:pathLst>
              <a:path w="2520733" h="2187169">
                <a:moveTo>
                  <a:pt x="0" y="0"/>
                </a:moveTo>
                <a:lnTo>
                  <a:pt x="2520734" y="0"/>
                </a:lnTo>
                <a:lnTo>
                  <a:pt x="2520734" y="2187170"/>
                </a:lnTo>
                <a:lnTo>
                  <a:pt x="0" y="21871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957746" y="-871562"/>
            <a:ext cx="1834998" cy="1589342"/>
          </a:xfrm>
          <a:custGeom>
            <a:avLst/>
            <a:gdLst/>
            <a:ahLst/>
            <a:cxnLst/>
            <a:rect l="l" t="t" r="r" b="b"/>
            <a:pathLst>
              <a:path w="1834998" h="1589342">
                <a:moveTo>
                  <a:pt x="0" y="0"/>
                </a:moveTo>
                <a:lnTo>
                  <a:pt x="1834998" y="0"/>
                </a:lnTo>
                <a:lnTo>
                  <a:pt x="1834998" y="1589342"/>
                </a:lnTo>
                <a:lnTo>
                  <a:pt x="0" y="15893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5328016" y="-219026"/>
            <a:ext cx="1189313" cy="1031935"/>
          </a:xfrm>
          <a:custGeom>
            <a:avLst/>
            <a:gdLst/>
            <a:ahLst/>
            <a:cxnLst/>
            <a:rect l="l" t="t" r="r" b="b"/>
            <a:pathLst>
              <a:path w="1189313" h="1031935">
                <a:moveTo>
                  <a:pt x="0" y="0"/>
                </a:moveTo>
                <a:lnTo>
                  <a:pt x="1189314" y="0"/>
                </a:lnTo>
                <a:lnTo>
                  <a:pt x="1189314" y="1031936"/>
                </a:lnTo>
                <a:lnTo>
                  <a:pt x="0" y="1031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2177879" y="-243469"/>
            <a:ext cx="633450" cy="551250"/>
            <a:chOff x="0" y="0"/>
            <a:chExt cx="844600" cy="735000"/>
          </a:xfrm>
        </p:grpSpPr>
        <p:sp>
          <p:nvSpPr>
            <p:cNvPr id="6" name="Freeform 6"/>
            <p:cNvSpPr/>
            <p:nvPr/>
          </p:nvSpPr>
          <p:spPr>
            <a:xfrm>
              <a:off x="63" y="0"/>
              <a:ext cx="844550" cy="734949"/>
            </a:xfrm>
            <a:custGeom>
              <a:avLst/>
              <a:gdLst/>
              <a:ahLst/>
              <a:cxnLst/>
              <a:rect l="l" t="t" r="r" b="b"/>
              <a:pathLst>
                <a:path w="844550" h="734949">
                  <a:moveTo>
                    <a:pt x="1334" y="361823"/>
                  </a:moveTo>
                  <a:lnTo>
                    <a:pt x="179515" y="6985"/>
                  </a:lnTo>
                  <a:cubicBezTo>
                    <a:pt x="181674" y="2667"/>
                    <a:pt x="186119" y="0"/>
                    <a:pt x="190818" y="0"/>
                  </a:cubicBezTo>
                  <a:lnTo>
                    <a:pt x="653606" y="0"/>
                  </a:lnTo>
                  <a:cubicBezTo>
                    <a:pt x="658432" y="0"/>
                    <a:pt x="662750" y="2667"/>
                    <a:pt x="664909" y="6985"/>
                  </a:cubicBezTo>
                  <a:lnTo>
                    <a:pt x="843217" y="361823"/>
                  </a:lnTo>
                  <a:cubicBezTo>
                    <a:pt x="844995" y="365379"/>
                    <a:pt x="844995" y="369697"/>
                    <a:pt x="843217" y="373253"/>
                  </a:cubicBezTo>
                  <a:lnTo>
                    <a:pt x="664909" y="727964"/>
                  </a:lnTo>
                  <a:cubicBezTo>
                    <a:pt x="662750" y="732282"/>
                    <a:pt x="658305" y="734949"/>
                    <a:pt x="653606" y="734949"/>
                  </a:cubicBezTo>
                  <a:lnTo>
                    <a:pt x="190818" y="734949"/>
                  </a:lnTo>
                  <a:cubicBezTo>
                    <a:pt x="185992" y="734949"/>
                    <a:pt x="181674" y="732282"/>
                    <a:pt x="179515" y="727964"/>
                  </a:cubicBezTo>
                  <a:lnTo>
                    <a:pt x="1334" y="373253"/>
                  </a:lnTo>
                  <a:cubicBezTo>
                    <a:pt x="-444" y="369697"/>
                    <a:pt x="-444" y="365379"/>
                    <a:pt x="1334" y="361823"/>
                  </a:cubicBezTo>
                  <a:moveTo>
                    <a:pt x="24067" y="373253"/>
                  </a:moveTo>
                  <a:lnTo>
                    <a:pt x="12637" y="367538"/>
                  </a:lnTo>
                  <a:lnTo>
                    <a:pt x="23940" y="361823"/>
                  </a:lnTo>
                  <a:lnTo>
                    <a:pt x="202248" y="716661"/>
                  </a:lnTo>
                  <a:lnTo>
                    <a:pt x="190945" y="722376"/>
                  </a:lnTo>
                  <a:lnTo>
                    <a:pt x="190945" y="709676"/>
                  </a:lnTo>
                  <a:lnTo>
                    <a:pt x="653606" y="709676"/>
                  </a:lnTo>
                  <a:lnTo>
                    <a:pt x="653606" y="722376"/>
                  </a:lnTo>
                  <a:lnTo>
                    <a:pt x="642303" y="716661"/>
                  </a:lnTo>
                  <a:lnTo>
                    <a:pt x="820484" y="361823"/>
                  </a:lnTo>
                  <a:lnTo>
                    <a:pt x="831787" y="367538"/>
                  </a:lnTo>
                  <a:lnTo>
                    <a:pt x="820484" y="373253"/>
                  </a:lnTo>
                  <a:lnTo>
                    <a:pt x="642303" y="18415"/>
                  </a:lnTo>
                  <a:lnTo>
                    <a:pt x="653606" y="12700"/>
                  </a:lnTo>
                  <a:lnTo>
                    <a:pt x="653606" y="25400"/>
                  </a:lnTo>
                  <a:lnTo>
                    <a:pt x="190818" y="25400"/>
                  </a:lnTo>
                  <a:lnTo>
                    <a:pt x="190818" y="12700"/>
                  </a:lnTo>
                  <a:lnTo>
                    <a:pt x="202121" y="18415"/>
                  </a:lnTo>
                  <a:lnTo>
                    <a:pt x="23940" y="373253"/>
                  </a:lnTo>
                  <a:close/>
                </a:path>
              </a:pathLst>
            </a:custGeom>
            <a:solidFill>
              <a:srgbClr val="AFE0D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AutoShape 7"/>
          <p:cNvSpPr/>
          <p:nvPr/>
        </p:nvSpPr>
        <p:spPr>
          <a:xfrm rot="199407">
            <a:off x="16500667" y="296942"/>
            <a:ext cx="328603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rot="6766566">
            <a:off x="16670859" y="110610"/>
            <a:ext cx="427375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17024250" y="806050"/>
            <a:ext cx="157200" cy="157200"/>
            <a:chOff x="0" y="0"/>
            <a:chExt cx="209600" cy="2096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0" y="104775"/>
                  </a:moveTo>
                  <a:cubicBezTo>
                    <a:pt x="0" y="46863"/>
                    <a:pt x="46863" y="0"/>
                    <a:pt x="104775" y="0"/>
                  </a:cubicBezTo>
                  <a:cubicBezTo>
                    <a:pt x="162687" y="0"/>
                    <a:pt x="209550" y="46863"/>
                    <a:pt x="209550" y="104775"/>
                  </a:cubicBezTo>
                  <a:cubicBezTo>
                    <a:pt x="209550" y="162687"/>
                    <a:pt x="162687" y="209550"/>
                    <a:pt x="104775" y="209550"/>
                  </a:cubicBezTo>
                  <a:cubicBezTo>
                    <a:pt x="46863" y="209550"/>
                    <a:pt x="0" y="162687"/>
                    <a:pt x="0" y="104775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AutoShape 11"/>
          <p:cNvSpPr/>
          <p:nvPr/>
        </p:nvSpPr>
        <p:spPr>
          <a:xfrm rot="7221008">
            <a:off x="18106624" y="-1349160"/>
            <a:ext cx="1128971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18868350" y="-1897300"/>
            <a:ext cx="157200" cy="157200"/>
            <a:chOff x="0" y="0"/>
            <a:chExt cx="209600" cy="2096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0" y="104775"/>
                  </a:moveTo>
                  <a:cubicBezTo>
                    <a:pt x="0" y="46863"/>
                    <a:pt x="46863" y="0"/>
                    <a:pt x="104775" y="0"/>
                  </a:cubicBezTo>
                  <a:cubicBezTo>
                    <a:pt x="162687" y="0"/>
                    <a:pt x="209550" y="46863"/>
                    <a:pt x="209550" y="104775"/>
                  </a:cubicBezTo>
                  <a:cubicBezTo>
                    <a:pt x="209550" y="162687"/>
                    <a:pt x="162687" y="209550"/>
                    <a:pt x="104775" y="209550"/>
                  </a:cubicBezTo>
                  <a:cubicBezTo>
                    <a:pt x="46863" y="209550"/>
                    <a:pt x="0" y="162687"/>
                    <a:pt x="0" y="104775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7287304" y="1135256"/>
            <a:ext cx="614400" cy="532200"/>
            <a:chOff x="0" y="0"/>
            <a:chExt cx="819200" cy="7096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9150" cy="709549"/>
            </a:xfrm>
            <a:custGeom>
              <a:avLst/>
              <a:gdLst/>
              <a:ahLst/>
              <a:cxnLst/>
              <a:rect l="l" t="t" r="r" b="b"/>
              <a:pathLst>
                <a:path w="819150" h="709549">
                  <a:moveTo>
                    <a:pt x="0" y="354838"/>
                  </a:moveTo>
                  <a:lnTo>
                    <a:pt x="177419" y="0"/>
                  </a:lnTo>
                  <a:lnTo>
                    <a:pt x="641858" y="0"/>
                  </a:lnTo>
                  <a:lnTo>
                    <a:pt x="819150" y="354838"/>
                  </a:lnTo>
                  <a:lnTo>
                    <a:pt x="641858" y="709549"/>
                  </a:lnTo>
                  <a:lnTo>
                    <a:pt x="177419" y="709549"/>
                  </a:lnTo>
                  <a:close/>
                </a:path>
              </a:pathLst>
            </a:custGeom>
            <a:solidFill>
              <a:srgbClr val="7CBEFF">
                <a:alpha val="35294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Freeform 16"/>
          <p:cNvSpPr/>
          <p:nvPr/>
        </p:nvSpPr>
        <p:spPr>
          <a:xfrm>
            <a:off x="-887614" y="5746267"/>
            <a:ext cx="1733224" cy="1501193"/>
          </a:xfrm>
          <a:custGeom>
            <a:avLst/>
            <a:gdLst/>
            <a:ahLst/>
            <a:cxnLst/>
            <a:rect l="l" t="t" r="r" b="b"/>
            <a:pathLst>
              <a:path w="1733224" h="1501193">
                <a:moveTo>
                  <a:pt x="0" y="0"/>
                </a:moveTo>
                <a:lnTo>
                  <a:pt x="1733224" y="0"/>
                </a:lnTo>
                <a:lnTo>
                  <a:pt x="1733224" y="1501193"/>
                </a:lnTo>
                <a:lnTo>
                  <a:pt x="0" y="15011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6927779" y="9255065"/>
            <a:ext cx="1189313" cy="1031935"/>
          </a:xfrm>
          <a:custGeom>
            <a:avLst/>
            <a:gdLst/>
            <a:ahLst/>
            <a:cxnLst/>
            <a:rect l="l" t="t" r="r" b="b"/>
            <a:pathLst>
              <a:path w="1189313" h="1031935">
                <a:moveTo>
                  <a:pt x="0" y="0"/>
                </a:moveTo>
                <a:lnTo>
                  <a:pt x="1189313" y="0"/>
                </a:lnTo>
                <a:lnTo>
                  <a:pt x="1189313" y="1031935"/>
                </a:lnTo>
                <a:lnTo>
                  <a:pt x="0" y="10319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/>
          <p:nvPr/>
        </p:nvGrpSpPr>
        <p:grpSpPr>
          <a:xfrm rot="-10800000">
            <a:off x="17737200" y="10001750"/>
            <a:ext cx="204600" cy="204600"/>
            <a:chOff x="0" y="0"/>
            <a:chExt cx="272800" cy="27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72796" cy="272796"/>
            </a:xfrm>
            <a:custGeom>
              <a:avLst/>
              <a:gdLst/>
              <a:ahLst/>
              <a:cxnLst/>
              <a:rect l="l" t="t" r="r" b="b"/>
              <a:pathLst>
                <a:path w="272796" h="272796">
                  <a:moveTo>
                    <a:pt x="272796" y="136398"/>
                  </a:moveTo>
                  <a:cubicBezTo>
                    <a:pt x="272796" y="61087"/>
                    <a:pt x="211709" y="0"/>
                    <a:pt x="136398" y="0"/>
                  </a:cubicBezTo>
                  <a:cubicBezTo>
                    <a:pt x="61087" y="0"/>
                    <a:pt x="0" y="61087"/>
                    <a:pt x="0" y="136398"/>
                  </a:cubicBezTo>
                  <a:cubicBezTo>
                    <a:pt x="0" y="211709"/>
                    <a:pt x="61087" y="272796"/>
                    <a:pt x="136398" y="272796"/>
                  </a:cubicBezTo>
                  <a:cubicBezTo>
                    <a:pt x="211709" y="272796"/>
                    <a:pt x="272796" y="211709"/>
                    <a:pt x="272796" y="136398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AutoShape 20"/>
          <p:cNvSpPr/>
          <p:nvPr/>
        </p:nvSpPr>
        <p:spPr>
          <a:xfrm>
            <a:off x="16132186" y="9761507"/>
            <a:ext cx="825450" cy="1905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/>
          <p:nvPr/>
        </p:nvGrpSpPr>
        <p:grpSpPr>
          <a:xfrm rot="-10800000">
            <a:off x="17718045" y="9097865"/>
            <a:ext cx="157200" cy="157200"/>
            <a:chOff x="0" y="0"/>
            <a:chExt cx="209600" cy="2096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209550" y="104775"/>
                  </a:moveTo>
                  <a:cubicBezTo>
                    <a:pt x="209550" y="46863"/>
                    <a:pt x="162687" y="0"/>
                    <a:pt x="104775" y="0"/>
                  </a:cubicBezTo>
                  <a:cubicBezTo>
                    <a:pt x="46863" y="0"/>
                    <a:pt x="0" y="46863"/>
                    <a:pt x="0" y="104775"/>
                  </a:cubicBezTo>
                  <a:cubicBezTo>
                    <a:pt x="0" y="162687"/>
                    <a:pt x="46863" y="209550"/>
                    <a:pt x="104775" y="209550"/>
                  </a:cubicBezTo>
                  <a:cubicBezTo>
                    <a:pt x="162687" y="209550"/>
                    <a:pt x="209550" y="162687"/>
                    <a:pt x="209550" y="104775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92973" y="2197452"/>
            <a:ext cx="8299483" cy="6857504"/>
            <a:chOff x="0" y="0"/>
            <a:chExt cx="2185872" cy="180609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185872" cy="1806092"/>
            </a:xfrm>
            <a:custGeom>
              <a:avLst/>
              <a:gdLst/>
              <a:ahLst/>
              <a:cxnLst/>
              <a:rect l="l" t="t" r="r" b="b"/>
              <a:pathLst>
                <a:path w="2185872" h="1806092">
                  <a:moveTo>
                    <a:pt x="0" y="0"/>
                  </a:moveTo>
                  <a:lnTo>
                    <a:pt x="2185872" y="0"/>
                  </a:lnTo>
                  <a:lnTo>
                    <a:pt x="2185872" y="1806092"/>
                  </a:lnTo>
                  <a:lnTo>
                    <a:pt x="0" y="1806092"/>
                  </a:lnTo>
                  <a:close/>
                </a:path>
              </a:pathLst>
            </a:custGeom>
            <a:ln w="38100" cap="sq">
              <a:solidFill>
                <a:srgbClr val="5BA3F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2185872" cy="1844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672321" y="2200702"/>
            <a:ext cx="7995895" cy="6854254"/>
            <a:chOff x="0" y="0"/>
            <a:chExt cx="2105915" cy="180523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105915" cy="1805236"/>
            </a:xfrm>
            <a:custGeom>
              <a:avLst/>
              <a:gdLst/>
              <a:ahLst/>
              <a:cxnLst/>
              <a:rect l="l" t="t" r="r" b="b"/>
              <a:pathLst>
                <a:path w="2105915" h="1805236">
                  <a:moveTo>
                    <a:pt x="0" y="0"/>
                  </a:moveTo>
                  <a:lnTo>
                    <a:pt x="2105915" y="0"/>
                  </a:lnTo>
                  <a:lnTo>
                    <a:pt x="2105915" y="1805236"/>
                  </a:lnTo>
                  <a:lnTo>
                    <a:pt x="0" y="1805236"/>
                  </a:lnTo>
                  <a:close/>
                </a:path>
              </a:pathLst>
            </a:custGeom>
            <a:ln w="38100" cap="sq">
              <a:solidFill>
                <a:srgbClr val="5BA3F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2105915" cy="18433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221832" y="3421899"/>
            <a:ext cx="7841765" cy="5732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799" spc="72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ACP a sintetizat variabilele în doi indici compoziți: i</a:t>
            </a:r>
            <a:r>
              <a:rPr lang="en-US" sz="2799" b="1" spc="72">
                <a:solidFill>
                  <a:srgbClr val="353552"/>
                </a:solidFill>
                <a:latin typeface="Catamaran Bold"/>
                <a:ea typeface="Catamaran Bold"/>
                <a:cs typeface="Catamaran Bold"/>
                <a:sym typeface="Catamaran Bold"/>
              </a:rPr>
              <a:t>ndicele de resurse și indicele de rezultate</a:t>
            </a:r>
          </a:p>
          <a:p>
            <a:pPr algn="just">
              <a:lnSpc>
                <a:spcPts val="4199"/>
              </a:lnSpc>
            </a:pPr>
            <a:r>
              <a:rPr lang="en-US" sz="2799" spc="72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-US" sz="2799" b="1" spc="72">
                <a:solidFill>
                  <a:srgbClr val="353552"/>
                </a:solidFill>
                <a:latin typeface="Catamaran Bold"/>
                <a:ea typeface="Catamaran Bold"/>
                <a:cs typeface="Catamaran Bold"/>
                <a:sym typeface="Catamaran Bold"/>
              </a:rPr>
              <a:t>KPI-uri</a:t>
            </a:r>
            <a:r>
              <a:rPr lang="en-US" sz="2799" spc="72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 calculate:</a:t>
            </a:r>
          </a:p>
          <a:p>
            <a:pPr marL="611987" lvl="1" indent="-305994" algn="just">
              <a:lnSpc>
                <a:spcPts val="4199"/>
              </a:lnSpc>
              <a:buFont typeface="Arial"/>
              <a:buChar char="•"/>
            </a:pPr>
            <a:r>
              <a:rPr lang="en-US" sz="2799" b="1" spc="72">
                <a:solidFill>
                  <a:srgbClr val="353552"/>
                </a:solidFill>
                <a:latin typeface="Catamaran Bold"/>
                <a:ea typeface="Catamaran Bold"/>
                <a:cs typeface="Catamaran Bold"/>
                <a:sym typeface="Catamaran Bold"/>
              </a:rPr>
              <a:t>DMS </a:t>
            </a:r>
            <a:r>
              <a:rPr lang="en-US" sz="2799" spc="72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= Zile spitalizare ÷ Pacienți tratați</a:t>
            </a:r>
          </a:p>
          <a:p>
            <a:pPr marL="612140" lvl="1" indent="-306070" algn="just">
              <a:lnSpc>
                <a:spcPts val="4199"/>
              </a:lnSpc>
              <a:buFont typeface="Arial"/>
              <a:buChar char="•"/>
            </a:pPr>
            <a:r>
              <a:rPr lang="en-US" sz="2799" b="1" spc="72">
                <a:solidFill>
                  <a:srgbClr val="353552"/>
                </a:solidFill>
                <a:latin typeface="Catamaran Bold"/>
                <a:ea typeface="Catamaran Bold"/>
                <a:cs typeface="Catamaran Bold"/>
                <a:sym typeface="Catamaran Bold"/>
              </a:rPr>
              <a:t>ROP (%) </a:t>
            </a:r>
            <a:r>
              <a:rPr lang="en-US" sz="2799" spc="72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= (Zile spitalizare ÷ Paturi × 365) × 100</a:t>
            </a:r>
          </a:p>
          <a:p>
            <a:pPr marL="611987" lvl="1" indent="-305994" algn="just">
              <a:lnSpc>
                <a:spcPts val="4199"/>
              </a:lnSpc>
              <a:buFont typeface="Arial"/>
              <a:buChar char="•"/>
            </a:pPr>
            <a:r>
              <a:rPr lang="en-US" sz="2799" b="1" spc="72">
                <a:solidFill>
                  <a:srgbClr val="353552"/>
                </a:solidFill>
                <a:latin typeface="Catamaran Bold"/>
                <a:ea typeface="Catamaran Bold"/>
                <a:cs typeface="Catamaran Bold"/>
                <a:sym typeface="Catamaran Bold"/>
              </a:rPr>
              <a:t>Cost/Pacient</a:t>
            </a:r>
            <a:r>
              <a:rPr lang="en-US" sz="2799" spc="72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 = Cheltuieli ÷ Pacienți tratați</a:t>
            </a:r>
          </a:p>
          <a:p>
            <a:pPr marL="611987" lvl="1" indent="-305994" algn="just">
              <a:lnSpc>
                <a:spcPts val="4199"/>
              </a:lnSpc>
              <a:buFont typeface="Arial"/>
              <a:buChar char="•"/>
            </a:pPr>
            <a:r>
              <a:rPr lang="en-US" sz="2799" b="1" spc="72">
                <a:solidFill>
                  <a:srgbClr val="353552"/>
                </a:solidFill>
                <a:latin typeface="Catamaran Bold"/>
                <a:ea typeface="Catamaran Bold"/>
                <a:cs typeface="Catamaran Bold"/>
                <a:sym typeface="Catamaran Bold"/>
              </a:rPr>
              <a:t>Cost/Zi</a:t>
            </a:r>
            <a:r>
              <a:rPr lang="en-US" sz="2799" spc="72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 = Cheltuieli ÷ Zile spitalizare</a:t>
            </a:r>
          </a:p>
          <a:p>
            <a:pPr marL="611987" lvl="1" indent="-305994" algn="just">
              <a:lnSpc>
                <a:spcPts val="4199"/>
              </a:lnSpc>
              <a:buFont typeface="Arial"/>
              <a:buChar char="•"/>
            </a:pPr>
            <a:r>
              <a:rPr lang="en-US" sz="2799" b="1" spc="72">
                <a:solidFill>
                  <a:srgbClr val="353552"/>
                </a:solidFill>
                <a:latin typeface="Catamaran Bold"/>
                <a:ea typeface="Catamaran Bold"/>
                <a:cs typeface="Catamaran Bold"/>
                <a:sym typeface="Catamaran Bold"/>
              </a:rPr>
              <a:t>Scor performanță</a:t>
            </a:r>
            <a:r>
              <a:rPr lang="en-US" sz="2799" spc="72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</a:p>
          <a:p>
            <a:pPr algn="just">
              <a:lnSpc>
                <a:spcPts val="4199"/>
              </a:lnSpc>
            </a:pPr>
            <a:r>
              <a:rPr lang="en-US" sz="2799" spc="72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Integrarea indicatorilor într-un tablou de bord</a:t>
            </a:r>
          </a:p>
          <a:p>
            <a:pPr algn="just">
              <a:lnSpc>
                <a:spcPts val="4199"/>
              </a:lnSpc>
            </a:pPr>
            <a:endParaRPr lang="en-US" sz="2799" spc="72">
              <a:solidFill>
                <a:srgbClr val="353552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879094" y="2404030"/>
            <a:ext cx="7213350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0"/>
              </a:lnSpc>
            </a:pPr>
            <a:r>
              <a:rPr lang="en-US" sz="4000" b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Performanță (330 spitale)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448966" y="787752"/>
            <a:ext cx="5752741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1" dirty="0" err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Etapele</a:t>
            </a:r>
            <a:r>
              <a:rPr lang="en-US" sz="5000" b="1" dirty="0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5000" b="1" dirty="0" err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cercetării</a:t>
            </a:r>
            <a:endParaRPr lang="en-US" sz="5000" b="1" dirty="0">
              <a:solidFill>
                <a:srgbClr val="353552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0688354" y="2355180"/>
            <a:ext cx="7213350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0"/>
              </a:lnSpc>
            </a:pPr>
            <a:r>
              <a:rPr lang="en-US" sz="4000" b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Eficiență (65 spitale)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584368" y="2419931"/>
            <a:ext cx="7841765" cy="6779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endParaRPr/>
          </a:p>
          <a:p>
            <a:pPr algn="just">
              <a:lnSpc>
                <a:spcPts val="4199"/>
              </a:lnSpc>
            </a:pPr>
            <a:endParaRPr/>
          </a:p>
          <a:p>
            <a:pPr marL="611987" lvl="1" indent="-305994" algn="just">
              <a:lnSpc>
                <a:spcPts val="4199"/>
              </a:lnSpc>
              <a:buFont typeface="Arial"/>
              <a:buChar char="•"/>
            </a:pPr>
            <a:r>
              <a:rPr lang="en-US" sz="2799" spc="145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Din </a:t>
            </a:r>
            <a:r>
              <a:rPr lang="en-US" sz="2799" b="1" spc="145">
                <a:solidFill>
                  <a:srgbClr val="353552"/>
                </a:solidFill>
                <a:latin typeface="Catamaran Bold"/>
                <a:ea typeface="Catamaran Bold"/>
                <a:cs typeface="Catamaran Bold"/>
                <a:sym typeface="Catamaran Bold"/>
              </a:rPr>
              <a:t>126 selectate</a:t>
            </a:r>
            <a:r>
              <a:rPr lang="en-US" sz="2799" spc="145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, 5 unități atipice au fost eliminate pentru un eșantion omogen</a:t>
            </a:r>
          </a:p>
          <a:p>
            <a:pPr marL="611987" lvl="1" indent="-305994" algn="just">
              <a:lnSpc>
                <a:spcPts val="4199"/>
              </a:lnSpc>
              <a:buFont typeface="Arial"/>
              <a:buChar char="•"/>
            </a:pPr>
            <a:r>
              <a:rPr lang="en-US" sz="2799" spc="145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Cele 121 spitale rămase au fost grupate prin         k-means în </a:t>
            </a:r>
            <a:r>
              <a:rPr lang="en-US" sz="2799" b="1" spc="145">
                <a:solidFill>
                  <a:srgbClr val="353552"/>
                </a:solidFill>
                <a:latin typeface="Catamaran Bold"/>
                <a:ea typeface="Catamaran Bold"/>
                <a:cs typeface="Catamaran Bold"/>
                <a:sym typeface="Catamaran Bold"/>
              </a:rPr>
              <a:t>3 clustere</a:t>
            </a:r>
          </a:p>
          <a:p>
            <a:pPr marL="611987" lvl="1" indent="-305994" algn="just">
              <a:lnSpc>
                <a:spcPts val="4199"/>
              </a:lnSpc>
              <a:buFont typeface="Arial"/>
              <a:buChar char="•"/>
            </a:pPr>
            <a:r>
              <a:rPr lang="en-US" sz="2799" spc="145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Clusterul cel mai omogen — </a:t>
            </a:r>
            <a:r>
              <a:rPr lang="en-US" sz="2799" b="1" spc="145">
                <a:solidFill>
                  <a:srgbClr val="353552"/>
                </a:solidFill>
                <a:latin typeface="Catamaran Bold"/>
                <a:ea typeface="Catamaran Bold"/>
                <a:cs typeface="Catamaran Bold"/>
                <a:sym typeface="Catamaran Bold"/>
              </a:rPr>
              <a:t>65 de spitale</a:t>
            </a:r>
            <a:r>
              <a:rPr lang="en-US" sz="2799" spc="145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 — a fost evaluat prin</a:t>
            </a:r>
            <a:r>
              <a:rPr lang="en-US" sz="2799" b="1" spc="145">
                <a:solidFill>
                  <a:srgbClr val="353552"/>
                </a:solidFill>
                <a:latin typeface="Catamaran Bold"/>
                <a:ea typeface="Catamaran Bold"/>
                <a:cs typeface="Catamaran Bold"/>
                <a:sym typeface="Catamaran Bold"/>
              </a:rPr>
              <a:t> modelul DEA</a:t>
            </a:r>
            <a:r>
              <a:rPr lang="en-US" sz="2799" spc="145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</a:p>
          <a:p>
            <a:pPr marL="611987" lvl="1" indent="-305994" algn="just">
              <a:lnSpc>
                <a:spcPts val="4199"/>
              </a:lnSpc>
              <a:buFont typeface="Arial"/>
              <a:buChar char="•"/>
            </a:pPr>
            <a:r>
              <a:rPr lang="en-US" sz="2799" spc="145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Rezultatele integrate într-un </a:t>
            </a:r>
            <a:r>
              <a:rPr lang="en-US" sz="2799" b="1" spc="145">
                <a:solidFill>
                  <a:srgbClr val="353552"/>
                </a:solidFill>
                <a:latin typeface="Catamaran Bold"/>
                <a:ea typeface="Catamaran Bold"/>
                <a:cs typeface="Catamaran Bold"/>
                <a:sym typeface="Catamaran Bold"/>
              </a:rPr>
              <a:t>tablou de bord</a:t>
            </a:r>
            <a:r>
              <a:rPr lang="en-US" sz="2799" spc="145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 destinat sprijinirii deciziei</a:t>
            </a:r>
          </a:p>
          <a:p>
            <a:pPr algn="just">
              <a:lnSpc>
                <a:spcPts val="4199"/>
              </a:lnSpc>
            </a:pPr>
            <a:endParaRPr lang="en-US" sz="2799" spc="145">
              <a:solidFill>
                <a:srgbClr val="353552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algn="just">
              <a:lnSpc>
                <a:spcPts val="4199"/>
              </a:lnSpc>
            </a:pPr>
            <a:endParaRPr lang="en-US" sz="2799" spc="145">
              <a:solidFill>
                <a:srgbClr val="353552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algn="just">
              <a:lnSpc>
                <a:spcPts val="4199"/>
              </a:lnSpc>
            </a:pPr>
            <a:endParaRPr lang="en-US" sz="2799" spc="145">
              <a:solidFill>
                <a:srgbClr val="353552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801525" y="9564182"/>
            <a:ext cx="1457775" cy="1264871"/>
          </a:xfrm>
          <a:custGeom>
            <a:avLst/>
            <a:gdLst/>
            <a:ahLst/>
            <a:cxnLst/>
            <a:rect l="l" t="t" r="r" b="b"/>
            <a:pathLst>
              <a:path w="1457775" h="1264871">
                <a:moveTo>
                  <a:pt x="0" y="0"/>
                </a:moveTo>
                <a:lnTo>
                  <a:pt x="1457775" y="0"/>
                </a:lnTo>
                <a:lnTo>
                  <a:pt x="1457775" y="1264871"/>
                </a:lnTo>
                <a:lnTo>
                  <a:pt x="0" y="12648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374304" y="9667619"/>
            <a:ext cx="1042309" cy="904383"/>
          </a:xfrm>
          <a:custGeom>
            <a:avLst/>
            <a:gdLst/>
            <a:ahLst/>
            <a:cxnLst/>
            <a:rect l="l" t="t" r="r" b="b"/>
            <a:pathLst>
              <a:path w="1042309" h="904383">
                <a:moveTo>
                  <a:pt x="0" y="0"/>
                </a:moveTo>
                <a:lnTo>
                  <a:pt x="1042309" y="0"/>
                </a:lnTo>
                <a:lnTo>
                  <a:pt x="1042309" y="904383"/>
                </a:lnTo>
                <a:lnTo>
                  <a:pt x="0" y="9043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rot="161881">
            <a:off x="15416389" y="10113028"/>
            <a:ext cx="404699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2410739" y="9654056"/>
            <a:ext cx="947315" cy="821960"/>
          </a:xfrm>
          <a:custGeom>
            <a:avLst/>
            <a:gdLst/>
            <a:ahLst/>
            <a:cxnLst/>
            <a:rect l="l" t="t" r="r" b="b"/>
            <a:pathLst>
              <a:path w="947315" h="821960">
                <a:moveTo>
                  <a:pt x="0" y="0"/>
                </a:moveTo>
                <a:lnTo>
                  <a:pt x="947315" y="0"/>
                </a:lnTo>
                <a:lnTo>
                  <a:pt x="947315" y="821960"/>
                </a:lnTo>
                <a:lnTo>
                  <a:pt x="0" y="8219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rot="10013647">
            <a:off x="13304158" y="9997828"/>
            <a:ext cx="1100105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378989" y="-1033088"/>
            <a:ext cx="1766477" cy="1532723"/>
          </a:xfrm>
          <a:custGeom>
            <a:avLst/>
            <a:gdLst/>
            <a:ahLst/>
            <a:cxnLst/>
            <a:rect l="l" t="t" r="r" b="b"/>
            <a:pathLst>
              <a:path w="1766477" h="1532723">
                <a:moveTo>
                  <a:pt x="0" y="0"/>
                </a:moveTo>
                <a:lnTo>
                  <a:pt x="1766477" y="0"/>
                </a:lnTo>
                <a:lnTo>
                  <a:pt x="1766477" y="1532724"/>
                </a:lnTo>
                <a:lnTo>
                  <a:pt x="0" y="15327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 rot="-10800000">
            <a:off x="-584449" y="1377424"/>
            <a:ext cx="933450" cy="811050"/>
            <a:chOff x="0" y="0"/>
            <a:chExt cx="1244600" cy="1081400"/>
          </a:xfrm>
        </p:grpSpPr>
        <p:sp>
          <p:nvSpPr>
            <p:cNvPr id="9" name="Freeform 9"/>
            <p:cNvSpPr/>
            <p:nvPr/>
          </p:nvSpPr>
          <p:spPr>
            <a:xfrm>
              <a:off x="63" y="0"/>
              <a:ext cx="1244600" cy="1081405"/>
            </a:xfrm>
            <a:custGeom>
              <a:avLst/>
              <a:gdLst/>
              <a:ahLst/>
              <a:cxnLst/>
              <a:rect l="l" t="t" r="r" b="b"/>
              <a:pathLst>
                <a:path w="1244600" h="1081405">
                  <a:moveTo>
                    <a:pt x="1220534" y="546354"/>
                  </a:moveTo>
                  <a:lnTo>
                    <a:pt x="955612" y="18415"/>
                  </a:lnTo>
                  <a:lnTo>
                    <a:pt x="967042" y="12700"/>
                  </a:lnTo>
                  <a:lnTo>
                    <a:pt x="967042" y="25400"/>
                  </a:lnTo>
                  <a:lnTo>
                    <a:pt x="277432" y="25400"/>
                  </a:lnTo>
                  <a:lnTo>
                    <a:pt x="277432" y="12700"/>
                  </a:lnTo>
                  <a:lnTo>
                    <a:pt x="288735" y="18415"/>
                  </a:lnTo>
                  <a:lnTo>
                    <a:pt x="23940" y="546354"/>
                  </a:lnTo>
                  <a:lnTo>
                    <a:pt x="12637" y="540639"/>
                  </a:lnTo>
                  <a:lnTo>
                    <a:pt x="23940" y="534924"/>
                  </a:lnTo>
                  <a:lnTo>
                    <a:pt x="288862" y="1062990"/>
                  </a:lnTo>
                  <a:lnTo>
                    <a:pt x="277559" y="1068705"/>
                  </a:lnTo>
                  <a:lnTo>
                    <a:pt x="277559" y="1056005"/>
                  </a:lnTo>
                  <a:lnTo>
                    <a:pt x="967042" y="1056005"/>
                  </a:lnTo>
                  <a:lnTo>
                    <a:pt x="967042" y="1068705"/>
                  </a:lnTo>
                  <a:lnTo>
                    <a:pt x="955739" y="1062990"/>
                  </a:lnTo>
                  <a:lnTo>
                    <a:pt x="1220534" y="535051"/>
                  </a:lnTo>
                  <a:lnTo>
                    <a:pt x="1231837" y="540766"/>
                  </a:lnTo>
                  <a:lnTo>
                    <a:pt x="1220534" y="546481"/>
                  </a:lnTo>
                  <a:moveTo>
                    <a:pt x="1243267" y="535051"/>
                  </a:moveTo>
                  <a:cubicBezTo>
                    <a:pt x="1245045" y="538607"/>
                    <a:pt x="1245045" y="542798"/>
                    <a:pt x="1243267" y="546481"/>
                  </a:cubicBezTo>
                  <a:lnTo>
                    <a:pt x="978345" y="1074420"/>
                  </a:lnTo>
                  <a:cubicBezTo>
                    <a:pt x="976186" y="1078738"/>
                    <a:pt x="971741" y="1081405"/>
                    <a:pt x="967042" y="1081405"/>
                  </a:cubicBezTo>
                  <a:lnTo>
                    <a:pt x="277432" y="1081405"/>
                  </a:lnTo>
                  <a:cubicBezTo>
                    <a:pt x="272606" y="1081405"/>
                    <a:pt x="268288" y="1078738"/>
                    <a:pt x="266129" y="1074420"/>
                  </a:cubicBezTo>
                  <a:lnTo>
                    <a:pt x="1334" y="546354"/>
                  </a:lnTo>
                  <a:cubicBezTo>
                    <a:pt x="-444" y="542798"/>
                    <a:pt x="-444" y="538607"/>
                    <a:pt x="1334" y="534924"/>
                  </a:cubicBezTo>
                  <a:lnTo>
                    <a:pt x="266129" y="6985"/>
                  </a:lnTo>
                  <a:cubicBezTo>
                    <a:pt x="268288" y="2667"/>
                    <a:pt x="272733" y="0"/>
                    <a:pt x="277432" y="0"/>
                  </a:cubicBezTo>
                  <a:lnTo>
                    <a:pt x="967042" y="0"/>
                  </a:lnTo>
                  <a:cubicBezTo>
                    <a:pt x="971868" y="0"/>
                    <a:pt x="976186" y="2667"/>
                    <a:pt x="978345" y="6985"/>
                  </a:cubicBezTo>
                  <a:lnTo>
                    <a:pt x="1243140" y="535051"/>
                  </a:lnTo>
                  <a:close/>
                </a:path>
              </a:pathLst>
            </a:custGeom>
            <a:solidFill>
              <a:srgbClr val="AFE0D9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 rot="-10800000">
            <a:off x="569707" y="313858"/>
            <a:ext cx="204600" cy="204600"/>
            <a:chOff x="0" y="0"/>
            <a:chExt cx="272800" cy="27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72796" cy="272796"/>
            </a:xfrm>
            <a:custGeom>
              <a:avLst/>
              <a:gdLst/>
              <a:ahLst/>
              <a:cxnLst/>
              <a:rect l="l" t="t" r="r" b="b"/>
              <a:pathLst>
                <a:path w="272796" h="272796">
                  <a:moveTo>
                    <a:pt x="272796" y="136398"/>
                  </a:moveTo>
                  <a:cubicBezTo>
                    <a:pt x="272796" y="61087"/>
                    <a:pt x="211709" y="0"/>
                    <a:pt x="136398" y="0"/>
                  </a:cubicBezTo>
                  <a:cubicBezTo>
                    <a:pt x="61087" y="0"/>
                    <a:pt x="0" y="61087"/>
                    <a:pt x="0" y="136398"/>
                  </a:cubicBezTo>
                  <a:cubicBezTo>
                    <a:pt x="0" y="211709"/>
                    <a:pt x="61087" y="272796"/>
                    <a:pt x="136398" y="272796"/>
                  </a:cubicBezTo>
                  <a:cubicBezTo>
                    <a:pt x="211709" y="272796"/>
                    <a:pt x="272796" y="211709"/>
                    <a:pt x="272796" y="136398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AutoShape 12"/>
          <p:cNvSpPr/>
          <p:nvPr/>
        </p:nvSpPr>
        <p:spPr>
          <a:xfrm rot="200137">
            <a:off x="1051862" y="-202024"/>
            <a:ext cx="327405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>
            <a:off x="191888" y="-264533"/>
            <a:ext cx="725850" cy="139905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 rot="78807">
            <a:off x="-452608" y="1170574"/>
            <a:ext cx="831068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5" name="Group 15"/>
          <p:cNvGrpSpPr/>
          <p:nvPr/>
        </p:nvGrpSpPr>
        <p:grpSpPr>
          <a:xfrm rot="-10800000">
            <a:off x="1004526" y="-266726"/>
            <a:ext cx="129600" cy="129600"/>
            <a:chOff x="0" y="0"/>
            <a:chExt cx="172800" cy="17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72847" cy="172720"/>
            </a:xfrm>
            <a:custGeom>
              <a:avLst/>
              <a:gdLst/>
              <a:ahLst/>
              <a:cxnLst/>
              <a:rect l="l" t="t" r="r" b="b"/>
              <a:pathLst>
                <a:path w="172847" h="172720">
                  <a:moveTo>
                    <a:pt x="172847" y="86360"/>
                  </a:moveTo>
                  <a:cubicBezTo>
                    <a:pt x="172847" y="38608"/>
                    <a:pt x="134112" y="0"/>
                    <a:pt x="86487" y="0"/>
                  </a:cubicBezTo>
                  <a:cubicBezTo>
                    <a:pt x="38862" y="0"/>
                    <a:pt x="0" y="38735"/>
                    <a:pt x="0" y="86360"/>
                  </a:cubicBezTo>
                  <a:cubicBezTo>
                    <a:pt x="0" y="133985"/>
                    <a:pt x="38735" y="172720"/>
                    <a:pt x="86360" y="172720"/>
                  </a:cubicBezTo>
                  <a:cubicBezTo>
                    <a:pt x="133985" y="172720"/>
                    <a:pt x="172720" y="133985"/>
                    <a:pt x="172720" y="86360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AutoShape 17"/>
          <p:cNvSpPr/>
          <p:nvPr/>
        </p:nvSpPr>
        <p:spPr>
          <a:xfrm flipH="1">
            <a:off x="271715" y="1147619"/>
            <a:ext cx="650250" cy="111165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/>
          <p:nvPr/>
        </p:nvGrpSpPr>
        <p:grpSpPr>
          <a:xfrm rot="-10800000">
            <a:off x="496207" y="2066224"/>
            <a:ext cx="147000" cy="146400"/>
            <a:chOff x="0" y="0"/>
            <a:chExt cx="196000" cy="1952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96088" cy="195326"/>
            </a:xfrm>
            <a:custGeom>
              <a:avLst/>
              <a:gdLst/>
              <a:ahLst/>
              <a:cxnLst/>
              <a:rect l="l" t="t" r="r" b="b"/>
              <a:pathLst>
                <a:path w="196088" h="195326">
                  <a:moveTo>
                    <a:pt x="195961" y="97663"/>
                  </a:moveTo>
                  <a:cubicBezTo>
                    <a:pt x="195961" y="43688"/>
                    <a:pt x="152146" y="0"/>
                    <a:pt x="98044" y="0"/>
                  </a:cubicBezTo>
                  <a:cubicBezTo>
                    <a:pt x="43942" y="0"/>
                    <a:pt x="0" y="43688"/>
                    <a:pt x="0" y="97663"/>
                  </a:cubicBezTo>
                  <a:cubicBezTo>
                    <a:pt x="0" y="151638"/>
                    <a:pt x="43815" y="195326"/>
                    <a:pt x="98044" y="195326"/>
                  </a:cubicBezTo>
                  <a:cubicBezTo>
                    <a:pt x="152273" y="195326"/>
                    <a:pt x="196088" y="151638"/>
                    <a:pt x="196088" y="97663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 rot="-10800000">
            <a:off x="-556174" y="1092024"/>
            <a:ext cx="157200" cy="157200"/>
            <a:chOff x="0" y="0"/>
            <a:chExt cx="209600" cy="2096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209550" y="104775"/>
                  </a:moveTo>
                  <a:cubicBezTo>
                    <a:pt x="209550" y="46863"/>
                    <a:pt x="162687" y="0"/>
                    <a:pt x="104775" y="0"/>
                  </a:cubicBezTo>
                  <a:cubicBezTo>
                    <a:pt x="46863" y="0"/>
                    <a:pt x="0" y="46863"/>
                    <a:pt x="0" y="104775"/>
                  </a:cubicBezTo>
                  <a:cubicBezTo>
                    <a:pt x="0" y="162687"/>
                    <a:pt x="46863" y="209550"/>
                    <a:pt x="104775" y="209550"/>
                  </a:cubicBezTo>
                  <a:cubicBezTo>
                    <a:pt x="162687" y="209550"/>
                    <a:pt x="209550" y="162687"/>
                    <a:pt x="209550" y="104775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 rot="-10800000">
            <a:off x="-250570" y="400868"/>
            <a:ext cx="531619" cy="460494"/>
            <a:chOff x="0" y="0"/>
            <a:chExt cx="819200" cy="7096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9150" cy="709549"/>
            </a:xfrm>
            <a:custGeom>
              <a:avLst/>
              <a:gdLst/>
              <a:ahLst/>
              <a:cxnLst/>
              <a:rect l="l" t="t" r="r" b="b"/>
              <a:pathLst>
                <a:path w="819150" h="709549">
                  <a:moveTo>
                    <a:pt x="819150" y="354838"/>
                  </a:moveTo>
                  <a:lnTo>
                    <a:pt x="641858" y="0"/>
                  </a:lnTo>
                  <a:lnTo>
                    <a:pt x="177419" y="0"/>
                  </a:lnTo>
                  <a:lnTo>
                    <a:pt x="0" y="354838"/>
                  </a:lnTo>
                  <a:lnTo>
                    <a:pt x="177419" y="709549"/>
                  </a:lnTo>
                  <a:lnTo>
                    <a:pt x="641858" y="709549"/>
                  </a:lnTo>
                  <a:close/>
                </a:path>
              </a:pathLst>
            </a:custGeom>
            <a:solidFill>
              <a:srgbClr val="7CBEFF">
                <a:alpha val="35294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9403000" y="7140412"/>
            <a:ext cx="3915485" cy="615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3500" b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Indice de resurse</a:t>
            </a:r>
          </a:p>
        </p:txBody>
      </p:sp>
      <p:sp>
        <p:nvSpPr>
          <p:cNvPr id="25" name="Freeform 25"/>
          <p:cNvSpPr/>
          <p:nvPr/>
        </p:nvSpPr>
        <p:spPr>
          <a:xfrm>
            <a:off x="8885001" y="2066130"/>
            <a:ext cx="8973413" cy="5182969"/>
          </a:xfrm>
          <a:custGeom>
            <a:avLst/>
            <a:gdLst/>
            <a:ahLst/>
            <a:cxnLst/>
            <a:rect l="l" t="t" r="r" b="b"/>
            <a:pathLst>
              <a:path w="8673998" h="5458399">
                <a:moveTo>
                  <a:pt x="0" y="0"/>
                </a:moveTo>
                <a:lnTo>
                  <a:pt x="8673998" y="0"/>
                </a:lnTo>
                <a:lnTo>
                  <a:pt x="8673998" y="5458399"/>
                </a:lnTo>
                <a:lnTo>
                  <a:pt x="0" y="54583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576" r="-157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1134126" y="586849"/>
            <a:ext cx="18419190" cy="155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Construirea indicilor compoziți</a:t>
            </a:r>
          </a:p>
          <a:p>
            <a:pPr algn="l">
              <a:lnSpc>
                <a:spcPts val="6000"/>
              </a:lnSpc>
            </a:pPr>
            <a:endParaRPr lang="en-US" sz="5000" b="1">
              <a:solidFill>
                <a:srgbClr val="353552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9995637" y="7897217"/>
            <a:ext cx="2809350" cy="1440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99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Construit din: paturi, medici, asistenți, cheltuieli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508421" y="7140412"/>
            <a:ext cx="4339229" cy="615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3500" b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Indice de rezultate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011938" y="7868531"/>
            <a:ext cx="2809350" cy="1440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99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Construit din: pacienți tratați, zile de spitalizare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69707" y="2915899"/>
            <a:ext cx="7291440" cy="4841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63"/>
              </a:lnSpc>
            </a:pPr>
            <a:endParaRPr/>
          </a:p>
          <a:p>
            <a:pPr marL="954785" lvl="1" indent="-477393" algn="just">
              <a:lnSpc>
                <a:spcPts val="3863"/>
              </a:lnSpc>
              <a:buFont typeface="Arial"/>
              <a:buChar char="•"/>
            </a:pPr>
            <a:r>
              <a:rPr lang="en-US" sz="2799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Corelațiile puternice între variabile justifică aplicarea ACP</a:t>
            </a:r>
          </a:p>
          <a:p>
            <a:pPr marL="954785" lvl="1" indent="-477393" algn="just">
              <a:lnSpc>
                <a:spcPts val="3863"/>
              </a:lnSpc>
              <a:buFont typeface="Arial"/>
              <a:buChar char="•"/>
            </a:pPr>
            <a:r>
              <a:rPr lang="en-US" sz="2799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Dim.1 explică 85,49% din variația variabilelor de intrare </a:t>
            </a:r>
          </a:p>
          <a:p>
            <a:pPr marL="954785" lvl="1" indent="-477393" algn="just">
              <a:lnSpc>
                <a:spcPts val="3863"/>
              </a:lnSpc>
              <a:buFont typeface="Arial"/>
              <a:buChar char="•"/>
            </a:pPr>
            <a:r>
              <a:rPr lang="en-US" sz="2799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Dim.1 explică 94,67% din variația variabilelor de ieșire</a:t>
            </a:r>
          </a:p>
          <a:p>
            <a:pPr marL="954785" lvl="1" indent="-477393" algn="just">
              <a:lnSpc>
                <a:spcPts val="3863"/>
              </a:lnSpc>
              <a:buFont typeface="Arial"/>
              <a:buChar char="•"/>
            </a:pPr>
            <a:r>
              <a:rPr lang="en-US" sz="2799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Screeplot confirmă selecția unei singure componente</a:t>
            </a:r>
          </a:p>
          <a:p>
            <a:pPr algn="just">
              <a:lnSpc>
                <a:spcPts val="3863"/>
              </a:lnSpc>
            </a:pPr>
            <a:endParaRPr lang="en-US" sz="2799">
              <a:solidFill>
                <a:srgbClr val="353552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43750" y="199104"/>
            <a:ext cx="16400500" cy="9888792"/>
          </a:xfrm>
          <a:custGeom>
            <a:avLst/>
            <a:gdLst/>
            <a:ahLst/>
            <a:cxnLst/>
            <a:rect l="l" t="t" r="r" b="b"/>
            <a:pathLst>
              <a:path w="16400500" h="9888792">
                <a:moveTo>
                  <a:pt x="0" y="0"/>
                </a:moveTo>
                <a:lnTo>
                  <a:pt x="16400500" y="0"/>
                </a:lnTo>
                <a:lnTo>
                  <a:pt x="16400500" y="9888792"/>
                </a:lnTo>
                <a:lnTo>
                  <a:pt x="0" y="98887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/>
          <a:stretch>
            <a:fillRect/>
          </a:stretch>
        </p:blipFill>
        <p:spPr>
          <a:xfrm>
            <a:off x="493710" y="190500"/>
            <a:ext cx="17300579" cy="1032933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811069" y="-611036"/>
            <a:ext cx="1770539" cy="1533512"/>
          </a:xfrm>
          <a:custGeom>
            <a:avLst/>
            <a:gdLst/>
            <a:ahLst/>
            <a:cxnLst/>
            <a:rect l="l" t="t" r="r" b="b"/>
            <a:pathLst>
              <a:path w="1770539" h="1533512">
                <a:moveTo>
                  <a:pt x="0" y="0"/>
                </a:moveTo>
                <a:lnTo>
                  <a:pt x="1770539" y="0"/>
                </a:lnTo>
                <a:lnTo>
                  <a:pt x="1770539" y="1533512"/>
                </a:lnTo>
                <a:lnTo>
                  <a:pt x="0" y="15335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8022024" y="41500"/>
            <a:ext cx="1189313" cy="1031935"/>
          </a:xfrm>
          <a:custGeom>
            <a:avLst/>
            <a:gdLst/>
            <a:ahLst/>
            <a:cxnLst/>
            <a:rect l="l" t="t" r="r" b="b"/>
            <a:pathLst>
              <a:path w="1189313" h="1031935">
                <a:moveTo>
                  <a:pt x="0" y="0"/>
                </a:moveTo>
                <a:lnTo>
                  <a:pt x="1189314" y="0"/>
                </a:lnTo>
                <a:lnTo>
                  <a:pt x="1189314" y="1031936"/>
                </a:lnTo>
                <a:lnTo>
                  <a:pt x="0" y="1031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940174" y="1259500"/>
            <a:ext cx="1189313" cy="1031935"/>
          </a:xfrm>
          <a:custGeom>
            <a:avLst/>
            <a:gdLst/>
            <a:ahLst/>
            <a:cxnLst/>
            <a:rect l="l" t="t" r="r" b="b"/>
            <a:pathLst>
              <a:path w="1189313" h="1031935">
                <a:moveTo>
                  <a:pt x="0" y="0"/>
                </a:moveTo>
                <a:lnTo>
                  <a:pt x="1189314" y="0"/>
                </a:lnTo>
                <a:lnTo>
                  <a:pt x="1189314" y="1031936"/>
                </a:lnTo>
                <a:lnTo>
                  <a:pt x="0" y="1031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7099078" y="1170126"/>
            <a:ext cx="204600" cy="204600"/>
            <a:chOff x="0" y="0"/>
            <a:chExt cx="272800" cy="27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2796" cy="272796"/>
            </a:xfrm>
            <a:custGeom>
              <a:avLst/>
              <a:gdLst/>
              <a:ahLst/>
              <a:cxnLst/>
              <a:rect l="l" t="t" r="r" b="b"/>
              <a:pathLst>
                <a:path w="272796" h="272796">
                  <a:moveTo>
                    <a:pt x="272796" y="136398"/>
                  </a:moveTo>
                  <a:cubicBezTo>
                    <a:pt x="272796" y="61087"/>
                    <a:pt x="211709" y="0"/>
                    <a:pt x="136398" y="0"/>
                  </a:cubicBezTo>
                  <a:cubicBezTo>
                    <a:pt x="61087" y="0"/>
                    <a:pt x="0" y="61087"/>
                    <a:pt x="0" y="136398"/>
                  </a:cubicBezTo>
                  <a:cubicBezTo>
                    <a:pt x="0" y="211709"/>
                    <a:pt x="61087" y="272796"/>
                    <a:pt x="136398" y="272796"/>
                  </a:cubicBezTo>
                  <a:cubicBezTo>
                    <a:pt x="211709" y="272796"/>
                    <a:pt x="272796" y="211709"/>
                    <a:pt x="272796" y="136398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4754525" y="281857"/>
            <a:ext cx="633450" cy="551250"/>
            <a:chOff x="0" y="0"/>
            <a:chExt cx="844600" cy="735000"/>
          </a:xfrm>
        </p:grpSpPr>
        <p:sp>
          <p:nvSpPr>
            <p:cNvPr id="8" name="Freeform 8"/>
            <p:cNvSpPr/>
            <p:nvPr/>
          </p:nvSpPr>
          <p:spPr>
            <a:xfrm>
              <a:off x="63" y="0"/>
              <a:ext cx="844550" cy="734949"/>
            </a:xfrm>
            <a:custGeom>
              <a:avLst/>
              <a:gdLst/>
              <a:ahLst/>
              <a:cxnLst/>
              <a:rect l="l" t="t" r="r" b="b"/>
              <a:pathLst>
                <a:path w="844550" h="734949">
                  <a:moveTo>
                    <a:pt x="820484" y="373253"/>
                  </a:moveTo>
                  <a:lnTo>
                    <a:pt x="642303" y="18415"/>
                  </a:lnTo>
                  <a:lnTo>
                    <a:pt x="653606" y="12700"/>
                  </a:lnTo>
                  <a:lnTo>
                    <a:pt x="653606" y="25400"/>
                  </a:lnTo>
                  <a:lnTo>
                    <a:pt x="190818" y="25400"/>
                  </a:lnTo>
                  <a:lnTo>
                    <a:pt x="190818" y="12700"/>
                  </a:lnTo>
                  <a:lnTo>
                    <a:pt x="202121" y="18415"/>
                  </a:lnTo>
                  <a:lnTo>
                    <a:pt x="23940" y="373253"/>
                  </a:lnTo>
                  <a:lnTo>
                    <a:pt x="12637" y="367538"/>
                  </a:lnTo>
                  <a:lnTo>
                    <a:pt x="23940" y="361823"/>
                  </a:lnTo>
                  <a:lnTo>
                    <a:pt x="202248" y="716661"/>
                  </a:lnTo>
                  <a:lnTo>
                    <a:pt x="190945" y="722376"/>
                  </a:lnTo>
                  <a:lnTo>
                    <a:pt x="190945" y="709676"/>
                  </a:lnTo>
                  <a:lnTo>
                    <a:pt x="653606" y="709676"/>
                  </a:lnTo>
                  <a:lnTo>
                    <a:pt x="653606" y="722376"/>
                  </a:lnTo>
                  <a:lnTo>
                    <a:pt x="642303" y="716661"/>
                  </a:lnTo>
                  <a:lnTo>
                    <a:pt x="820484" y="361823"/>
                  </a:lnTo>
                  <a:lnTo>
                    <a:pt x="831787" y="367538"/>
                  </a:lnTo>
                  <a:lnTo>
                    <a:pt x="820484" y="373253"/>
                  </a:lnTo>
                  <a:moveTo>
                    <a:pt x="843217" y="361823"/>
                  </a:moveTo>
                  <a:cubicBezTo>
                    <a:pt x="844995" y="365379"/>
                    <a:pt x="844995" y="369697"/>
                    <a:pt x="843217" y="373253"/>
                  </a:cubicBezTo>
                  <a:lnTo>
                    <a:pt x="664909" y="727964"/>
                  </a:lnTo>
                  <a:cubicBezTo>
                    <a:pt x="662750" y="732282"/>
                    <a:pt x="658305" y="734949"/>
                    <a:pt x="653606" y="734949"/>
                  </a:cubicBezTo>
                  <a:lnTo>
                    <a:pt x="190818" y="734949"/>
                  </a:lnTo>
                  <a:cubicBezTo>
                    <a:pt x="185992" y="734949"/>
                    <a:pt x="181674" y="732282"/>
                    <a:pt x="179515" y="727964"/>
                  </a:cubicBezTo>
                  <a:lnTo>
                    <a:pt x="1334" y="373253"/>
                  </a:lnTo>
                  <a:cubicBezTo>
                    <a:pt x="-444" y="369697"/>
                    <a:pt x="-444" y="365379"/>
                    <a:pt x="1334" y="361823"/>
                  </a:cubicBezTo>
                  <a:lnTo>
                    <a:pt x="179515" y="6985"/>
                  </a:lnTo>
                  <a:cubicBezTo>
                    <a:pt x="181674" y="2667"/>
                    <a:pt x="186119" y="0"/>
                    <a:pt x="190818" y="0"/>
                  </a:cubicBezTo>
                  <a:lnTo>
                    <a:pt x="653606" y="0"/>
                  </a:lnTo>
                  <a:cubicBezTo>
                    <a:pt x="658432" y="0"/>
                    <a:pt x="662750" y="2667"/>
                    <a:pt x="664909" y="6985"/>
                  </a:cubicBezTo>
                  <a:lnTo>
                    <a:pt x="843217" y="361823"/>
                  </a:lnTo>
                  <a:close/>
                </a:path>
              </a:pathLst>
            </a:custGeom>
            <a:solidFill>
              <a:srgbClr val="AFE0D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AutoShape 9"/>
          <p:cNvSpPr/>
          <p:nvPr/>
        </p:nvSpPr>
        <p:spPr>
          <a:xfrm rot="3599864">
            <a:off x="18617608" y="1277808"/>
            <a:ext cx="1180419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 rot="79323">
            <a:off x="18112989" y="1775468"/>
            <a:ext cx="825670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 rot="199407">
            <a:off x="17710085" y="557468"/>
            <a:ext cx="328603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 rot="6766566">
            <a:off x="17441121" y="371136"/>
            <a:ext cx="427375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 rot="-1364276">
            <a:off x="16980926" y="2467136"/>
            <a:ext cx="156784" cy="156784"/>
            <a:chOff x="0" y="0"/>
            <a:chExt cx="209045" cy="20904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9042" cy="209042"/>
            </a:xfrm>
            <a:custGeom>
              <a:avLst/>
              <a:gdLst/>
              <a:ahLst/>
              <a:cxnLst/>
              <a:rect l="l" t="t" r="r" b="b"/>
              <a:pathLst>
                <a:path w="209042" h="209042">
                  <a:moveTo>
                    <a:pt x="209042" y="104521"/>
                  </a:moveTo>
                  <a:cubicBezTo>
                    <a:pt x="209042" y="46736"/>
                    <a:pt x="162306" y="0"/>
                    <a:pt x="104521" y="0"/>
                  </a:cubicBezTo>
                  <a:cubicBezTo>
                    <a:pt x="46736" y="0"/>
                    <a:pt x="0" y="46736"/>
                    <a:pt x="0" y="104521"/>
                  </a:cubicBezTo>
                  <a:cubicBezTo>
                    <a:pt x="0" y="162306"/>
                    <a:pt x="46736" y="209042"/>
                    <a:pt x="104521" y="209042"/>
                  </a:cubicBezTo>
                  <a:cubicBezTo>
                    <a:pt x="162306" y="209042"/>
                    <a:pt x="209042" y="162306"/>
                    <a:pt x="209042" y="104521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AutoShape 15"/>
          <p:cNvSpPr/>
          <p:nvPr/>
        </p:nvSpPr>
        <p:spPr>
          <a:xfrm rot="7221008">
            <a:off x="15303758" y="-1088634"/>
            <a:ext cx="1128971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/>
          <p:nvPr/>
        </p:nvGrpSpPr>
        <p:grpSpPr>
          <a:xfrm>
            <a:off x="15513804" y="-1636774"/>
            <a:ext cx="157200" cy="157200"/>
            <a:chOff x="0" y="0"/>
            <a:chExt cx="209600" cy="2096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209550" y="104775"/>
                  </a:moveTo>
                  <a:cubicBezTo>
                    <a:pt x="209550" y="46863"/>
                    <a:pt x="162687" y="0"/>
                    <a:pt x="104775" y="0"/>
                  </a:cubicBezTo>
                  <a:cubicBezTo>
                    <a:pt x="46863" y="0"/>
                    <a:pt x="0" y="46863"/>
                    <a:pt x="0" y="104775"/>
                  </a:cubicBezTo>
                  <a:cubicBezTo>
                    <a:pt x="0" y="162687"/>
                    <a:pt x="46863" y="209550"/>
                    <a:pt x="104775" y="209550"/>
                  </a:cubicBezTo>
                  <a:cubicBezTo>
                    <a:pt x="162687" y="209550"/>
                    <a:pt x="209550" y="162687"/>
                    <a:pt x="209550" y="104775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7414500" y="2484382"/>
            <a:ext cx="614400" cy="532200"/>
            <a:chOff x="0" y="0"/>
            <a:chExt cx="819200" cy="7096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9150" cy="709549"/>
            </a:xfrm>
            <a:custGeom>
              <a:avLst/>
              <a:gdLst/>
              <a:ahLst/>
              <a:cxnLst/>
              <a:rect l="l" t="t" r="r" b="b"/>
              <a:pathLst>
                <a:path w="819150" h="709549">
                  <a:moveTo>
                    <a:pt x="819150" y="354838"/>
                  </a:moveTo>
                  <a:lnTo>
                    <a:pt x="641858" y="0"/>
                  </a:lnTo>
                  <a:lnTo>
                    <a:pt x="177419" y="0"/>
                  </a:lnTo>
                  <a:lnTo>
                    <a:pt x="0" y="354838"/>
                  </a:lnTo>
                  <a:lnTo>
                    <a:pt x="177419" y="709549"/>
                  </a:lnTo>
                  <a:lnTo>
                    <a:pt x="641858" y="709549"/>
                  </a:lnTo>
                  <a:close/>
                </a:path>
              </a:pathLst>
            </a:custGeom>
            <a:solidFill>
              <a:srgbClr val="7CBEFF">
                <a:alpha val="35294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3291285" y="-514629"/>
            <a:ext cx="1482059" cy="1286074"/>
          </a:xfrm>
          <a:custGeom>
            <a:avLst/>
            <a:gdLst/>
            <a:ahLst/>
            <a:cxnLst/>
            <a:rect l="l" t="t" r="r" b="b"/>
            <a:pathLst>
              <a:path w="1482059" h="1286074">
                <a:moveTo>
                  <a:pt x="0" y="0"/>
                </a:moveTo>
                <a:lnTo>
                  <a:pt x="1482059" y="0"/>
                </a:lnTo>
                <a:lnTo>
                  <a:pt x="1482059" y="1286074"/>
                </a:lnTo>
                <a:lnTo>
                  <a:pt x="0" y="12860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AutoShape 21"/>
          <p:cNvSpPr/>
          <p:nvPr/>
        </p:nvSpPr>
        <p:spPr>
          <a:xfrm rot="65360">
            <a:off x="14754440" y="183638"/>
            <a:ext cx="1002031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16998688" y="6343887"/>
            <a:ext cx="2370711" cy="1532723"/>
          </a:xfrm>
          <a:custGeom>
            <a:avLst/>
            <a:gdLst/>
            <a:ahLst/>
            <a:cxnLst/>
            <a:rect l="l" t="t" r="r" b="b"/>
            <a:pathLst>
              <a:path w="2370711" h="1532723">
                <a:moveTo>
                  <a:pt x="0" y="0"/>
                </a:moveTo>
                <a:lnTo>
                  <a:pt x="2370711" y="0"/>
                </a:lnTo>
                <a:lnTo>
                  <a:pt x="2370711" y="1532724"/>
                </a:lnTo>
                <a:lnTo>
                  <a:pt x="0" y="15327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AutoShape 23"/>
          <p:cNvSpPr/>
          <p:nvPr/>
        </p:nvSpPr>
        <p:spPr>
          <a:xfrm rot="2304185">
            <a:off x="17585742" y="8001414"/>
            <a:ext cx="465317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4" name="Group 24"/>
          <p:cNvGrpSpPr/>
          <p:nvPr/>
        </p:nvGrpSpPr>
        <p:grpSpPr>
          <a:xfrm rot="5400000">
            <a:off x="17136469" y="8193671"/>
            <a:ext cx="1018650" cy="884850"/>
            <a:chOff x="0" y="0"/>
            <a:chExt cx="1358200" cy="1179800"/>
          </a:xfrm>
        </p:grpSpPr>
        <p:sp>
          <p:nvSpPr>
            <p:cNvPr id="25" name="Freeform 25"/>
            <p:cNvSpPr/>
            <p:nvPr/>
          </p:nvSpPr>
          <p:spPr>
            <a:xfrm>
              <a:off x="63" y="0"/>
              <a:ext cx="1358138" cy="1179830"/>
            </a:xfrm>
            <a:custGeom>
              <a:avLst/>
              <a:gdLst/>
              <a:ahLst/>
              <a:cxnLst/>
              <a:rect l="l" t="t" r="r" b="b"/>
              <a:pathLst>
                <a:path w="1358138" h="1179830">
                  <a:moveTo>
                    <a:pt x="1334072" y="595630"/>
                  </a:moveTo>
                  <a:lnTo>
                    <a:pt x="1044639" y="18415"/>
                  </a:lnTo>
                  <a:lnTo>
                    <a:pt x="1055942" y="12700"/>
                  </a:lnTo>
                  <a:lnTo>
                    <a:pt x="1055942" y="25400"/>
                  </a:lnTo>
                  <a:lnTo>
                    <a:pt x="302070" y="25400"/>
                  </a:lnTo>
                  <a:lnTo>
                    <a:pt x="302070" y="12700"/>
                  </a:lnTo>
                  <a:lnTo>
                    <a:pt x="313373" y="18415"/>
                  </a:lnTo>
                  <a:lnTo>
                    <a:pt x="23940" y="595630"/>
                  </a:lnTo>
                  <a:lnTo>
                    <a:pt x="12637" y="589915"/>
                  </a:lnTo>
                  <a:lnTo>
                    <a:pt x="23940" y="584200"/>
                  </a:lnTo>
                  <a:lnTo>
                    <a:pt x="313373" y="1161415"/>
                  </a:lnTo>
                  <a:lnTo>
                    <a:pt x="302070" y="1167130"/>
                  </a:lnTo>
                  <a:lnTo>
                    <a:pt x="302070" y="1154430"/>
                  </a:lnTo>
                  <a:lnTo>
                    <a:pt x="1055942" y="1154430"/>
                  </a:lnTo>
                  <a:lnTo>
                    <a:pt x="1055942" y="1167130"/>
                  </a:lnTo>
                  <a:lnTo>
                    <a:pt x="1044639" y="1161415"/>
                  </a:lnTo>
                  <a:lnTo>
                    <a:pt x="1334072" y="584200"/>
                  </a:lnTo>
                  <a:lnTo>
                    <a:pt x="1345375" y="589915"/>
                  </a:lnTo>
                  <a:lnTo>
                    <a:pt x="1334072" y="595630"/>
                  </a:lnTo>
                  <a:moveTo>
                    <a:pt x="1356805" y="584200"/>
                  </a:moveTo>
                  <a:cubicBezTo>
                    <a:pt x="1358583" y="587756"/>
                    <a:pt x="1358583" y="591947"/>
                    <a:pt x="1356805" y="595630"/>
                  </a:cubicBezTo>
                  <a:lnTo>
                    <a:pt x="1067372" y="1172845"/>
                  </a:lnTo>
                  <a:cubicBezTo>
                    <a:pt x="1065213" y="1177163"/>
                    <a:pt x="1060768" y="1179830"/>
                    <a:pt x="1056069" y="1179830"/>
                  </a:cubicBezTo>
                  <a:lnTo>
                    <a:pt x="302070" y="1179830"/>
                  </a:lnTo>
                  <a:cubicBezTo>
                    <a:pt x="297244" y="1179830"/>
                    <a:pt x="292926" y="1177163"/>
                    <a:pt x="290767" y="1172845"/>
                  </a:cubicBezTo>
                  <a:lnTo>
                    <a:pt x="1334" y="595630"/>
                  </a:lnTo>
                  <a:cubicBezTo>
                    <a:pt x="-444" y="592074"/>
                    <a:pt x="-444" y="587883"/>
                    <a:pt x="1334" y="584200"/>
                  </a:cubicBezTo>
                  <a:lnTo>
                    <a:pt x="290767" y="6985"/>
                  </a:lnTo>
                  <a:cubicBezTo>
                    <a:pt x="292926" y="2667"/>
                    <a:pt x="297371" y="0"/>
                    <a:pt x="302070" y="0"/>
                  </a:cubicBezTo>
                  <a:lnTo>
                    <a:pt x="1055942" y="0"/>
                  </a:lnTo>
                  <a:cubicBezTo>
                    <a:pt x="1060768" y="0"/>
                    <a:pt x="1065086" y="2667"/>
                    <a:pt x="1067245" y="6985"/>
                  </a:cubicBezTo>
                  <a:lnTo>
                    <a:pt x="1356805" y="584200"/>
                  </a:lnTo>
                  <a:close/>
                </a:path>
              </a:pathLst>
            </a:custGeom>
            <a:solidFill>
              <a:srgbClr val="6875A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 rot="5400000">
            <a:off x="17238017" y="8281569"/>
            <a:ext cx="815250" cy="709050"/>
            <a:chOff x="0" y="0"/>
            <a:chExt cx="1087000" cy="945400"/>
          </a:xfrm>
        </p:grpSpPr>
        <p:sp>
          <p:nvSpPr>
            <p:cNvPr id="27" name="Freeform 27"/>
            <p:cNvSpPr/>
            <p:nvPr/>
          </p:nvSpPr>
          <p:spPr>
            <a:xfrm>
              <a:off x="63" y="0"/>
              <a:ext cx="1086993" cy="945388"/>
            </a:xfrm>
            <a:custGeom>
              <a:avLst/>
              <a:gdLst/>
              <a:ahLst/>
              <a:cxnLst/>
              <a:rect l="l" t="t" r="r" b="b"/>
              <a:pathLst>
                <a:path w="1086993" h="945388">
                  <a:moveTo>
                    <a:pt x="1062927" y="478409"/>
                  </a:moveTo>
                  <a:lnTo>
                    <a:pt x="832041" y="18415"/>
                  </a:lnTo>
                  <a:lnTo>
                    <a:pt x="843471" y="12700"/>
                  </a:lnTo>
                  <a:lnTo>
                    <a:pt x="843471" y="25400"/>
                  </a:lnTo>
                  <a:lnTo>
                    <a:pt x="243523" y="25400"/>
                  </a:lnTo>
                  <a:lnTo>
                    <a:pt x="243523" y="12700"/>
                  </a:lnTo>
                  <a:lnTo>
                    <a:pt x="254826" y="18415"/>
                  </a:lnTo>
                  <a:lnTo>
                    <a:pt x="23940" y="478409"/>
                  </a:lnTo>
                  <a:lnTo>
                    <a:pt x="12637" y="472694"/>
                  </a:lnTo>
                  <a:lnTo>
                    <a:pt x="23940" y="466979"/>
                  </a:lnTo>
                  <a:lnTo>
                    <a:pt x="254826" y="926973"/>
                  </a:lnTo>
                  <a:lnTo>
                    <a:pt x="243523" y="932688"/>
                  </a:lnTo>
                  <a:lnTo>
                    <a:pt x="243523" y="919988"/>
                  </a:lnTo>
                  <a:lnTo>
                    <a:pt x="843471" y="919988"/>
                  </a:lnTo>
                  <a:lnTo>
                    <a:pt x="843471" y="932688"/>
                  </a:lnTo>
                  <a:lnTo>
                    <a:pt x="832168" y="926973"/>
                  </a:lnTo>
                  <a:lnTo>
                    <a:pt x="1062927" y="466979"/>
                  </a:lnTo>
                  <a:lnTo>
                    <a:pt x="1074230" y="472694"/>
                  </a:lnTo>
                  <a:lnTo>
                    <a:pt x="1062927" y="478409"/>
                  </a:lnTo>
                  <a:moveTo>
                    <a:pt x="1085660" y="466979"/>
                  </a:moveTo>
                  <a:cubicBezTo>
                    <a:pt x="1087438" y="470535"/>
                    <a:pt x="1087438" y="474726"/>
                    <a:pt x="1085660" y="478409"/>
                  </a:cubicBezTo>
                  <a:lnTo>
                    <a:pt x="854774" y="938403"/>
                  </a:lnTo>
                  <a:cubicBezTo>
                    <a:pt x="852615" y="942721"/>
                    <a:pt x="848170" y="945388"/>
                    <a:pt x="843471" y="945388"/>
                  </a:cubicBezTo>
                  <a:lnTo>
                    <a:pt x="243523" y="945388"/>
                  </a:lnTo>
                  <a:cubicBezTo>
                    <a:pt x="238697" y="945388"/>
                    <a:pt x="234379" y="942721"/>
                    <a:pt x="232220" y="938403"/>
                  </a:cubicBezTo>
                  <a:lnTo>
                    <a:pt x="1334" y="478409"/>
                  </a:lnTo>
                  <a:cubicBezTo>
                    <a:pt x="-444" y="474853"/>
                    <a:pt x="-444" y="470662"/>
                    <a:pt x="1334" y="466979"/>
                  </a:cubicBezTo>
                  <a:lnTo>
                    <a:pt x="232093" y="6985"/>
                  </a:lnTo>
                  <a:cubicBezTo>
                    <a:pt x="234252" y="2667"/>
                    <a:pt x="238697" y="0"/>
                    <a:pt x="243396" y="0"/>
                  </a:cubicBezTo>
                  <a:lnTo>
                    <a:pt x="843471" y="0"/>
                  </a:lnTo>
                  <a:cubicBezTo>
                    <a:pt x="848297" y="0"/>
                    <a:pt x="852615" y="2667"/>
                    <a:pt x="854774" y="6985"/>
                  </a:cubicBezTo>
                  <a:lnTo>
                    <a:pt x="1085533" y="466979"/>
                  </a:lnTo>
                  <a:close/>
                </a:path>
              </a:pathLst>
            </a:custGeom>
            <a:solidFill>
              <a:srgbClr val="AFE0D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" name="Freeform 28"/>
          <p:cNvSpPr/>
          <p:nvPr/>
        </p:nvSpPr>
        <p:spPr>
          <a:xfrm>
            <a:off x="162715" y="8696731"/>
            <a:ext cx="1031935" cy="1189313"/>
          </a:xfrm>
          <a:custGeom>
            <a:avLst/>
            <a:gdLst/>
            <a:ahLst/>
            <a:cxnLst/>
            <a:rect l="l" t="t" r="r" b="b"/>
            <a:pathLst>
              <a:path w="1031935" h="1189313">
                <a:moveTo>
                  <a:pt x="0" y="0"/>
                </a:moveTo>
                <a:lnTo>
                  <a:pt x="1031936" y="0"/>
                </a:lnTo>
                <a:lnTo>
                  <a:pt x="1031936" y="1189314"/>
                </a:lnTo>
                <a:lnTo>
                  <a:pt x="0" y="11893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9" name="Group 29"/>
          <p:cNvGrpSpPr/>
          <p:nvPr/>
        </p:nvGrpSpPr>
        <p:grpSpPr>
          <a:xfrm rot="-5400000">
            <a:off x="73341" y="9522539"/>
            <a:ext cx="204600" cy="204600"/>
            <a:chOff x="0" y="0"/>
            <a:chExt cx="272800" cy="27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72796" cy="272796"/>
            </a:xfrm>
            <a:custGeom>
              <a:avLst/>
              <a:gdLst/>
              <a:ahLst/>
              <a:cxnLst/>
              <a:rect l="l" t="t" r="r" b="b"/>
              <a:pathLst>
                <a:path w="272796" h="272796">
                  <a:moveTo>
                    <a:pt x="272796" y="136398"/>
                  </a:moveTo>
                  <a:cubicBezTo>
                    <a:pt x="272796" y="61087"/>
                    <a:pt x="211709" y="0"/>
                    <a:pt x="136398" y="0"/>
                  </a:cubicBezTo>
                  <a:cubicBezTo>
                    <a:pt x="61087" y="0"/>
                    <a:pt x="0" y="61087"/>
                    <a:pt x="0" y="136398"/>
                  </a:cubicBezTo>
                  <a:cubicBezTo>
                    <a:pt x="0" y="211709"/>
                    <a:pt x="61087" y="272796"/>
                    <a:pt x="136398" y="272796"/>
                  </a:cubicBezTo>
                  <a:cubicBezTo>
                    <a:pt x="211709" y="272796"/>
                    <a:pt x="272796" y="211709"/>
                    <a:pt x="272796" y="136398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" name="Group 31"/>
          <p:cNvGrpSpPr/>
          <p:nvPr/>
        </p:nvGrpSpPr>
        <p:grpSpPr>
          <a:xfrm rot="-5400000">
            <a:off x="1074241" y="9879165"/>
            <a:ext cx="157200" cy="157200"/>
            <a:chOff x="0" y="0"/>
            <a:chExt cx="209600" cy="2096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209550" y="104775"/>
                  </a:moveTo>
                  <a:cubicBezTo>
                    <a:pt x="209550" y="46863"/>
                    <a:pt x="162687" y="0"/>
                    <a:pt x="104775" y="0"/>
                  </a:cubicBezTo>
                  <a:cubicBezTo>
                    <a:pt x="46863" y="0"/>
                    <a:pt x="0" y="46863"/>
                    <a:pt x="0" y="104775"/>
                  </a:cubicBezTo>
                  <a:cubicBezTo>
                    <a:pt x="0" y="162687"/>
                    <a:pt x="46863" y="209550"/>
                    <a:pt x="104775" y="209550"/>
                  </a:cubicBezTo>
                  <a:cubicBezTo>
                    <a:pt x="162687" y="209550"/>
                    <a:pt x="209550" y="162687"/>
                    <a:pt x="209550" y="104775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" name="Group 33"/>
          <p:cNvGrpSpPr/>
          <p:nvPr/>
        </p:nvGrpSpPr>
        <p:grpSpPr>
          <a:xfrm rot="-5400000">
            <a:off x="1525867" y="9441841"/>
            <a:ext cx="646050" cy="562050"/>
            <a:chOff x="0" y="0"/>
            <a:chExt cx="861400" cy="749400"/>
          </a:xfrm>
        </p:grpSpPr>
        <p:sp>
          <p:nvSpPr>
            <p:cNvPr id="34" name="Freeform 34"/>
            <p:cNvSpPr/>
            <p:nvPr/>
          </p:nvSpPr>
          <p:spPr>
            <a:xfrm>
              <a:off x="63" y="0"/>
              <a:ext cx="861441" cy="749427"/>
            </a:xfrm>
            <a:custGeom>
              <a:avLst/>
              <a:gdLst/>
              <a:ahLst/>
              <a:cxnLst/>
              <a:rect l="l" t="t" r="r" b="b"/>
              <a:pathLst>
                <a:path w="861441" h="749427">
                  <a:moveTo>
                    <a:pt x="837248" y="380365"/>
                  </a:moveTo>
                  <a:lnTo>
                    <a:pt x="655511" y="18415"/>
                  </a:lnTo>
                  <a:lnTo>
                    <a:pt x="666814" y="12700"/>
                  </a:lnTo>
                  <a:lnTo>
                    <a:pt x="666814" y="25400"/>
                  </a:lnTo>
                  <a:lnTo>
                    <a:pt x="194501" y="25400"/>
                  </a:lnTo>
                  <a:lnTo>
                    <a:pt x="194501" y="12700"/>
                  </a:lnTo>
                  <a:lnTo>
                    <a:pt x="205804" y="18415"/>
                  </a:lnTo>
                  <a:lnTo>
                    <a:pt x="23940" y="380365"/>
                  </a:lnTo>
                  <a:lnTo>
                    <a:pt x="12637" y="374650"/>
                  </a:lnTo>
                  <a:lnTo>
                    <a:pt x="23940" y="368935"/>
                  </a:lnTo>
                  <a:lnTo>
                    <a:pt x="205804" y="730885"/>
                  </a:lnTo>
                  <a:lnTo>
                    <a:pt x="194501" y="736600"/>
                  </a:lnTo>
                  <a:lnTo>
                    <a:pt x="194501" y="723900"/>
                  </a:lnTo>
                  <a:lnTo>
                    <a:pt x="666814" y="723900"/>
                  </a:lnTo>
                  <a:lnTo>
                    <a:pt x="666814" y="736600"/>
                  </a:lnTo>
                  <a:lnTo>
                    <a:pt x="655511" y="730885"/>
                  </a:lnTo>
                  <a:lnTo>
                    <a:pt x="837375" y="368935"/>
                  </a:lnTo>
                  <a:lnTo>
                    <a:pt x="848678" y="374650"/>
                  </a:lnTo>
                  <a:lnTo>
                    <a:pt x="837375" y="380365"/>
                  </a:lnTo>
                  <a:moveTo>
                    <a:pt x="860108" y="368935"/>
                  </a:moveTo>
                  <a:cubicBezTo>
                    <a:pt x="861886" y="372491"/>
                    <a:pt x="861886" y="376809"/>
                    <a:pt x="860108" y="380365"/>
                  </a:cubicBezTo>
                  <a:lnTo>
                    <a:pt x="678117" y="742442"/>
                  </a:lnTo>
                  <a:cubicBezTo>
                    <a:pt x="675958" y="746760"/>
                    <a:pt x="671513" y="749427"/>
                    <a:pt x="666814" y="749427"/>
                  </a:cubicBezTo>
                  <a:lnTo>
                    <a:pt x="194501" y="749427"/>
                  </a:lnTo>
                  <a:cubicBezTo>
                    <a:pt x="189675" y="749427"/>
                    <a:pt x="185357" y="746760"/>
                    <a:pt x="183198" y="742442"/>
                  </a:cubicBezTo>
                  <a:lnTo>
                    <a:pt x="1334" y="380365"/>
                  </a:lnTo>
                  <a:cubicBezTo>
                    <a:pt x="-444" y="376809"/>
                    <a:pt x="-444" y="372491"/>
                    <a:pt x="1334" y="368935"/>
                  </a:cubicBezTo>
                  <a:lnTo>
                    <a:pt x="183071" y="6985"/>
                  </a:lnTo>
                  <a:cubicBezTo>
                    <a:pt x="185230" y="2667"/>
                    <a:pt x="189675" y="0"/>
                    <a:pt x="194374" y="0"/>
                  </a:cubicBezTo>
                  <a:lnTo>
                    <a:pt x="666814" y="0"/>
                  </a:lnTo>
                  <a:cubicBezTo>
                    <a:pt x="671640" y="0"/>
                    <a:pt x="675958" y="2667"/>
                    <a:pt x="678117" y="6985"/>
                  </a:cubicBezTo>
                  <a:lnTo>
                    <a:pt x="859981" y="368935"/>
                  </a:ln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78683" y="2112355"/>
            <a:ext cx="5338842" cy="2125910"/>
            <a:chOff x="0" y="0"/>
            <a:chExt cx="7118455" cy="2834547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118444" cy="2834524"/>
            </a:xfrm>
            <a:custGeom>
              <a:avLst/>
              <a:gdLst/>
              <a:ahLst/>
              <a:cxnLst/>
              <a:rect l="l" t="t" r="r" b="b"/>
              <a:pathLst>
                <a:path w="7118444" h="2834524">
                  <a:moveTo>
                    <a:pt x="0" y="0"/>
                  </a:moveTo>
                  <a:lnTo>
                    <a:pt x="7118444" y="0"/>
                  </a:lnTo>
                  <a:lnTo>
                    <a:pt x="7118444" y="2834524"/>
                  </a:lnTo>
                  <a:lnTo>
                    <a:pt x="0" y="2834524"/>
                  </a:lnTo>
                  <a:close/>
                </a:path>
              </a:pathLst>
            </a:custGeom>
            <a:solidFill>
              <a:srgbClr val="7CBEFF">
                <a:alpha val="1019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31251" y="4638908"/>
            <a:ext cx="563400" cy="488400"/>
            <a:chOff x="0" y="0"/>
            <a:chExt cx="751200" cy="6512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751205" cy="651256"/>
            </a:xfrm>
            <a:custGeom>
              <a:avLst/>
              <a:gdLst/>
              <a:ahLst/>
              <a:cxnLst/>
              <a:rect l="l" t="t" r="r" b="b"/>
              <a:pathLst>
                <a:path w="751205" h="651256">
                  <a:moveTo>
                    <a:pt x="0" y="325628"/>
                  </a:moveTo>
                  <a:lnTo>
                    <a:pt x="162814" y="0"/>
                  </a:lnTo>
                  <a:lnTo>
                    <a:pt x="588391" y="0"/>
                  </a:lnTo>
                  <a:lnTo>
                    <a:pt x="751205" y="325628"/>
                  </a:lnTo>
                  <a:lnTo>
                    <a:pt x="588391" y="651256"/>
                  </a:lnTo>
                  <a:lnTo>
                    <a:pt x="162814" y="651256"/>
                  </a:lnTo>
                  <a:close/>
                </a:path>
              </a:pathLst>
            </a:custGeom>
            <a:solidFill>
              <a:srgbClr val="0D5CA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89441" y="6242920"/>
            <a:ext cx="563400" cy="488400"/>
            <a:chOff x="0" y="0"/>
            <a:chExt cx="751200" cy="6512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751205" cy="651256"/>
            </a:xfrm>
            <a:custGeom>
              <a:avLst/>
              <a:gdLst/>
              <a:ahLst/>
              <a:cxnLst/>
              <a:rect l="l" t="t" r="r" b="b"/>
              <a:pathLst>
                <a:path w="751205" h="651256">
                  <a:moveTo>
                    <a:pt x="0" y="325628"/>
                  </a:moveTo>
                  <a:lnTo>
                    <a:pt x="162814" y="0"/>
                  </a:lnTo>
                  <a:lnTo>
                    <a:pt x="588391" y="0"/>
                  </a:lnTo>
                  <a:lnTo>
                    <a:pt x="751205" y="325628"/>
                  </a:lnTo>
                  <a:lnTo>
                    <a:pt x="588391" y="651256"/>
                  </a:lnTo>
                  <a:lnTo>
                    <a:pt x="162814" y="651256"/>
                  </a:lnTo>
                  <a:close/>
                </a:path>
              </a:pathLst>
            </a:custGeom>
            <a:solidFill>
              <a:srgbClr val="7CBE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1" name="Freeform 41"/>
          <p:cNvSpPr/>
          <p:nvPr/>
        </p:nvSpPr>
        <p:spPr>
          <a:xfrm>
            <a:off x="7771729" y="5642100"/>
            <a:ext cx="8116311" cy="4469019"/>
          </a:xfrm>
          <a:custGeom>
            <a:avLst/>
            <a:gdLst/>
            <a:ahLst/>
            <a:cxnLst/>
            <a:rect l="l" t="t" r="r" b="b"/>
            <a:pathLst>
              <a:path w="7446260" h="4679903">
                <a:moveTo>
                  <a:pt x="0" y="0"/>
                </a:moveTo>
                <a:lnTo>
                  <a:pt x="7446260" y="0"/>
                </a:lnTo>
                <a:lnTo>
                  <a:pt x="7446260" y="4679903"/>
                </a:lnTo>
                <a:lnTo>
                  <a:pt x="0" y="467990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496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2" name="Freeform 42"/>
          <p:cNvSpPr/>
          <p:nvPr/>
        </p:nvSpPr>
        <p:spPr>
          <a:xfrm>
            <a:off x="8310121" y="1242120"/>
            <a:ext cx="7687895" cy="4410989"/>
          </a:xfrm>
          <a:custGeom>
            <a:avLst/>
            <a:gdLst/>
            <a:ahLst/>
            <a:cxnLst/>
            <a:rect l="l" t="t" r="r" b="b"/>
            <a:pathLst>
              <a:path w="7290807" h="4410989">
                <a:moveTo>
                  <a:pt x="0" y="0"/>
                </a:moveTo>
                <a:lnTo>
                  <a:pt x="7290806" y="0"/>
                </a:lnTo>
                <a:lnTo>
                  <a:pt x="7290806" y="4410988"/>
                </a:lnTo>
                <a:lnTo>
                  <a:pt x="0" y="441098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3" name="TextBox 43"/>
          <p:cNvSpPr txBox="1"/>
          <p:nvPr/>
        </p:nvSpPr>
        <p:spPr>
          <a:xfrm>
            <a:off x="499946" y="206210"/>
            <a:ext cx="13211985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1" dirty="0" err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Segmentarea</a:t>
            </a:r>
            <a:r>
              <a:rPr lang="en-US" sz="5000" b="1" dirty="0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5000" b="1" dirty="0" err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spitalelor</a:t>
            </a:r>
            <a:endParaRPr lang="en-US" sz="5000" b="1" dirty="0">
              <a:solidFill>
                <a:srgbClr val="353552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1231441" y="2157861"/>
            <a:ext cx="2539350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0"/>
              </a:lnSpc>
            </a:pPr>
            <a:r>
              <a:rPr lang="en-US" sz="4000" b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Eșantion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452977" y="5348589"/>
            <a:ext cx="4198552" cy="469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99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Soluția optimă </a:t>
            </a:r>
            <a:r>
              <a:rPr lang="en-US" sz="2799" b="1">
                <a:solidFill>
                  <a:srgbClr val="353552"/>
                </a:solidFill>
                <a:latin typeface="Catamaran Bold"/>
                <a:ea typeface="Catamaran Bold"/>
                <a:cs typeface="Catamaran Bold"/>
                <a:sym typeface="Catamaran Bold"/>
              </a:rPr>
              <a:t>k = 3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452977" y="4495440"/>
            <a:ext cx="3424258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0"/>
              </a:lnSpc>
            </a:pPr>
            <a:r>
              <a:rPr lang="en-US" sz="4000" b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Metoda Elbow 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452977" y="6099453"/>
            <a:ext cx="3424258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0"/>
              </a:lnSpc>
            </a:pPr>
            <a:r>
              <a:rPr lang="en-US" sz="4000" b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Silhouette 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12951" y="6817638"/>
            <a:ext cx="4103550" cy="1440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1987" lvl="1" indent="-305994" algn="l">
              <a:lnSpc>
                <a:spcPts val="3863"/>
              </a:lnSpc>
              <a:buFont typeface="Arial"/>
              <a:buChar char="•"/>
            </a:pPr>
            <a:r>
              <a:rPr lang="en-US" sz="2799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Coeficient mediu 0,52</a:t>
            </a:r>
          </a:p>
          <a:p>
            <a:pPr marL="611987" lvl="1" indent="-305994" algn="l">
              <a:lnSpc>
                <a:spcPts val="3863"/>
              </a:lnSpc>
              <a:buFont typeface="Arial"/>
              <a:buChar char="•"/>
            </a:pPr>
            <a:r>
              <a:rPr lang="en-US" sz="2799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Calitate bună a clasificării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71141" y="3021334"/>
            <a:ext cx="5396712" cy="1440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1987" lvl="1" indent="-305994" algn="l">
              <a:lnSpc>
                <a:spcPts val="3863"/>
              </a:lnSpc>
              <a:buFont typeface="Arial"/>
              <a:buChar char="•"/>
            </a:pPr>
            <a:r>
              <a:rPr lang="en-US" sz="2799" b="1">
                <a:solidFill>
                  <a:srgbClr val="353552"/>
                </a:solidFill>
                <a:latin typeface="Catamaran Bold"/>
                <a:ea typeface="Catamaran Bold"/>
                <a:cs typeface="Catamaran Bold"/>
                <a:sym typeface="Catamaran Bold"/>
              </a:rPr>
              <a:t>121 spitale de nivel de bază</a:t>
            </a:r>
          </a:p>
          <a:p>
            <a:pPr marL="611987" lvl="1" indent="-305994" algn="l">
              <a:lnSpc>
                <a:spcPts val="3863"/>
              </a:lnSpc>
              <a:buFont typeface="Arial"/>
              <a:buChar char="•"/>
            </a:pPr>
            <a:r>
              <a:rPr lang="en-US" sz="2799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Variabile sintetizate prin </a:t>
            </a:r>
            <a:r>
              <a:rPr lang="en-US" sz="2799" b="1">
                <a:solidFill>
                  <a:srgbClr val="353552"/>
                </a:solidFill>
                <a:latin typeface="Catamaran Bold"/>
                <a:ea typeface="Catamaran Bold"/>
                <a:cs typeface="Catamaran Bold"/>
                <a:sym typeface="Catamaran Bold"/>
              </a:rPr>
              <a:t>PCA</a:t>
            </a:r>
          </a:p>
          <a:p>
            <a:pPr algn="l">
              <a:lnSpc>
                <a:spcPts val="3863"/>
              </a:lnSpc>
            </a:pPr>
            <a:endParaRPr lang="en-US" sz="2799" b="1">
              <a:solidFill>
                <a:srgbClr val="353552"/>
              </a:solidFill>
              <a:latin typeface="Catamaran Bold"/>
              <a:ea typeface="Catamaran Bold"/>
              <a:cs typeface="Catamaran Bold"/>
              <a:sym typeface="Catamaran 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801525" y="9397003"/>
            <a:ext cx="1650450" cy="1432050"/>
          </a:xfrm>
          <a:custGeom>
            <a:avLst/>
            <a:gdLst/>
            <a:ahLst/>
            <a:cxnLst/>
            <a:rect l="l" t="t" r="r" b="b"/>
            <a:pathLst>
              <a:path w="1650450" h="1432050">
                <a:moveTo>
                  <a:pt x="0" y="0"/>
                </a:moveTo>
                <a:lnTo>
                  <a:pt x="1650450" y="0"/>
                </a:lnTo>
                <a:lnTo>
                  <a:pt x="1650450" y="1432050"/>
                </a:lnTo>
                <a:lnTo>
                  <a:pt x="0" y="14320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374304" y="9654056"/>
            <a:ext cx="1057939" cy="917945"/>
          </a:xfrm>
          <a:custGeom>
            <a:avLst/>
            <a:gdLst/>
            <a:ahLst/>
            <a:cxnLst/>
            <a:rect l="l" t="t" r="r" b="b"/>
            <a:pathLst>
              <a:path w="1057939" h="917945">
                <a:moveTo>
                  <a:pt x="0" y="0"/>
                </a:moveTo>
                <a:lnTo>
                  <a:pt x="1057940" y="0"/>
                </a:lnTo>
                <a:lnTo>
                  <a:pt x="1057940" y="917946"/>
                </a:lnTo>
                <a:lnTo>
                  <a:pt x="0" y="9179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rot="161881">
            <a:off x="15416389" y="10113028"/>
            <a:ext cx="404699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2223015" y="9400141"/>
            <a:ext cx="1111578" cy="964486"/>
          </a:xfrm>
          <a:custGeom>
            <a:avLst/>
            <a:gdLst/>
            <a:ahLst/>
            <a:cxnLst/>
            <a:rect l="l" t="t" r="r" b="b"/>
            <a:pathLst>
              <a:path w="1111578" h="964486">
                <a:moveTo>
                  <a:pt x="0" y="0"/>
                </a:moveTo>
                <a:lnTo>
                  <a:pt x="1111578" y="0"/>
                </a:lnTo>
                <a:lnTo>
                  <a:pt x="1111578" y="964486"/>
                </a:lnTo>
                <a:lnTo>
                  <a:pt x="0" y="9644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rot="10013647">
            <a:off x="13304158" y="9997828"/>
            <a:ext cx="1100105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359269" y="-968387"/>
            <a:ext cx="1766477" cy="1532723"/>
          </a:xfrm>
          <a:custGeom>
            <a:avLst/>
            <a:gdLst/>
            <a:ahLst/>
            <a:cxnLst/>
            <a:rect l="l" t="t" r="r" b="b"/>
            <a:pathLst>
              <a:path w="1766477" h="1532723">
                <a:moveTo>
                  <a:pt x="0" y="0"/>
                </a:moveTo>
                <a:lnTo>
                  <a:pt x="1766478" y="0"/>
                </a:lnTo>
                <a:lnTo>
                  <a:pt x="1766478" y="1532724"/>
                </a:lnTo>
                <a:lnTo>
                  <a:pt x="0" y="15327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 rot="-10800000">
            <a:off x="-503797" y="1398501"/>
            <a:ext cx="933450" cy="811050"/>
            <a:chOff x="0" y="0"/>
            <a:chExt cx="1244600" cy="1081400"/>
          </a:xfrm>
        </p:grpSpPr>
        <p:sp>
          <p:nvSpPr>
            <p:cNvPr id="9" name="Freeform 9"/>
            <p:cNvSpPr/>
            <p:nvPr/>
          </p:nvSpPr>
          <p:spPr>
            <a:xfrm>
              <a:off x="63" y="0"/>
              <a:ext cx="1244600" cy="1081405"/>
            </a:xfrm>
            <a:custGeom>
              <a:avLst/>
              <a:gdLst/>
              <a:ahLst/>
              <a:cxnLst/>
              <a:rect l="l" t="t" r="r" b="b"/>
              <a:pathLst>
                <a:path w="1244600" h="1081405">
                  <a:moveTo>
                    <a:pt x="1220534" y="546354"/>
                  </a:moveTo>
                  <a:lnTo>
                    <a:pt x="955612" y="18415"/>
                  </a:lnTo>
                  <a:lnTo>
                    <a:pt x="967042" y="12700"/>
                  </a:lnTo>
                  <a:lnTo>
                    <a:pt x="967042" y="25400"/>
                  </a:lnTo>
                  <a:lnTo>
                    <a:pt x="277432" y="25400"/>
                  </a:lnTo>
                  <a:lnTo>
                    <a:pt x="277432" y="12700"/>
                  </a:lnTo>
                  <a:lnTo>
                    <a:pt x="288735" y="18415"/>
                  </a:lnTo>
                  <a:lnTo>
                    <a:pt x="23940" y="546354"/>
                  </a:lnTo>
                  <a:lnTo>
                    <a:pt x="12637" y="540639"/>
                  </a:lnTo>
                  <a:lnTo>
                    <a:pt x="23940" y="534924"/>
                  </a:lnTo>
                  <a:lnTo>
                    <a:pt x="288862" y="1062990"/>
                  </a:lnTo>
                  <a:lnTo>
                    <a:pt x="277559" y="1068705"/>
                  </a:lnTo>
                  <a:lnTo>
                    <a:pt x="277559" y="1056005"/>
                  </a:lnTo>
                  <a:lnTo>
                    <a:pt x="967042" y="1056005"/>
                  </a:lnTo>
                  <a:lnTo>
                    <a:pt x="967042" y="1068705"/>
                  </a:lnTo>
                  <a:lnTo>
                    <a:pt x="955739" y="1062990"/>
                  </a:lnTo>
                  <a:lnTo>
                    <a:pt x="1220534" y="535051"/>
                  </a:lnTo>
                  <a:lnTo>
                    <a:pt x="1231837" y="540766"/>
                  </a:lnTo>
                  <a:lnTo>
                    <a:pt x="1220534" y="546481"/>
                  </a:lnTo>
                  <a:moveTo>
                    <a:pt x="1243267" y="535051"/>
                  </a:moveTo>
                  <a:cubicBezTo>
                    <a:pt x="1245045" y="538607"/>
                    <a:pt x="1245045" y="542798"/>
                    <a:pt x="1243267" y="546481"/>
                  </a:cubicBezTo>
                  <a:lnTo>
                    <a:pt x="978345" y="1074420"/>
                  </a:lnTo>
                  <a:cubicBezTo>
                    <a:pt x="976186" y="1078738"/>
                    <a:pt x="971741" y="1081405"/>
                    <a:pt x="967042" y="1081405"/>
                  </a:cubicBezTo>
                  <a:lnTo>
                    <a:pt x="277432" y="1081405"/>
                  </a:lnTo>
                  <a:cubicBezTo>
                    <a:pt x="272606" y="1081405"/>
                    <a:pt x="268288" y="1078738"/>
                    <a:pt x="266129" y="1074420"/>
                  </a:cubicBezTo>
                  <a:lnTo>
                    <a:pt x="1334" y="546354"/>
                  </a:lnTo>
                  <a:cubicBezTo>
                    <a:pt x="-444" y="542798"/>
                    <a:pt x="-444" y="538607"/>
                    <a:pt x="1334" y="534924"/>
                  </a:cubicBezTo>
                  <a:lnTo>
                    <a:pt x="266129" y="6985"/>
                  </a:lnTo>
                  <a:cubicBezTo>
                    <a:pt x="268288" y="2667"/>
                    <a:pt x="272733" y="0"/>
                    <a:pt x="277432" y="0"/>
                  </a:cubicBezTo>
                  <a:lnTo>
                    <a:pt x="967042" y="0"/>
                  </a:lnTo>
                  <a:cubicBezTo>
                    <a:pt x="971868" y="0"/>
                    <a:pt x="976186" y="2667"/>
                    <a:pt x="978345" y="6985"/>
                  </a:cubicBezTo>
                  <a:lnTo>
                    <a:pt x="1243140" y="535051"/>
                  </a:ln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AutoShape 10"/>
          <p:cNvSpPr/>
          <p:nvPr/>
        </p:nvSpPr>
        <p:spPr>
          <a:xfrm rot="200137">
            <a:off x="1051862" y="-202024"/>
            <a:ext cx="327405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 rot="3754738">
            <a:off x="-73191" y="487974"/>
            <a:ext cx="1576134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 rot="78807">
            <a:off x="-452608" y="1170574"/>
            <a:ext cx="831068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 rot="-10800000">
            <a:off x="1004526" y="-266726"/>
            <a:ext cx="129600" cy="129600"/>
            <a:chOff x="0" y="0"/>
            <a:chExt cx="172800" cy="17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72847" cy="172720"/>
            </a:xfrm>
            <a:custGeom>
              <a:avLst/>
              <a:gdLst/>
              <a:ahLst/>
              <a:cxnLst/>
              <a:rect l="l" t="t" r="r" b="b"/>
              <a:pathLst>
                <a:path w="172847" h="172720">
                  <a:moveTo>
                    <a:pt x="172847" y="86360"/>
                  </a:moveTo>
                  <a:cubicBezTo>
                    <a:pt x="172847" y="38608"/>
                    <a:pt x="134112" y="0"/>
                    <a:pt x="86487" y="0"/>
                  </a:cubicBezTo>
                  <a:cubicBezTo>
                    <a:pt x="38862" y="0"/>
                    <a:pt x="0" y="38735"/>
                    <a:pt x="0" y="86360"/>
                  </a:cubicBezTo>
                  <a:cubicBezTo>
                    <a:pt x="0" y="133985"/>
                    <a:pt x="38735" y="172720"/>
                    <a:pt x="86360" y="172720"/>
                  </a:cubicBezTo>
                  <a:cubicBezTo>
                    <a:pt x="133985" y="172720"/>
                    <a:pt x="172720" y="133985"/>
                    <a:pt x="172720" y="86360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AutoShape 15"/>
          <p:cNvSpPr/>
          <p:nvPr/>
        </p:nvSpPr>
        <p:spPr>
          <a:xfrm rot="7219507">
            <a:off x="30195" y="1713624"/>
            <a:ext cx="1287863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/>
          <p:nvPr/>
        </p:nvGrpSpPr>
        <p:grpSpPr>
          <a:xfrm rot="-10800000">
            <a:off x="926076" y="2188474"/>
            <a:ext cx="147000" cy="146400"/>
            <a:chOff x="0" y="0"/>
            <a:chExt cx="196000" cy="1952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96088" cy="195326"/>
            </a:xfrm>
            <a:custGeom>
              <a:avLst/>
              <a:gdLst/>
              <a:ahLst/>
              <a:cxnLst/>
              <a:rect l="l" t="t" r="r" b="b"/>
              <a:pathLst>
                <a:path w="196088" h="195326">
                  <a:moveTo>
                    <a:pt x="195961" y="97663"/>
                  </a:moveTo>
                  <a:cubicBezTo>
                    <a:pt x="195961" y="43688"/>
                    <a:pt x="152146" y="0"/>
                    <a:pt x="98044" y="0"/>
                  </a:cubicBezTo>
                  <a:cubicBezTo>
                    <a:pt x="43942" y="0"/>
                    <a:pt x="0" y="43688"/>
                    <a:pt x="0" y="97663"/>
                  </a:cubicBezTo>
                  <a:cubicBezTo>
                    <a:pt x="0" y="151638"/>
                    <a:pt x="43815" y="195326"/>
                    <a:pt x="98044" y="195326"/>
                  </a:cubicBezTo>
                  <a:cubicBezTo>
                    <a:pt x="152273" y="195326"/>
                    <a:pt x="196088" y="151638"/>
                    <a:pt x="196088" y="97663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 rot="-10800000">
            <a:off x="-556174" y="1092024"/>
            <a:ext cx="157200" cy="157200"/>
            <a:chOff x="0" y="0"/>
            <a:chExt cx="209600" cy="2096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209550" y="104775"/>
                  </a:moveTo>
                  <a:cubicBezTo>
                    <a:pt x="209550" y="46863"/>
                    <a:pt x="162687" y="0"/>
                    <a:pt x="104775" y="0"/>
                  </a:cubicBezTo>
                  <a:cubicBezTo>
                    <a:pt x="46863" y="0"/>
                    <a:pt x="0" y="46863"/>
                    <a:pt x="0" y="104775"/>
                  </a:cubicBezTo>
                  <a:cubicBezTo>
                    <a:pt x="0" y="162687"/>
                    <a:pt x="46863" y="209550"/>
                    <a:pt x="104775" y="209550"/>
                  </a:cubicBezTo>
                  <a:cubicBezTo>
                    <a:pt x="162687" y="209550"/>
                    <a:pt x="209550" y="162687"/>
                    <a:pt x="209550" y="104775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 rot="-10800000">
            <a:off x="-250570" y="400868"/>
            <a:ext cx="614400" cy="532200"/>
            <a:chOff x="0" y="0"/>
            <a:chExt cx="819200" cy="7096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9150" cy="709549"/>
            </a:xfrm>
            <a:custGeom>
              <a:avLst/>
              <a:gdLst/>
              <a:ahLst/>
              <a:cxnLst/>
              <a:rect l="l" t="t" r="r" b="b"/>
              <a:pathLst>
                <a:path w="819150" h="709549">
                  <a:moveTo>
                    <a:pt x="819150" y="354838"/>
                  </a:moveTo>
                  <a:lnTo>
                    <a:pt x="641858" y="0"/>
                  </a:lnTo>
                  <a:lnTo>
                    <a:pt x="177419" y="0"/>
                  </a:lnTo>
                  <a:lnTo>
                    <a:pt x="0" y="354838"/>
                  </a:lnTo>
                  <a:lnTo>
                    <a:pt x="177419" y="709549"/>
                  </a:lnTo>
                  <a:lnTo>
                    <a:pt x="641858" y="709549"/>
                  </a:lnTo>
                  <a:close/>
                </a:path>
              </a:pathLst>
            </a:custGeom>
            <a:solidFill>
              <a:srgbClr val="7CBEFF">
                <a:alpha val="35294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785800" y="2475300"/>
            <a:ext cx="608400" cy="608400"/>
            <a:chOff x="0" y="0"/>
            <a:chExt cx="811200" cy="8112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1149" cy="811149"/>
            </a:xfrm>
            <a:custGeom>
              <a:avLst/>
              <a:gdLst/>
              <a:ahLst/>
              <a:cxnLst/>
              <a:rect l="l" t="t" r="r" b="b"/>
              <a:pathLst>
                <a:path w="811149" h="811149">
                  <a:moveTo>
                    <a:pt x="0" y="405638"/>
                  </a:moveTo>
                  <a:cubicBezTo>
                    <a:pt x="0" y="181610"/>
                    <a:pt x="181610" y="0"/>
                    <a:pt x="405638" y="0"/>
                  </a:cubicBezTo>
                  <a:cubicBezTo>
                    <a:pt x="629666" y="0"/>
                    <a:pt x="811149" y="181610"/>
                    <a:pt x="811149" y="405638"/>
                  </a:cubicBezTo>
                  <a:cubicBezTo>
                    <a:pt x="811149" y="629666"/>
                    <a:pt x="629666" y="811149"/>
                    <a:pt x="405638" y="811149"/>
                  </a:cubicBezTo>
                  <a:cubicBezTo>
                    <a:pt x="181610" y="811149"/>
                    <a:pt x="0" y="629666"/>
                    <a:pt x="0" y="405638"/>
                  </a:cubicBezTo>
                  <a:close/>
                </a:path>
              </a:pathLst>
            </a:custGeom>
            <a:solidFill>
              <a:srgbClr val="F4C5B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785800" y="4709300"/>
            <a:ext cx="608400" cy="608400"/>
            <a:chOff x="0" y="0"/>
            <a:chExt cx="811200" cy="8112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1149" cy="811149"/>
            </a:xfrm>
            <a:custGeom>
              <a:avLst/>
              <a:gdLst/>
              <a:ahLst/>
              <a:cxnLst/>
              <a:rect l="l" t="t" r="r" b="b"/>
              <a:pathLst>
                <a:path w="811149" h="811149">
                  <a:moveTo>
                    <a:pt x="0" y="405638"/>
                  </a:moveTo>
                  <a:cubicBezTo>
                    <a:pt x="0" y="181610"/>
                    <a:pt x="181610" y="0"/>
                    <a:pt x="405638" y="0"/>
                  </a:cubicBezTo>
                  <a:cubicBezTo>
                    <a:pt x="629666" y="0"/>
                    <a:pt x="811149" y="181610"/>
                    <a:pt x="811149" y="405638"/>
                  </a:cubicBezTo>
                  <a:cubicBezTo>
                    <a:pt x="811149" y="629666"/>
                    <a:pt x="629666" y="811149"/>
                    <a:pt x="405638" y="811149"/>
                  </a:cubicBezTo>
                  <a:cubicBezTo>
                    <a:pt x="181610" y="811149"/>
                    <a:pt x="0" y="629666"/>
                    <a:pt x="0" y="405638"/>
                  </a:cubicBezTo>
                  <a:close/>
                </a:path>
              </a:pathLst>
            </a:custGeom>
            <a:solidFill>
              <a:srgbClr val="8ADDA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785800" y="6983727"/>
            <a:ext cx="608400" cy="608400"/>
            <a:chOff x="0" y="0"/>
            <a:chExt cx="811200" cy="8112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1149" cy="811149"/>
            </a:xfrm>
            <a:custGeom>
              <a:avLst/>
              <a:gdLst/>
              <a:ahLst/>
              <a:cxnLst/>
              <a:rect l="l" t="t" r="r" b="b"/>
              <a:pathLst>
                <a:path w="811149" h="811149">
                  <a:moveTo>
                    <a:pt x="0" y="405638"/>
                  </a:moveTo>
                  <a:cubicBezTo>
                    <a:pt x="0" y="181610"/>
                    <a:pt x="181610" y="0"/>
                    <a:pt x="405638" y="0"/>
                  </a:cubicBezTo>
                  <a:cubicBezTo>
                    <a:pt x="629666" y="0"/>
                    <a:pt x="811149" y="181610"/>
                    <a:pt x="811149" y="405638"/>
                  </a:cubicBezTo>
                  <a:cubicBezTo>
                    <a:pt x="811149" y="629666"/>
                    <a:pt x="629666" y="811149"/>
                    <a:pt x="405638" y="811149"/>
                  </a:cubicBezTo>
                  <a:cubicBezTo>
                    <a:pt x="181610" y="811149"/>
                    <a:pt x="0" y="629666"/>
                    <a:pt x="0" y="405638"/>
                  </a:cubicBezTo>
                  <a:close/>
                </a:path>
              </a:pathLst>
            </a:custGeom>
            <a:solidFill>
              <a:srgbClr val="9BD4E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" name="Freeform 28"/>
          <p:cNvSpPr/>
          <p:nvPr/>
        </p:nvSpPr>
        <p:spPr>
          <a:xfrm>
            <a:off x="7158725" y="2475300"/>
            <a:ext cx="11129275" cy="6057542"/>
          </a:xfrm>
          <a:custGeom>
            <a:avLst/>
            <a:gdLst/>
            <a:ahLst/>
            <a:cxnLst/>
            <a:rect l="l" t="t" r="r" b="b"/>
            <a:pathLst>
              <a:path w="11129275" h="6057542">
                <a:moveTo>
                  <a:pt x="0" y="0"/>
                </a:moveTo>
                <a:lnTo>
                  <a:pt x="11129275" y="0"/>
                </a:lnTo>
                <a:lnTo>
                  <a:pt x="11129275" y="6057542"/>
                </a:lnTo>
                <a:lnTo>
                  <a:pt x="0" y="605754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2485925" y="2389575"/>
            <a:ext cx="4356327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0"/>
              </a:lnSpc>
            </a:pPr>
            <a:r>
              <a:rPr lang="en-US" sz="4000" b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Cluster 1 (n=15)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485925" y="6898002"/>
            <a:ext cx="3891750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0"/>
              </a:lnSpc>
            </a:pPr>
            <a:r>
              <a:rPr lang="en-US" sz="4000" b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Cluster 3 (n=41)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485875" y="4568747"/>
            <a:ext cx="3891750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0"/>
              </a:lnSpc>
            </a:pPr>
            <a:r>
              <a:rPr lang="en-US" sz="4000" b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Cluster 2 (n=65)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32770" y="619453"/>
            <a:ext cx="17542949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1" dirty="0" err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Segmentarea</a:t>
            </a:r>
            <a:r>
              <a:rPr lang="en-US" sz="5000" b="1" dirty="0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5000" b="1" dirty="0" err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spitalelor</a:t>
            </a:r>
            <a:r>
              <a:rPr lang="en-US" sz="5000" b="1" dirty="0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372812" y="3237457"/>
            <a:ext cx="4004813" cy="1006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sz="2799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Spitale cu resurse și activitate medicală ridicate.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485925" y="7757741"/>
            <a:ext cx="3891750" cy="1520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sz="2799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Spitale cu resurse și activitate medicală moderate.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253637" y="5356964"/>
            <a:ext cx="4356327" cy="1520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sz="2799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Spitale cu resurse și activitate medicală reduse, grup utilizat în analiza eficienței.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38446" y="97987"/>
            <a:ext cx="16611108" cy="10091026"/>
          </a:xfrm>
          <a:custGeom>
            <a:avLst/>
            <a:gdLst/>
            <a:ahLst/>
            <a:cxnLst/>
            <a:rect l="l" t="t" r="r" b="b"/>
            <a:pathLst>
              <a:path w="16611108" h="10091026">
                <a:moveTo>
                  <a:pt x="0" y="0"/>
                </a:moveTo>
                <a:lnTo>
                  <a:pt x="16611108" y="0"/>
                </a:lnTo>
                <a:lnTo>
                  <a:pt x="16611108" y="10091026"/>
                </a:lnTo>
                <a:lnTo>
                  <a:pt x="0" y="100910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15310" y="8766470"/>
            <a:ext cx="2187169" cy="2520733"/>
          </a:xfrm>
          <a:custGeom>
            <a:avLst/>
            <a:gdLst/>
            <a:ahLst/>
            <a:cxnLst/>
            <a:rect l="l" t="t" r="r" b="b"/>
            <a:pathLst>
              <a:path w="2187169" h="2520733">
                <a:moveTo>
                  <a:pt x="0" y="0"/>
                </a:moveTo>
                <a:lnTo>
                  <a:pt x="2187170" y="0"/>
                </a:lnTo>
                <a:lnTo>
                  <a:pt x="2187170" y="2520734"/>
                </a:lnTo>
                <a:lnTo>
                  <a:pt x="0" y="25207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rot="8999864">
            <a:off x="15738048" y="11018736"/>
            <a:ext cx="1180419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 rot="5400000">
            <a:off x="16021034" y="9611504"/>
            <a:ext cx="614400" cy="532200"/>
            <a:chOff x="0" y="0"/>
            <a:chExt cx="819200" cy="709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9150" cy="709549"/>
            </a:xfrm>
            <a:custGeom>
              <a:avLst/>
              <a:gdLst/>
              <a:ahLst/>
              <a:cxnLst/>
              <a:rect l="l" t="t" r="r" b="b"/>
              <a:pathLst>
                <a:path w="819150" h="709549">
                  <a:moveTo>
                    <a:pt x="0" y="354838"/>
                  </a:moveTo>
                  <a:lnTo>
                    <a:pt x="177419" y="0"/>
                  </a:lnTo>
                  <a:lnTo>
                    <a:pt x="641858" y="0"/>
                  </a:lnTo>
                  <a:lnTo>
                    <a:pt x="819150" y="354838"/>
                  </a:lnTo>
                  <a:lnTo>
                    <a:pt x="641858" y="709549"/>
                  </a:lnTo>
                  <a:lnTo>
                    <a:pt x="177419" y="709549"/>
                  </a:lnTo>
                  <a:close/>
                </a:path>
              </a:pathLst>
            </a:custGeom>
            <a:solidFill>
              <a:srgbClr val="7CBEFF">
                <a:alpha val="35294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rot="5354632">
            <a:off x="17187106" y="8068818"/>
            <a:ext cx="1443576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 rot="5400000">
            <a:off x="17592159" y="6774029"/>
            <a:ext cx="633450" cy="551250"/>
            <a:chOff x="0" y="0"/>
            <a:chExt cx="844600" cy="735000"/>
          </a:xfrm>
        </p:grpSpPr>
        <p:sp>
          <p:nvSpPr>
            <p:cNvPr id="8" name="Freeform 8"/>
            <p:cNvSpPr/>
            <p:nvPr/>
          </p:nvSpPr>
          <p:spPr>
            <a:xfrm>
              <a:off x="63" y="0"/>
              <a:ext cx="844550" cy="734949"/>
            </a:xfrm>
            <a:custGeom>
              <a:avLst/>
              <a:gdLst/>
              <a:ahLst/>
              <a:cxnLst/>
              <a:rect l="l" t="t" r="r" b="b"/>
              <a:pathLst>
                <a:path w="844550" h="734949">
                  <a:moveTo>
                    <a:pt x="1334" y="361823"/>
                  </a:moveTo>
                  <a:lnTo>
                    <a:pt x="179515" y="6985"/>
                  </a:lnTo>
                  <a:cubicBezTo>
                    <a:pt x="181674" y="2667"/>
                    <a:pt x="186119" y="0"/>
                    <a:pt x="190818" y="0"/>
                  </a:cubicBezTo>
                  <a:lnTo>
                    <a:pt x="653606" y="0"/>
                  </a:lnTo>
                  <a:cubicBezTo>
                    <a:pt x="658432" y="0"/>
                    <a:pt x="662750" y="2667"/>
                    <a:pt x="664909" y="6985"/>
                  </a:cubicBezTo>
                  <a:lnTo>
                    <a:pt x="843217" y="361823"/>
                  </a:lnTo>
                  <a:cubicBezTo>
                    <a:pt x="844995" y="365379"/>
                    <a:pt x="844995" y="369697"/>
                    <a:pt x="843217" y="373253"/>
                  </a:cubicBezTo>
                  <a:lnTo>
                    <a:pt x="664909" y="727964"/>
                  </a:lnTo>
                  <a:cubicBezTo>
                    <a:pt x="662750" y="732282"/>
                    <a:pt x="658305" y="734949"/>
                    <a:pt x="653606" y="734949"/>
                  </a:cubicBezTo>
                  <a:lnTo>
                    <a:pt x="190818" y="734949"/>
                  </a:lnTo>
                  <a:cubicBezTo>
                    <a:pt x="185992" y="734949"/>
                    <a:pt x="181674" y="732282"/>
                    <a:pt x="179515" y="727964"/>
                  </a:cubicBezTo>
                  <a:lnTo>
                    <a:pt x="1334" y="373253"/>
                  </a:lnTo>
                  <a:cubicBezTo>
                    <a:pt x="-444" y="369697"/>
                    <a:pt x="-444" y="365379"/>
                    <a:pt x="1334" y="361823"/>
                  </a:cubicBezTo>
                  <a:moveTo>
                    <a:pt x="24067" y="373253"/>
                  </a:moveTo>
                  <a:lnTo>
                    <a:pt x="12637" y="367538"/>
                  </a:lnTo>
                  <a:lnTo>
                    <a:pt x="23940" y="361823"/>
                  </a:lnTo>
                  <a:lnTo>
                    <a:pt x="202248" y="716661"/>
                  </a:lnTo>
                  <a:lnTo>
                    <a:pt x="190945" y="722376"/>
                  </a:lnTo>
                  <a:lnTo>
                    <a:pt x="190945" y="709676"/>
                  </a:lnTo>
                  <a:lnTo>
                    <a:pt x="653606" y="709676"/>
                  </a:lnTo>
                  <a:lnTo>
                    <a:pt x="653606" y="722376"/>
                  </a:lnTo>
                  <a:lnTo>
                    <a:pt x="642303" y="716661"/>
                  </a:lnTo>
                  <a:lnTo>
                    <a:pt x="820484" y="361823"/>
                  </a:lnTo>
                  <a:lnTo>
                    <a:pt x="831787" y="367538"/>
                  </a:lnTo>
                  <a:lnTo>
                    <a:pt x="820484" y="373253"/>
                  </a:lnTo>
                  <a:lnTo>
                    <a:pt x="642303" y="18415"/>
                  </a:lnTo>
                  <a:lnTo>
                    <a:pt x="653606" y="12700"/>
                  </a:lnTo>
                  <a:lnTo>
                    <a:pt x="653606" y="25400"/>
                  </a:lnTo>
                  <a:lnTo>
                    <a:pt x="190818" y="25400"/>
                  </a:lnTo>
                  <a:lnTo>
                    <a:pt x="190818" y="12700"/>
                  </a:lnTo>
                  <a:lnTo>
                    <a:pt x="202121" y="18415"/>
                  </a:lnTo>
                  <a:lnTo>
                    <a:pt x="23940" y="373253"/>
                  </a:ln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Freeform 9"/>
          <p:cNvSpPr/>
          <p:nvPr/>
        </p:nvSpPr>
        <p:spPr>
          <a:xfrm>
            <a:off x="1382619" y="9262413"/>
            <a:ext cx="1766477" cy="1532723"/>
          </a:xfrm>
          <a:custGeom>
            <a:avLst/>
            <a:gdLst/>
            <a:ahLst/>
            <a:cxnLst/>
            <a:rect l="l" t="t" r="r" b="b"/>
            <a:pathLst>
              <a:path w="1766477" h="1532723">
                <a:moveTo>
                  <a:pt x="0" y="0"/>
                </a:moveTo>
                <a:lnTo>
                  <a:pt x="1766478" y="0"/>
                </a:lnTo>
                <a:lnTo>
                  <a:pt x="1766478" y="1532724"/>
                </a:lnTo>
                <a:lnTo>
                  <a:pt x="0" y="15327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-480447" y="7617199"/>
            <a:ext cx="933450" cy="811050"/>
            <a:chOff x="0" y="0"/>
            <a:chExt cx="1244600" cy="1081400"/>
          </a:xfrm>
        </p:grpSpPr>
        <p:sp>
          <p:nvSpPr>
            <p:cNvPr id="11" name="Freeform 11"/>
            <p:cNvSpPr/>
            <p:nvPr/>
          </p:nvSpPr>
          <p:spPr>
            <a:xfrm>
              <a:off x="63" y="0"/>
              <a:ext cx="1244473" cy="1081405"/>
            </a:xfrm>
            <a:custGeom>
              <a:avLst/>
              <a:gdLst/>
              <a:ahLst/>
              <a:cxnLst/>
              <a:rect l="l" t="t" r="r" b="b"/>
              <a:pathLst>
                <a:path w="1244473" h="1081405">
                  <a:moveTo>
                    <a:pt x="1334" y="535051"/>
                  </a:moveTo>
                  <a:lnTo>
                    <a:pt x="266129" y="6985"/>
                  </a:lnTo>
                  <a:cubicBezTo>
                    <a:pt x="268288" y="2667"/>
                    <a:pt x="272733" y="0"/>
                    <a:pt x="277432" y="0"/>
                  </a:cubicBezTo>
                  <a:lnTo>
                    <a:pt x="967042" y="0"/>
                  </a:lnTo>
                  <a:cubicBezTo>
                    <a:pt x="971868" y="0"/>
                    <a:pt x="976186" y="2667"/>
                    <a:pt x="978345" y="6985"/>
                  </a:cubicBezTo>
                  <a:lnTo>
                    <a:pt x="1243140" y="535051"/>
                  </a:lnTo>
                  <a:cubicBezTo>
                    <a:pt x="1244918" y="538607"/>
                    <a:pt x="1244918" y="542798"/>
                    <a:pt x="1243140" y="546481"/>
                  </a:cubicBezTo>
                  <a:lnTo>
                    <a:pt x="978345" y="1074420"/>
                  </a:lnTo>
                  <a:cubicBezTo>
                    <a:pt x="976186" y="1078738"/>
                    <a:pt x="971741" y="1081405"/>
                    <a:pt x="967042" y="1081405"/>
                  </a:cubicBezTo>
                  <a:lnTo>
                    <a:pt x="277432" y="1081405"/>
                  </a:lnTo>
                  <a:cubicBezTo>
                    <a:pt x="272606" y="1081405"/>
                    <a:pt x="268288" y="1078738"/>
                    <a:pt x="266129" y="1074420"/>
                  </a:cubicBezTo>
                  <a:lnTo>
                    <a:pt x="1334" y="546354"/>
                  </a:lnTo>
                  <a:cubicBezTo>
                    <a:pt x="-444" y="542798"/>
                    <a:pt x="-444" y="538607"/>
                    <a:pt x="1334" y="534924"/>
                  </a:cubicBezTo>
                  <a:moveTo>
                    <a:pt x="24067" y="546354"/>
                  </a:moveTo>
                  <a:lnTo>
                    <a:pt x="12637" y="540639"/>
                  </a:lnTo>
                  <a:lnTo>
                    <a:pt x="23940" y="534924"/>
                  </a:lnTo>
                  <a:lnTo>
                    <a:pt x="288862" y="1062990"/>
                  </a:lnTo>
                  <a:lnTo>
                    <a:pt x="277559" y="1068705"/>
                  </a:lnTo>
                  <a:lnTo>
                    <a:pt x="277559" y="1056005"/>
                  </a:lnTo>
                  <a:lnTo>
                    <a:pt x="967042" y="1056005"/>
                  </a:lnTo>
                  <a:lnTo>
                    <a:pt x="967042" y="1068705"/>
                  </a:lnTo>
                  <a:lnTo>
                    <a:pt x="955739" y="1062990"/>
                  </a:lnTo>
                  <a:lnTo>
                    <a:pt x="1220534" y="535051"/>
                  </a:lnTo>
                  <a:lnTo>
                    <a:pt x="1231837" y="540766"/>
                  </a:lnTo>
                  <a:lnTo>
                    <a:pt x="1220534" y="546481"/>
                  </a:lnTo>
                  <a:lnTo>
                    <a:pt x="955612" y="18415"/>
                  </a:lnTo>
                  <a:lnTo>
                    <a:pt x="967042" y="12700"/>
                  </a:lnTo>
                  <a:lnTo>
                    <a:pt x="967042" y="25400"/>
                  </a:lnTo>
                  <a:lnTo>
                    <a:pt x="277432" y="25400"/>
                  </a:lnTo>
                  <a:lnTo>
                    <a:pt x="277432" y="12700"/>
                  </a:lnTo>
                  <a:lnTo>
                    <a:pt x="288735" y="18415"/>
                  </a:lnTo>
                  <a:lnTo>
                    <a:pt x="23940" y="546354"/>
                  </a:ln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00202" y="9221276"/>
            <a:ext cx="204600" cy="204600"/>
            <a:chOff x="0" y="0"/>
            <a:chExt cx="272800" cy="27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72796" cy="272796"/>
            </a:xfrm>
            <a:custGeom>
              <a:avLst/>
              <a:gdLst/>
              <a:ahLst/>
              <a:cxnLst/>
              <a:rect l="l" t="t" r="r" b="b"/>
              <a:pathLst>
                <a:path w="272796" h="272796">
                  <a:moveTo>
                    <a:pt x="0" y="136398"/>
                  </a:moveTo>
                  <a:cubicBezTo>
                    <a:pt x="0" y="61087"/>
                    <a:pt x="61087" y="0"/>
                    <a:pt x="136398" y="0"/>
                  </a:cubicBezTo>
                  <a:cubicBezTo>
                    <a:pt x="211709" y="0"/>
                    <a:pt x="272796" y="61087"/>
                    <a:pt x="272796" y="136398"/>
                  </a:cubicBezTo>
                  <a:cubicBezTo>
                    <a:pt x="272796" y="211709"/>
                    <a:pt x="211709" y="272796"/>
                    <a:pt x="136398" y="272796"/>
                  </a:cubicBezTo>
                  <a:cubicBezTo>
                    <a:pt x="61087" y="272796"/>
                    <a:pt x="0" y="211709"/>
                    <a:pt x="0" y="136398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AutoShape 14"/>
          <p:cNvSpPr/>
          <p:nvPr/>
        </p:nvSpPr>
        <p:spPr>
          <a:xfrm rot="200137">
            <a:off x="1075212" y="10028774"/>
            <a:ext cx="327405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 rot="3754738">
            <a:off x="-49841" y="9338776"/>
            <a:ext cx="1576134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 rot="78807">
            <a:off x="-429258" y="8656176"/>
            <a:ext cx="831068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>
            <a:off x="1027876" y="9963876"/>
            <a:ext cx="129600" cy="129600"/>
            <a:chOff x="0" y="0"/>
            <a:chExt cx="172800" cy="17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72720" cy="172720"/>
            </a:xfrm>
            <a:custGeom>
              <a:avLst/>
              <a:gdLst/>
              <a:ahLst/>
              <a:cxnLst/>
              <a:rect l="l" t="t" r="r" b="b"/>
              <a:pathLst>
                <a:path w="172720" h="172720">
                  <a:moveTo>
                    <a:pt x="0" y="86360"/>
                  </a:moveTo>
                  <a:cubicBezTo>
                    <a:pt x="0" y="38735"/>
                    <a:pt x="38735" y="0"/>
                    <a:pt x="86360" y="0"/>
                  </a:cubicBezTo>
                  <a:cubicBezTo>
                    <a:pt x="133985" y="0"/>
                    <a:pt x="172720" y="38735"/>
                    <a:pt x="172720" y="86360"/>
                  </a:cubicBezTo>
                  <a:cubicBezTo>
                    <a:pt x="172720" y="133985"/>
                    <a:pt x="133985" y="172720"/>
                    <a:pt x="86360" y="172720"/>
                  </a:cubicBezTo>
                  <a:cubicBezTo>
                    <a:pt x="38735" y="172720"/>
                    <a:pt x="0" y="134112"/>
                    <a:pt x="0" y="86360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AutoShape 19"/>
          <p:cNvSpPr/>
          <p:nvPr/>
        </p:nvSpPr>
        <p:spPr>
          <a:xfrm rot="7219507">
            <a:off x="53545" y="8113126"/>
            <a:ext cx="1287863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949426" y="7491876"/>
            <a:ext cx="147000" cy="146400"/>
            <a:chOff x="0" y="0"/>
            <a:chExt cx="196000" cy="1952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96088" cy="195326"/>
            </a:xfrm>
            <a:custGeom>
              <a:avLst/>
              <a:gdLst/>
              <a:ahLst/>
              <a:cxnLst/>
              <a:rect l="l" t="t" r="r" b="b"/>
              <a:pathLst>
                <a:path w="196088" h="195326">
                  <a:moveTo>
                    <a:pt x="0" y="97663"/>
                  </a:moveTo>
                  <a:cubicBezTo>
                    <a:pt x="0" y="43688"/>
                    <a:pt x="43815" y="0"/>
                    <a:pt x="98044" y="0"/>
                  </a:cubicBezTo>
                  <a:cubicBezTo>
                    <a:pt x="152273" y="0"/>
                    <a:pt x="196088" y="43688"/>
                    <a:pt x="196088" y="97663"/>
                  </a:cubicBezTo>
                  <a:cubicBezTo>
                    <a:pt x="196088" y="151638"/>
                    <a:pt x="152273" y="195326"/>
                    <a:pt x="98044" y="195326"/>
                  </a:cubicBezTo>
                  <a:cubicBezTo>
                    <a:pt x="43815" y="195326"/>
                    <a:pt x="0" y="151511"/>
                    <a:pt x="0" y="97663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-532824" y="8577526"/>
            <a:ext cx="157200" cy="157200"/>
            <a:chOff x="0" y="0"/>
            <a:chExt cx="209600" cy="2096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0" y="104775"/>
                  </a:moveTo>
                  <a:cubicBezTo>
                    <a:pt x="0" y="46863"/>
                    <a:pt x="46863" y="0"/>
                    <a:pt x="104775" y="0"/>
                  </a:cubicBezTo>
                  <a:cubicBezTo>
                    <a:pt x="162687" y="0"/>
                    <a:pt x="209550" y="46863"/>
                    <a:pt x="209550" y="104775"/>
                  </a:cubicBezTo>
                  <a:cubicBezTo>
                    <a:pt x="209550" y="162687"/>
                    <a:pt x="162687" y="209550"/>
                    <a:pt x="104775" y="209550"/>
                  </a:cubicBezTo>
                  <a:cubicBezTo>
                    <a:pt x="46863" y="209550"/>
                    <a:pt x="0" y="162687"/>
                    <a:pt x="0" y="104775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-227220" y="8893682"/>
            <a:ext cx="614400" cy="532200"/>
            <a:chOff x="0" y="0"/>
            <a:chExt cx="819200" cy="7096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9150" cy="709549"/>
            </a:xfrm>
            <a:custGeom>
              <a:avLst/>
              <a:gdLst/>
              <a:ahLst/>
              <a:cxnLst/>
              <a:rect l="l" t="t" r="r" b="b"/>
              <a:pathLst>
                <a:path w="819150" h="709549">
                  <a:moveTo>
                    <a:pt x="0" y="354838"/>
                  </a:moveTo>
                  <a:lnTo>
                    <a:pt x="177419" y="0"/>
                  </a:lnTo>
                  <a:lnTo>
                    <a:pt x="641858" y="0"/>
                  </a:lnTo>
                  <a:lnTo>
                    <a:pt x="819150" y="354838"/>
                  </a:lnTo>
                  <a:lnTo>
                    <a:pt x="641858" y="709549"/>
                  </a:lnTo>
                  <a:lnTo>
                    <a:pt x="177419" y="709549"/>
                  </a:lnTo>
                  <a:close/>
                </a:path>
              </a:pathLst>
            </a:custGeom>
            <a:solidFill>
              <a:srgbClr val="7CBEFF">
                <a:alpha val="35294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Freeform 26"/>
          <p:cNvSpPr/>
          <p:nvPr/>
        </p:nvSpPr>
        <p:spPr>
          <a:xfrm>
            <a:off x="17206328" y="1666258"/>
            <a:ext cx="1946828" cy="1258673"/>
          </a:xfrm>
          <a:custGeom>
            <a:avLst/>
            <a:gdLst/>
            <a:ahLst/>
            <a:cxnLst/>
            <a:rect l="l" t="t" r="r" b="b"/>
            <a:pathLst>
              <a:path w="1946828" h="1258673">
                <a:moveTo>
                  <a:pt x="0" y="0"/>
                </a:moveTo>
                <a:lnTo>
                  <a:pt x="1946828" y="0"/>
                </a:lnTo>
                <a:lnTo>
                  <a:pt x="1946828" y="1258673"/>
                </a:lnTo>
                <a:lnTo>
                  <a:pt x="0" y="12586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AutoShape 27"/>
          <p:cNvSpPr/>
          <p:nvPr/>
        </p:nvSpPr>
        <p:spPr>
          <a:xfrm rot="3469093">
            <a:off x="17518959" y="3190510"/>
            <a:ext cx="665848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8" name="Group 28"/>
          <p:cNvGrpSpPr/>
          <p:nvPr/>
        </p:nvGrpSpPr>
        <p:grpSpPr>
          <a:xfrm>
            <a:off x="16853730" y="3100923"/>
            <a:ext cx="836516" cy="726639"/>
            <a:chOff x="0" y="0"/>
            <a:chExt cx="1115354" cy="968852"/>
          </a:xfrm>
        </p:grpSpPr>
        <p:sp>
          <p:nvSpPr>
            <p:cNvPr id="29" name="Freeform 29"/>
            <p:cNvSpPr/>
            <p:nvPr/>
          </p:nvSpPr>
          <p:spPr>
            <a:xfrm>
              <a:off x="63" y="0"/>
              <a:ext cx="1119886" cy="973328"/>
            </a:xfrm>
            <a:custGeom>
              <a:avLst/>
              <a:gdLst/>
              <a:ahLst/>
              <a:cxnLst/>
              <a:rect l="l" t="t" r="r" b="b"/>
              <a:pathLst>
                <a:path w="1119886" h="973328">
                  <a:moveTo>
                    <a:pt x="1095820" y="492379"/>
                  </a:moveTo>
                  <a:lnTo>
                    <a:pt x="858076" y="18415"/>
                  </a:lnTo>
                  <a:lnTo>
                    <a:pt x="869506" y="12700"/>
                  </a:lnTo>
                  <a:lnTo>
                    <a:pt x="869506" y="25400"/>
                  </a:lnTo>
                  <a:lnTo>
                    <a:pt x="250381" y="25400"/>
                  </a:lnTo>
                  <a:lnTo>
                    <a:pt x="250381" y="12700"/>
                  </a:lnTo>
                  <a:lnTo>
                    <a:pt x="261684" y="18415"/>
                  </a:lnTo>
                  <a:lnTo>
                    <a:pt x="23940" y="492379"/>
                  </a:lnTo>
                  <a:lnTo>
                    <a:pt x="12637" y="486664"/>
                  </a:lnTo>
                  <a:lnTo>
                    <a:pt x="23940" y="480949"/>
                  </a:lnTo>
                  <a:lnTo>
                    <a:pt x="261684" y="955040"/>
                  </a:lnTo>
                  <a:lnTo>
                    <a:pt x="250381" y="960755"/>
                  </a:lnTo>
                  <a:lnTo>
                    <a:pt x="250381" y="948055"/>
                  </a:lnTo>
                  <a:lnTo>
                    <a:pt x="869506" y="948055"/>
                  </a:lnTo>
                  <a:lnTo>
                    <a:pt x="869506" y="960755"/>
                  </a:lnTo>
                  <a:lnTo>
                    <a:pt x="858203" y="955040"/>
                  </a:lnTo>
                  <a:lnTo>
                    <a:pt x="1095820" y="480949"/>
                  </a:lnTo>
                  <a:lnTo>
                    <a:pt x="1107123" y="486664"/>
                  </a:lnTo>
                  <a:lnTo>
                    <a:pt x="1095820" y="492379"/>
                  </a:lnTo>
                  <a:moveTo>
                    <a:pt x="1118553" y="480949"/>
                  </a:moveTo>
                  <a:cubicBezTo>
                    <a:pt x="1120331" y="484505"/>
                    <a:pt x="1120331" y="488696"/>
                    <a:pt x="1118553" y="492379"/>
                  </a:cubicBezTo>
                  <a:lnTo>
                    <a:pt x="880809" y="966343"/>
                  </a:lnTo>
                  <a:cubicBezTo>
                    <a:pt x="878650" y="970661"/>
                    <a:pt x="874205" y="973328"/>
                    <a:pt x="869506" y="973328"/>
                  </a:cubicBezTo>
                  <a:lnTo>
                    <a:pt x="250381" y="973328"/>
                  </a:lnTo>
                  <a:cubicBezTo>
                    <a:pt x="245555" y="973328"/>
                    <a:pt x="241237" y="970661"/>
                    <a:pt x="239078" y="966343"/>
                  </a:cubicBezTo>
                  <a:lnTo>
                    <a:pt x="1334" y="492379"/>
                  </a:lnTo>
                  <a:cubicBezTo>
                    <a:pt x="-444" y="488823"/>
                    <a:pt x="-444" y="484632"/>
                    <a:pt x="1334" y="480949"/>
                  </a:cubicBezTo>
                  <a:lnTo>
                    <a:pt x="238951" y="6985"/>
                  </a:lnTo>
                  <a:cubicBezTo>
                    <a:pt x="241110" y="2667"/>
                    <a:pt x="245555" y="0"/>
                    <a:pt x="250254" y="0"/>
                  </a:cubicBezTo>
                  <a:lnTo>
                    <a:pt x="869506" y="0"/>
                  </a:lnTo>
                  <a:cubicBezTo>
                    <a:pt x="874332" y="0"/>
                    <a:pt x="878650" y="2667"/>
                    <a:pt x="880809" y="6985"/>
                  </a:cubicBezTo>
                  <a:lnTo>
                    <a:pt x="1118426" y="480949"/>
                  </a:lnTo>
                  <a:close/>
                </a:path>
              </a:pathLst>
            </a:custGeom>
            <a:solidFill>
              <a:srgbClr val="6875A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6937244" y="3173233"/>
            <a:ext cx="669483" cy="582272"/>
            <a:chOff x="0" y="0"/>
            <a:chExt cx="892645" cy="776363"/>
          </a:xfrm>
        </p:grpSpPr>
        <p:sp>
          <p:nvSpPr>
            <p:cNvPr id="31" name="Freeform 31"/>
            <p:cNvSpPr/>
            <p:nvPr/>
          </p:nvSpPr>
          <p:spPr>
            <a:xfrm>
              <a:off x="63" y="0"/>
              <a:ext cx="897128" cy="780923"/>
            </a:xfrm>
            <a:custGeom>
              <a:avLst/>
              <a:gdLst/>
              <a:ahLst/>
              <a:cxnLst/>
              <a:rect l="l" t="t" r="r" b="b"/>
              <a:pathLst>
                <a:path w="897128" h="780923">
                  <a:moveTo>
                    <a:pt x="873062" y="396113"/>
                  </a:moveTo>
                  <a:lnTo>
                    <a:pt x="683578" y="18415"/>
                  </a:lnTo>
                  <a:lnTo>
                    <a:pt x="694881" y="12700"/>
                  </a:lnTo>
                  <a:lnTo>
                    <a:pt x="694881" y="25400"/>
                  </a:lnTo>
                  <a:lnTo>
                    <a:pt x="202248" y="25400"/>
                  </a:lnTo>
                  <a:lnTo>
                    <a:pt x="202248" y="12700"/>
                  </a:lnTo>
                  <a:lnTo>
                    <a:pt x="213551" y="18415"/>
                  </a:lnTo>
                  <a:lnTo>
                    <a:pt x="23940" y="396113"/>
                  </a:lnTo>
                  <a:lnTo>
                    <a:pt x="12637" y="390398"/>
                  </a:lnTo>
                  <a:lnTo>
                    <a:pt x="23940" y="384683"/>
                  </a:lnTo>
                  <a:lnTo>
                    <a:pt x="213551" y="762508"/>
                  </a:lnTo>
                  <a:lnTo>
                    <a:pt x="202248" y="768223"/>
                  </a:lnTo>
                  <a:lnTo>
                    <a:pt x="202248" y="755523"/>
                  </a:lnTo>
                  <a:lnTo>
                    <a:pt x="694881" y="755523"/>
                  </a:lnTo>
                  <a:lnTo>
                    <a:pt x="694881" y="768223"/>
                  </a:lnTo>
                  <a:lnTo>
                    <a:pt x="683578" y="762508"/>
                  </a:lnTo>
                  <a:lnTo>
                    <a:pt x="873062" y="384810"/>
                  </a:lnTo>
                  <a:lnTo>
                    <a:pt x="884365" y="390525"/>
                  </a:lnTo>
                  <a:lnTo>
                    <a:pt x="873062" y="396240"/>
                  </a:lnTo>
                  <a:moveTo>
                    <a:pt x="895795" y="384810"/>
                  </a:moveTo>
                  <a:cubicBezTo>
                    <a:pt x="897573" y="388366"/>
                    <a:pt x="897573" y="392557"/>
                    <a:pt x="895795" y="396240"/>
                  </a:cubicBezTo>
                  <a:lnTo>
                    <a:pt x="706184" y="773938"/>
                  </a:lnTo>
                  <a:cubicBezTo>
                    <a:pt x="704025" y="778256"/>
                    <a:pt x="699580" y="780923"/>
                    <a:pt x="694881" y="780923"/>
                  </a:cubicBezTo>
                  <a:lnTo>
                    <a:pt x="202248" y="780923"/>
                  </a:lnTo>
                  <a:cubicBezTo>
                    <a:pt x="197422" y="780923"/>
                    <a:pt x="193104" y="778256"/>
                    <a:pt x="190945" y="773938"/>
                  </a:cubicBezTo>
                  <a:lnTo>
                    <a:pt x="1334" y="396113"/>
                  </a:lnTo>
                  <a:cubicBezTo>
                    <a:pt x="-444" y="392557"/>
                    <a:pt x="-444" y="388366"/>
                    <a:pt x="1334" y="384683"/>
                  </a:cubicBezTo>
                  <a:lnTo>
                    <a:pt x="190818" y="6985"/>
                  </a:lnTo>
                  <a:cubicBezTo>
                    <a:pt x="192977" y="2667"/>
                    <a:pt x="197422" y="0"/>
                    <a:pt x="202121" y="0"/>
                  </a:cubicBezTo>
                  <a:lnTo>
                    <a:pt x="694881" y="0"/>
                  </a:lnTo>
                  <a:cubicBezTo>
                    <a:pt x="699707" y="0"/>
                    <a:pt x="704025" y="2667"/>
                    <a:pt x="706184" y="6985"/>
                  </a:cubicBezTo>
                  <a:lnTo>
                    <a:pt x="895795" y="384810"/>
                  </a:lnTo>
                  <a:close/>
                </a:path>
              </a:pathLst>
            </a:custGeom>
            <a:solidFill>
              <a:srgbClr val="AFE0D9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7338686" y="338550"/>
            <a:ext cx="1191000" cy="1031400"/>
            <a:chOff x="0" y="0"/>
            <a:chExt cx="1588000" cy="13752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588008" cy="1375156"/>
            </a:xfrm>
            <a:custGeom>
              <a:avLst/>
              <a:gdLst/>
              <a:ahLst/>
              <a:cxnLst/>
              <a:rect l="l" t="t" r="r" b="b"/>
              <a:pathLst>
                <a:path w="1588008" h="1375156">
                  <a:moveTo>
                    <a:pt x="1588008" y="687578"/>
                  </a:moveTo>
                  <a:lnTo>
                    <a:pt x="1244219" y="0"/>
                  </a:lnTo>
                  <a:lnTo>
                    <a:pt x="343789" y="0"/>
                  </a:lnTo>
                  <a:lnTo>
                    <a:pt x="0" y="687578"/>
                  </a:lnTo>
                  <a:lnTo>
                    <a:pt x="343789" y="1375156"/>
                  </a:lnTo>
                  <a:lnTo>
                    <a:pt x="1244219" y="1375156"/>
                  </a:lnTo>
                  <a:close/>
                </a:path>
              </a:pathLst>
            </a:custGeom>
            <a:solidFill>
              <a:srgbClr val="7CBEFF">
                <a:alpha val="35294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7498661" y="475775"/>
            <a:ext cx="871050" cy="757050"/>
            <a:chOff x="0" y="0"/>
            <a:chExt cx="1161400" cy="1009400"/>
          </a:xfrm>
        </p:grpSpPr>
        <p:sp>
          <p:nvSpPr>
            <p:cNvPr id="35" name="Freeform 35"/>
            <p:cNvSpPr/>
            <p:nvPr/>
          </p:nvSpPr>
          <p:spPr>
            <a:xfrm>
              <a:off x="63" y="0"/>
              <a:ext cx="1161288" cy="1009396"/>
            </a:xfrm>
            <a:custGeom>
              <a:avLst/>
              <a:gdLst/>
              <a:ahLst/>
              <a:cxnLst/>
              <a:rect l="l" t="t" r="r" b="b"/>
              <a:pathLst>
                <a:path w="1161288" h="1009396">
                  <a:moveTo>
                    <a:pt x="1137222" y="510413"/>
                  </a:moveTo>
                  <a:lnTo>
                    <a:pt x="890461" y="18415"/>
                  </a:lnTo>
                  <a:lnTo>
                    <a:pt x="901764" y="12700"/>
                  </a:lnTo>
                  <a:lnTo>
                    <a:pt x="901764" y="25400"/>
                  </a:lnTo>
                  <a:lnTo>
                    <a:pt x="259525" y="25400"/>
                  </a:lnTo>
                  <a:lnTo>
                    <a:pt x="259525" y="12700"/>
                  </a:lnTo>
                  <a:lnTo>
                    <a:pt x="270828" y="18415"/>
                  </a:lnTo>
                  <a:lnTo>
                    <a:pt x="23940" y="510413"/>
                  </a:lnTo>
                  <a:lnTo>
                    <a:pt x="12637" y="504698"/>
                  </a:lnTo>
                  <a:lnTo>
                    <a:pt x="23940" y="498983"/>
                  </a:lnTo>
                  <a:lnTo>
                    <a:pt x="270828" y="990981"/>
                  </a:lnTo>
                  <a:lnTo>
                    <a:pt x="259525" y="996696"/>
                  </a:lnTo>
                  <a:lnTo>
                    <a:pt x="259525" y="983996"/>
                  </a:lnTo>
                  <a:lnTo>
                    <a:pt x="901764" y="983996"/>
                  </a:lnTo>
                  <a:lnTo>
                    <a:pt x="901764" y="996696"/>
                  </a:lnTo>
                  <a:lnTo>
                    <a:pt x="890461" y="990981"/>
                  </a:lnTo>
                  <a:lnTo>
                    <a:pt x="1137222" y="498983"/>
                  </a:lnTo>
                  <a:lnTo>
                    <a:pt x="1148525" y="504698"/>
                  </a:lnTo>
                  <a:lnTo>
                    <a:pt x="1137222" y="510413"/>
                  </a:lnTo>
                  <a:moveTo>
                    <a:pt x="1159955" y="498983"/>
                  </a:moveTo>
                  <a:cubicBezTo>
                    <a:pt x="1161733" y="502539"/>
                    <a:pt x="1161733" y="506730"/>
                    <a:pt x="1159955" y="510413"/>
                  </a:cubicBezTo>
                  <a:lnTo>
                    <a:pt x="913194" y="1002411"/>
                  </a:lnTo>
                  <a:cubicBezTo>
                    <a:pt x="911035" y="1006729"/>
                    <a:pt x="906590" y="1009396"/>
                    <a:pt x="901891" y="1009396"/>
                  </a:cubicBezTo>
                  <a:lnTo>
                    <a:pt x="259525" y="1009396"/>
                  </a:lnTo>
                  <a:cubicBezTo>
                    <a:pt x="254699" y="1009396"/>
                    <a:pt x="250381" y="1006729"/>
                    <a:pt x="248222" y="1002411"/>
                  </a:cubicBezTo>
                  <a:lnTo>
                    <a:pt x="1334" y="510413"/>
                  </a:lnTo>
                  <a:cubicBezTo>
                    <a:pt x="-444" y="506857"/>
                    <a:pt x="-444" y="502666"/>
                    <a:pt x="1334" y="498983"/>
                  </a:cubicBezTo>
                  <a:lnTo>
                    <a:pt x="248095" y="6985"/>
                  </a:lnTo>
                  <a:cubicBezTo>
                    <a:pt x="250254" y="2667"/>
                    <a:pt x="254699" y="0"/>
                    <a:pt x="259398" y="0"/>
                  </a:cubicBezTo>
                  <a:lnTo>
                    <a:pt x="901764" y="0"/>
                  </a:lnTo>
                  <a:cubicBezTo>
                    <a:pt x="906590" y="0"/>
                    <a:pt x="910908" y="2667"/>
                    <a:pt x="913067" y="6985"/>
                  </a:cubicBezTo>
                  <a:lnTo>
                    <a:pt x="1159955" y="498983"/>
                  </a:lnTo>
                  <a:close/>
                </a:path>
              </a:pathLst>
            </a:custGeom>
            <a:solidFill>
              <a:srgbClr val="6875A7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402339" y="1404213"/>
            <a:ext cx="15225150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1" dirty="0" err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Evaluarea</a:t>
            </a:r>
            <a:r>
              <a:rPr lang="en-US" sz="5000" b="1" dirty="0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5000" b="1" dirty="0" err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eficienței</a:t>
            </a:r>
            <a:endParaRPr lang="en-US" sz="5000" b="1" dirty="0">
              <a:solidFill>
                <a:srgbClr val="353552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966675" y="5915464"/>
            <a:ext cx="4167750" cy="2549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sz="2799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Spitale mici din Salonta, Cernavodă, Sânnicolau Mare, Zimnicea cu o bună corelare volum–resurse și rol strategic local.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083053" y="5961335"/>
            <a:ext cx="4167750" cy="306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sz="2799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 Săcele, Sinaia, Mizil, Orșova situate în proximitatea centrelor mari. Migrarea pacienților reduce volumul de activitate, nu managementul deficitar.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203303" y="5961335"/>
            <a:ext cx="4167750" cy="2605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sz="2799" dirty="0" err="1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Îmbunătățirea</a:t>
            </a:r>
            <a:r>
              <a:rPr lang="en-US" sz="2799" dirty="0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-US" sz="2799" dirty="0" err="1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eficienței</a:t>
            </a:r>
            <a:r>
              <a:rPr lang="en-US" sz="2799" dirty="0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-US" sz="2799" dirty="0" err="1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prin</a:t>
            </a:r>
            <a:r>
              <a:rPr lang="en-US" sz="2799" dirty="0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ro-RO" sz="2799" dirty="0">
                <a:solidFill>
                  <a:srgbClr val="353552"/>
                </a:solidFill>
                <a:latin typeface="Catamaran"/>
                <a:cs typeface="Catamaran"/>
                <a:sym typeface="Catamaran"/>
              </a:rPr>
              <a:t>c</a:t>
            </a:r>
            <a:r>
              <a:rPr lang="en-US" sz="2799" dirty="0" err="1">
                <a:solidFill>
                  <a:srgbClr val="353552"/>
                </a:solidFill>
                <a:latin typeface="Catamaran"/>
                <a:cs typeface="Catamaran"/>
              </a:rPr>
              <a:t>reșterea</a:t>
            </a:r>
            <a:r>
              <a:rPr lang="en-US" sz="2799" dirty="0">
                <a:solidFill>
                  <a:srgbClr val="353552"/>
                </a:solidFill>
                <a:latin typeface="Catamaran"/>
                <a:cs typeface="Catamaran"/>
              </a:rPr>
              <a:t> </a:t>
            </a:r>
            <a:r>
              <a:rPr lang="en-US" sz="2799" dirty="0" err="1">
                <a:solidFill>
                  <a:srgbClr val="353552"/>
                </a:solidFill>
                <a:latin typeface="Catamaran"/>
                <a:cs typeface="Catamaran"/>
              </a:rPr>
              <a:t>volumului</a:t>
            </a:r>
            <a:r>
              <a:rPr lang="en-US" sz="2799" dirty="0">
                <a:solidFill>
                  <a:srgbClr val="353552"/>
                </a:solidFill>
                <a:latin typeface="Catamaran"/>
                <a:cs typeface="Catamaran"/>
              </a:rPr>
              <a:t> de </a:t>
            </a:r>
            <a:r>
              <a:rPr lang="en-US" sz="2799" dirty="0" err="1">
                <a:solidFill>
                  <a:srgbClr val="353552"/>
                </a:solidFill>
                <a:latin typeface="Catamaran"/>
                <a:cs typeface="Catamaran"/>
              </a:rPr>
              <a:t>activitate</a:t>
            </a:r>
            <a:r>
              <a:rPr lang="en-US" sz="2799" dirty="0">
                <a:solidFill>
                  <a:srgbClr val="353552"/>
                </a:solidFill>
                <a:latin typeface="Catamaran"/>
                <a:cs typeface="Catamaran"/>
              </a:rPr>
              <a:t> </a:t>
            </a:r>
            <a:r>
              <a:rPr lang="en-US" sz="2799" dirty="0" err="1">
                <a:solidFill>
                  <a:srgbClr val="353552"/>
                </a:solidFill>
                <a:latin typeface="Catamaran"/>
                <a:cs typeface="Catamaran"/>
              </a:rPr>
              <a:t>și</a:t>
            </a:r>
            <a:r>
              <a:rPr lang="en-US" sz="2799" dirty="0">
                <a:solidFill>
                  <a:srgbClr val="353552"/>
                </a:solidFill>
                <a:latin typeface="Catamaran"/>
                <a:cs typeface="Catamaran"/>
              </a:rPr>
              <a:t> </a:t>
            </a:r>
            <a:r>
              <a:rPr lang="en-US" sz="2799" dirty="0" err="1">
                <a:solidFill>
                  <a:srgbClr val="353552"/>
                </a:solidFill>
                <a:latin typeface="Catamaran"/>
                <a:cs typeface="Catamaran"/>
              </a:rPr>
              <a:t>utilizarea</a:t>
            </a:r>
            <a:r>
              <a:rPr lang="en-US" sz="2799" dirty="0">
                <a:solidFill>
                  <a:srgbClr val="353552"/>
                </a:solidFill>
                <a:latin typeface="Catamaran"/>
                <a:cs typeface="Catamaran"/>
              </a:rPr>
              <a:t> </a:t>
            </a:r>
            <a:r>
              <a:rPr lang="en-US" sz="2799" dirty="0" err="1">
                <a:solidFill>
                  <a:srgbClr val="353552"/>
                </a:solidFill>
                <a:latin typeface="Catamaran"/>
                <a:cs typeface="Catamaran"/>
              </a:rPr>
              <a:t>mai</a:t>
            </a:r>
            <a:r>
              <a:rPr lang="en-US" sz="2799" dirty="0">
                <a:solidFill>
                  <a:srgbClr val="353552"/>
                </a:solidFill>
                <a:latin typeface="Catamaran"/>
                <a:cs typeface="Catamaran"/>
              </a:rPr>
              <a:t> </a:t>
            </a:r>
            <a:r>
              <a:rPr lang="en-US" sz="2799" dirty="0" err="1">
                <a:solidFill>
                  <a:srgbClr val="353552"/>
                </a:solidFill>
                <a:latin typeface="Catamaran"/>
                <a:cs typeface="Catamaran"/>
              </a:rPr>
              <a:t>eficientă</a:t>
            </a:r>
            <a:r>
              <a:rPr lang="en-US" sz="2799" dirty="0">
                <a:solidFill>
                  <a:srgbClr val="353552"/>
                </a:solidFill>
                <a:latin typeface="Catamaran"/>
                <a:cs typeface="Catamaran"/>
              </a:rPr>
              <a:t> a </a:t>
            </a:r>
            <a:r>
              <a:rPr lang="en-US" sz="2799" dirty="0" err="1">
                <a:solidFill>
                  <a:srgbClr val="353552"/>
                </a:solidFill>
                <a:latin typeface="Catamaran"/>
                <a:cs typeface="Catamaran"/>
              </a:rPr>
              <a:t>capacității</a:t>
            </a:r>
            <a:r>
              <a:rPr lang="en-US" sz="2799" dirty="0">
                <a:solidFill>
                  <a:srgbClr val="353552"/>
                </a:solidFill>
                <a:latin typeface="Catamaran"/>
                <a:cs typeface="Catamaran"/>
              </a:rPr>
              <a:t> </a:t>
            </a:r>
            <a:r>
              <a:rPr lang="en-US" sz="2799" dirty="0" err="1">
                <a:solidFill>
                  <a:srgbClr val="353552"/>
                </a:solidFill>
                <a:latin typeface="Catamaran"/>
                <a:cs typeface="Catamaran"/>
              </a:rPr>
              <a:t>existente</a:t>
            </a:r>
            <a:r>
              <a:rPr lang="en-US" sz="2799" dirty="0">
                <a:solidFill>
                  <a:srgbClr val="353552"/>
                </a:solidFill>
                <a:latin typeface="Catamaran"/>
                <a:cs typeface="Catamaran"/>
              </a:rPr>
              <a:t>.</a:t>
            </a:r>
            <a:endParaRPr lang="en-US" sz="2799" dirty="0">
              <a:solidFill>
                <a:srgbClr val="353552"/>
              </a:solidFill>
              <a:latin typeface="Catamaran"/>
              <a:cs typeface="Catamaran"/>
              <a:sym typeface="Catamaran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966675" y="5093865"/>
            <a:ext cx="4167750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20"/>
              </a:lnSpc>
            </a:pPr>
            <a:r>
              <a:rPr lang="en-US" sz="4000" b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Spitale eficiente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858311" y="5100010"/>
            <a:ext cx="4672334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20"/>
              </a:lnSpc>
            </a:pPr>
            <a:r>
              <a:rPr lang="en-US" sz="4000" b="1" dirty="0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Spitale </a:t>
            </a:r>
            <a:r>
              <a:rPr lang="en-US" sz="4000" b="1" dirty="0" err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ineficiente</a:t>
            </a:r>
            <a:endParaRPr lang="en-US" sz="4000" b="1" dirty="0">
              <a:solidFill>
                <a:srgbClr val="353552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2153575" y="5093865"/>
            <a:ext cx="4167750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20"/>
              </a:lnSpc>
            </a:pPr>
            <a:r>
              <a:rPr lang="en-US" sz="4000" b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 Recomandare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3469158" y="3585438"/>
            <a:ext cx="1162800" cy="1007400"/>
            <a:chOff x="0" y="0"/>
            <a:chExt cx="1550400" cy="13432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550416" cy="1343152"/>
            </a:xfrm>
            <a:custGeom>
              <a:avLst/>
              <a:gdLst/>
              <a:ahLst/>
              <a:cxnLst/>
              <a:rect l="l" t="t" r="r" b="b"/>
              <a:pathLst>
                <a:path w="1550416" h="1343152">
                  <a:moveTo>
                    <a:pt x="0" y="671576"/>
                  </a:moveTo>
                  <a:lnTo>
                    <a:pt x="335788" y="0"/>
                  </a:lnTo>
                  <a:lnTo>
                    <a:pt x="1214628" y="0"/>
                  </a:lnTo>
                  <a:lnTo>
                    <a:pt x="1550416" y="671576"/>
                  </a:lnTo>
                  <a:lnTo>
                    <a:pt x="1214628" y="1343152"/>
                  </a:lnTo>
                  <a:lnTo>
                    <a:pt x="335788" y="1343152"/>
                  </a:lnTo>
                  <a:close/>
                </a:path>
              </a:pathLst>
            </a:custGeom>
            <a:solidFill>
              <a:srgbClr val="7CBE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562608" y="3585438"/>
            <a:ext cx="1162800" cy="1007400"/>
            <a:chOff x="0" y="0"/>
            <a:chExt cx="1550400" cy="13432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550416" cy="1343152"/>
            </a:xfrm>
            <a:custGeom>
              <a:avLst/>
              <a:gdLst/>
              <a:ahLst/>
              <a:cxnLst/>
              <a:rect l="l" t="t" r="r" b="b"/>
              <a:pathLst>
                <a:path w="1550416" h="1343152">
                  <a:moveTo>
                    <a:pt x="0" y="671576"/>
                  </a:moveTo>
                  <a:lnTo>
                    <a:pt x="335788" y="0"/>
                  </a:lnTo>
                  <a:lnTo>
                    <a:pt x="1214628" y="0"/>
                  </a:lnTo>
                  <a:lnTo>
                    <a:pt x="1550416" y="671576"/>
                  </a:lnTo>
                  <a:lnTo>
                    <a:pt x="1214628" y="1343152"/>
                  </a:lnTo>
                  <a:lnTo>
                    <a:pt x="335788" y="1343152"/>
                  </a:lnTo>
                  <a:close/>
                </a:path>
              </a:pathLst>
            </a:custGeom>
            <a:solidFill>
              <a:srgbClr val="7CBE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3656058" y="3585438"/>
            <a:ext cx="1162800" cy="1007400"/>
            <a:chOff x="0" y="0"/>
            <a:chExt cx="1550400" cy="13432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550416" cy="1343152"/>
            </a:xfrm>
            <a:custGeom>
              <a:avLst/>
              <a:gdLst/>
              <a:ahLst/>
              <a:cxnLst/>
              <a:rect l="l" t="t" r="r" b="b"/>
              <a:pathLst>
                <a:path w="1550416" h="1343152">
                  <a:moveTo>
                    <a:pt x="0" y="671576"/>
                  </a:moveTo>
                  <a:lnTo>
                    <a:pt x="335788" y="0"/>
                  </a:lnTo>
                  <a:lnTo>
                    <a:pt x="1214628" y="0"/>
                  </a:lnTo>
                  <a:lnTo>
                    <a:pt x="1550416" y="671576"/>
                  </a:lnTo>
                  <a:lnTo>
                    <a:pt x="1214628" y="1343152"/>
                  </a:lnTo>
                  <a:lnTo>
                    <a:pt x="335788" y="1343152"/>
                  </a:lnTo>
                  <a:close/>
                </a:path>
              </a:pathLst>
            </a:custGeom>
            <a:solidFill>
              <a:srgbClr val="7CBE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9" name="Freeform 49"/>
          <p:cNvSpPr/>
          <p:nvPr/>
        </p:nvSpPr>
        <p:spPr>
          <a:xfrm>
            <a:off x="3798896" y="3738998"/>
            <a:ext cx="503320" cy="700332"/>
          </a:xfrm>
          <a:custGeom>
            <a:avLst/>
            <a:gdLst/>
            <a:ahLst/>
            <a:cxnLst/>
            <a:rect l="l" t="t" r="r" b="b"/>
            <a:pathLst>
              <a:path w="503320" h="700332">
                <a:moveTo>
                  <a:pt x="0" y="0"/>
                </a:moveTo>
                <a:lnTo>
                  <a:pt x="503320" y="0"/>
                </a:lnTo>
                <a:lnTo>
                  <a:pt x="503320" y="700332"/>
                </a:lnTo>
                <a:lnTo>
                  <a:pt x="0" y="7003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0" name="Freeform 50"/>
          <p:cNvSpPr/>
          <p:nvPr/>
        </p:nvSpPr>
        <p:spPr>
          <a:xfrm>
            <a:off x="8794212" y="3739720"/>
            <a:ext cx="699568" cy="698870"/>
          </a:xfrm>
          <a:custGeom>
            <a:avLst/>
            <a:gdLst/>
            <a:ahLst/>
            <a:cxnLst/>
            <a:rect l="l" t="t" r="r" b="b"/>
            <a:pathLst>
              <a:path w="699568" h="698870">
                <a:moveTo>
                  <a:pt x="0" y="0"/>
                </a:moveTo>
                <a:lnTo>
                  <a:pt x="699568" y="0"/>
                </a:lnTo>
                <a:lnTo>
                  <a:pt x="699568" y="698870"/>
                </a:lnTo>
                <a:lnTo>
                  <a:pt x="0" y="6988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1" name="Freeform 51"/>
          <p:cNvSpPr/>
          <p:nvPr/>
        </p:nvSpPr>
        <p:spPr>
          <a:xfrm>
            <a:off x="13887298" y="3739712"/>
            <a:ext cx="700334" cy="698868"/>
          </a:xfrm>
          <a:custGeom>
            <a:avLst/>
            <a:gdLst/>
            <a:ahLst/>
            <a:cxnLst/>
            <a:rect l="l" t="t" r="r" b="b"/>
            <a:pathLst>
              <a:path w="700334" h="698868">
                <a:moveTo>
                  <a:pt x="0" y="0"/>
                </a:moveTo>
                <a:lnTo>
                  <a:pt x="700334" y="0"/>
                </a:lnTo>
                <a:lnTo>
                  <a:pt x="700334" y="698868"/>
                </a:lnTo>
                <a:lnTo>
                  <a:pt x="0" y="6988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746610" y="-611036"/>
            <a:ext cx="1834998" cy="1589342"/>
          </a:xfrm>
          <a:custGeom>
            <a:avLst/>
            <a:gdLst/>
            <a:ahLst/>
            <a:cxnLst/>
            <a:rect l="l" t="t" r="r" b="b"/>
            <a:pathLst>
              <a:path w="1834998" h="1589342">
                <a:moveTo>
                  <a:pt x="0" y="0"/>
                </a:moveTo>
                <a:lnTo>
                  <a:pt x="1834998" y="0"/>
                </a:lnTo>
                <a:lnTo>
                  <a:pt x="1834998" y="1589342"/>
                </a:lnTo>
                <a:lnTo>
                  <a:pt x="0" y="15893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8022024" y="41500"/>
            <a:ext cx="1189313" cy="1031935"/>
          </a:xfrm>
          <a:custGeom>
            <a:avLst/>
            <a:gdLst/>
            <a:ahLst/>
            <a:cxnLst/>
            <a:rect l="l" t="t" r="r" b="b"/>
            <a:pathLst>
              <a:path w="1189313" h="1031935">
                <a:moveTo>
                  <a:pt x="0" y="0"/>
                </a:moveTo>
                <a:lnTo>
                  <a:pt x="1189314" y="0"/>
                </a:lnTo>
                <a:lnTo>
                  <a:pt x="1189314" y="1031936"/>
                </a:lnTo>
                <a:lnTo>
                  <a:pt x="0" y="1031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998688" y="1259500"/>
            <a:ext cx="1130800" cy="981165"/>
          </a:xfrm>
          <a:custGeom>
            <a:avLst/>
            <a:gdLst/>
            <a:ahLst/>
            <a:cxnLst/>
            <a:rect l="l" t="t" r="r" b="b"/>
            <a:pathLst>
              <a:path w="1130800" h="981165">
                <a:moveTo>
                  <a:pt x="0" y="0"/>
                </a:moveTo>
                <a:lnTo>
                  <a:pt x="1130800" y="0"/>
                </a:lnTo>
                <a:lnTo>
                  <a:pt x="1130800" y="981165"/>
                </a:lnTo>
                <a:lnTo>
                  <a:pt x="0" y="9811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7099078" y="1170126"/>
            <a:ext cx="204600" cy="204600"/>
            <a:chOff x="0" y="0"/>
            <a:chExt cx="272800" cy="27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2796" cy="272796"/>
            </a:xfrm>
            <a:custGeom>
              <a:avLst/>
              <a:gdLst/>
              <a:ahLst/>
              <a:cxnLst/>
              <a:rect l="l" t="t" r="r" b="b"/>
              <a:pathLst>
                <a:path w="272796" h="272796">
                  <a:moveTo>
                    <a:pt x="272796" y="136398"/>
                  </a:moveTo>
                  <a:cubicBezTo>
                    <a:pt x="272796" y="61087"/>
                    <a:pt x="211709" y="0"/>
                    <a:pt x="136398" y="0"/>
                  </a:cubicBezTo>
                  <a:cubicBezTo>
                    <a:pt x="61087" y="0"/>
                    <a:pt x="0" y="61087"/>
                    <a:pt x="0" y="136398"/>
                  </a:cubicBezTo>
                  <a:cubicBezTo>
                    <a:pt x="0" y="211709"/>
                    <a:pt x="61087" y="272796"/>
                    <a:pt x="136398" y="272796"/>
                  </a:cubicBezTo>
                  <a:cubicBezTo>
                    <a:pt x="211709" y="272796"/>
                    <a:pt x="272796" y="211709"/>
                    <a:pt x="272796" y="136398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4754525" y="281857"/>
            <a:ext cx="633450" cy="551250"/>
            <a:chOff x="0" y="0"/>
            <a:chExt cx="844600" cy="735000"/>
          </a:xfrm>
        </p:grpSpPr>
        <p:sp>
          <p:nvSpPr>
            <p:cNvPr id="8" name="Freeform 8"/>
            <p:cNvSpPr/>
            <p:nvPr/>
          </p:nvSpPr>
          <p:spPr>
            <a:xfrm>
              <a:off x="63" y="0"/>
              <a:ext cx="844550" cy="734949"/>
            </a:xfrm>
            <a:custGeom>
              <a:avLst/>
              <a:gdLst/>
              <a:ahLst/>
              <a:cxnLst/>
              <a:rect l="l" t="t" r="r" b="b"/>
              <a:pathLst>
                <a:path w="844550" h="734949">
                  <a:moveTo>
                    <a:pt x="820484" y="373253"/>
                  </a:moveTo>
                  <a:lnTo>
                    <a:pt x="642303" y="18415"/>
                  </a:lnTo>
                  <a:lnTo>
                    <a:pt x="653606" y="12700"/>
                  </a:lnTo>
                  <a:lnTo>
                    <a:pt x="653606" y="25400"/>
                  </a:lnTo>
                  <a:lnTo>
                    <a:pt x="190818" y="25400"/>
                  </a:lnTo>
                  <a:lnTo>
                    <a:pt x="190818" y="12700"/>
                  </a:lnTo>
                  <a:lnTo>
                    <a:pt x="202121" y="18415"/>
                  </a:lnTo>
                  <a:lnTo>
                    <a:pt x="23940" y="373253"/>
                  </a:lnTo>
                  <a:lnTo>
                    <a:pt x="12637" y="367538"/>
                  </a:lnTo>
                  <a:lnTo>
                    <a:pt x="23940" y="361823"/>
                  </a:lnTo>
                  <a:lnTo>
                    <a:pt x="202248" y="716661"/>
                  </a:lnTo>
                  <a:lnTo>
                    <a:pt x="190945" y="722376"/>
                  </a:lnTo>
                  <a:lnTo>
                    <a:pt x="190945" y="709676"/>
                  </a:lnTo>
                  <a:lnTo>
                    <a:pt x="653606" y="709676"/>
                  </a:lnTo>
                  <a:lnTo>
                    <a:pt x="653606" y="722376"/>
                  </a:lnTo>
                  <a:lnTo>
                    <a:pt x="642303" y="716661"/>
                  </a:lnTo>
                  <a:lnTo>
                    <a:pt x="820484" y="361823"/>
                  </a:lnTo>
                  <a:lnTo>
                    <a:pt x="831787" y="367538"/>
                  </a:lnTo>
                  <a:lnTo>
                    <a:pt x="820484" y="373253"/>
                  </a:lnTo>
                  <a:moveTo>
                    <a:pt x="843217" y="361823"/>
                  </a:moveTo>
                  <a:cubicBezTo>
                    <a:pt x="844995" y="365379"/>
                    <a:pt x="844995" y="369697"/>
                    <a:pt x="843217" y="373253"/>
                  </a:cubicBezTo>
                  <a:lnTo>
                    <a:pt x="664909" y="727964"/>
                  </a:lnTo>
                  <a:cubicBezTo>
                    <a:pt x="662750" y="732282"/>
                    <a:pt x="658305" y="734949"/>
                    <a:pt x="653606" y="734949"/>
                  </a:cubicBezTo>
                  <a:lnTo>
                    <a:pt x="190818" y="734949"/>
                  </a:lnTo>
                  <a:cubicBezTo>
                    <a:pt x="185992" y="734949"/>
                    <a:pt x="181674" y="732282"/>
                    <a:pt x="179515" y="727964"/>
                  </a:cubicBezTo>
                  <a:lnTo>
                    <a:pt x="1334" y="373253"/>
                  </a:lnTo>
                  <a:cubicBezTo>
                    <a:pt x="-444" y="369697"/>
                    <a:pt x="-444" y="365379"/>
                    <a:pt x="1334" y="361823"/>
                  </a:cubicBezTo>
                  <a:lnTo>
                    <a:pt x="179515" y="6985"/>
                  </a:lnTo>
                  <a:cubicBezTo>
                    <a:pt x="181674" y="2667"/>
                    <a:pt x="186119" y="0"/>
                    <a:pt x="190818" y="0"/>
                  </a:cubicBezTo>
                  <a:lnTo>
                    <a:pt x="653606" y="0"/>
                  </a:lnTo>
                  <a:cubicBezTo>
                    <a:pt x="658432" y="0"/>
                    <a:pt x="662750" y="2667"/>
                    <a:pt x="664909" y="6985"/>
                  </a:cubicBezTo>
                  <a:lnTo>
                    <a:pt x="843217" y="361823"/>
                  </a:ln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AutoShape 9"/>
          <p:cNvSpPr/>
          <p:nvPr/>
        </p:nvSpPr>
        <p:spPr>
          <a:xfrm rot="3599864">
            <a:off x="18617608" y="1277808"/>
            <a:ext cx="1180419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 rot="79323">
            <a:off x="18112989" y="1775468"/>
            <a:ext cx="825670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 rot="199407">
            <a:off x="17710085" y="557468"/>
            <a:ext cx="328603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 rot="6766566">
            <a:off x="17441121" y="371136"/>
            <a:ext cx="427375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 rot="7221008">
            <a:off x="15303758" y="-1088634"/>
            <a:ext cx="1128971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15513804" y="-1636774"/>
            <a:ext cx="157200" cy="157200"/>
            <a:chOff x="0" y="0"/>
            <a:chExt cx="209600" cy="2096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209550" y="104775"/>
                  </a:moveTo>
                  <a:cubicBezTo>
                    <a:pt x="209550" y="46863"/>
                    <a:pt x="162687" y="0"/>
                    <a:pt x="104775" y="0"/>
                  </a:cubicBezTo>
                  <a:cubicBezTo>
                    <a:pt x="46863" y="0"/>
                    <a:pt x="0" y="46863"/>
                    <a:pt x="0" y="104775"/>
                  </a:cubicBezTo>
                  <a:cubicBezTo>
                    <a:pt x="0" y="162687"/>
                    <a:pt x="46863" y="209550"/>
                    <a:pt x="104775" y="209550"/>
                  </a:cubicBezTo>
                  <a:cubicBezTo>
                    <a:pt x="162687" y="209550"/>
                    <a:pt x="209550" y="162687"/>
                    <a:pt x="209550" y="104775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7693525" y="2372324"/>
            <a:ext cx="614400" cy="532200"/>
            <a:chOff x="0" y="0"/>
            <a:chExt cx="819200" cy="7096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9150" cy="709549"/>
            </a:xfrm>
            <a:custGeom>
              <a:avLst/>
              <a:gdLst/>
              <a:ahLst/>
              <a:cxnLst/>
              <a:rect l="l" t="t" r="r" b="b"/>
              <a:pathLst>
                <a:path w="819150" h="709549">
                  <a:moveTo>
                    <a:pt x="819150" y="354838"/>
                  </a:moveTo>
                  <a:lnTo>
                    <a:pt x="641858" y="0"/>
                  </a:lnTo>
                  <a:lnTo>
                    <a:pt x="177419" y="0"/>
                  </a:lnTo>
                  <a:lnTo>
                    <a:pt x="0" y="354838"/>
                  </a:lnTo>
                  <a:lnTo>
                    <a:pt x="177419" y="709549"/>
                  </a:lnTo>
                  <a:lnTo>
                    <a:pt x="641858" y="709549"/>
                  </a:lnTo>
                  <a:close/>
                </a:path>
              </a:pathLst>
            </a:custGeom>
            <a:solidFill>
              <a:srgbClr val="7CBEFF">
                <a:alpha val="35294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Freeform 18"/>
          <p:cNvSpPr/>
          <p:nvPr/>
        </p:nvSpPr>
        <p:spPr>
          <a:xfrm>
            <a:off x="13163990" y="-514629"/>
            <a:ext cx="1609354" cy="1396536"/>
          </a:xfrm>
          <a:custGeom>
            <a:avLst/>
            <a:gdLst/>
            <a:ahLst/>
            <a:cxnLst/>
            <a:rect l="l" t="t" r="r" b="b"/>
            <a:pathLst>
              <a:path w="1609354" h="1396536">
                <a:moveTo>
                  <a:pt x="0" y="0"/>
                </a:moveTo>
                <a:lnTo>
                  <a:pt x="1609354" y="0"/>
                </a:lnTo>
                <a:lnTo>
                  <a:pt x="1609354" y="1396536"/>
                </a:lnTo>
                <a:lnTo>
                  <a:pt x="0" y="13965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AutoShape 19"/>
          <p:cNvSpPr/>
          <p:nvPr/>
        </p:nvSpPr>
        <p:spPr>
          <a:xfrm rot="65360">
            <a:off x="14754440" y="183638"/>
            <a:ext cx="1002031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6998688" y="6343887"/>
            <a:ext cx="2370711" cy="1532723"/>
          </a:xfrm>
          <a:custGeom>
            <a:avLst/>
            <a:gdLst/>
            <a:ahLst/>
            <a:cxnLst/>
            <a:rect l="l" t="t" r="r" b="b"/>
            <a:pathLst>
              <a:path w="2370711" h="1532723">
                <a:moveTo>
                  <a:pt x="0" y="0"/>
                </a:moveTo>
                <a:lnTo>
                  <a:pt x="2370711" y="0"/>
                </a:lnTo>
                <a:lnTo>
                  <a:pt x="2370711" y="1532724"/>
                </a:lnTo>
                <a:lnTo>
                  <a:pt x="0" y="15327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AutoShape 21"/>
          <p:cNvSpPr/>
          <p:nvPr/>
        </p:nvSpPr>
        <p:spPr>
          <a:xfrm rot="2304185">
            <a:off x="17585742" y="8001414"/>
            <a:ext cx="465317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2" name="Group 22"/>
          <p:cNvGrpSpPr/>
          <p:nvPr/>
        </p:nvGrpSpPr>
        <p:grpSpPr>
          <a:xfrm rot="5400000">
            <a:off x="17136469" y="8193671"/>
            <a:ext cx="1018650" cy="884850"/>
            <a:chOff x="0" y="0"/>
            <a:chExt cx="1358200" cy="1179800"/>
          </a:xfrm>
        </p:grpSpPr>
        <p:sp>
          <p:nvSpPr>
            <p:cNvPr id="23" name="Freeform 23"/>
            <p:cNvSpPr/>
            <p:nvPr/>
          </p:nvSpPr>
          <p:spPr>
            <a:xfrm>
              <a:off x="63" y="0"/>
              <a:ext cx="1358138" cy="1179830"/>
            </a:xfrm>
            <a:custGeom>
              <a:avLst/>
              <a:gdLst/>
              <a:ahLst/>
              <a:cxnLst/>
              <a:rect l="l" t="t" r="r" b="b"/>
              <a:pathLst>
                <a:path w="1358138" h="1179830">
                  <a:moveTo>
                    <a:pt x="1334072" y="595630"/>
                  </a:moveTo>
                  <a:lnTo>
                    <a:pt x="1044639" y="18415"/>
                  </a:lnTo>
                  <a:lnTo>
                    <a:pt x="1055942" y="12700"/>
                  </a:lnTo>
                  <a:lnTo>
                    <a:pt x="1055942" y="25400"/>
                  </a:lnTo>
                  <a:lnTo>
                    <a:pt x="302070" y="25400"/>
                  </a:lnTo>
                  <a:lnTo>
                    <a:pt x="302070" y="12700"/>
                  </a:lnTo>
                  <a:lnTo>
                    <a:pt x="313373" y="18415"/>
                  </a:lnTo>
                  <a:lnTo>
                    <a:pt x="23940" y="595630"/>
                  </a:lnTo>
                  <a:lnTo>
                    <a:pt x="12637" y="589915"/>
                  </a:lnTo>
                  <a:lnTo>
                    <a:pt x="23940" y="584200"/>
                  </a:lnTo>
                  <a:lnTo>
                    <a:pt x="313373" y="1161415"/>
                  </a:lnTo>
                  <a:lnTo>
                    <a:pt x="302070" y="1167130"/>
                  </a:lnTo>
                  <a:lnTo>
                    <a:pt x="302070" y="1154430"/>
                  </a:lnTo>
                  <a:lnTo>
                    <a:pt x="1055942" y="1154430"/>
                  </a:lnTo>
                  <a:lnTo>
                    <a:pt x="1055942" y="1167130"/>
                  </a:lnTo>
                  <a:lnTo>
                    <a:pt x="1044639" y="1161415"/>
                  </a:lnTo>
                  <a:lnTo>
                    <a:pt x="1334072" y="584200"/>
                  </a:lnTo>
                  <a:lnTo>
                    <a:pt x="1345375" y="589915"/>
                  </a:lnTo>
                  <a:lnTo>
                    <a:pt x="1334072" y="595630"/>
                  </a:lnTo>
                  <a:moveTo>
                    <a:pt x="1356805" y="584200"/>
                  </a:moveTo>
                  <a:cubicBezTo>
                    <a:pt x="1358583" y="587756"/>
                    <a:pt x="1358583" y="591947"/>
                    <a:pt x="1356805" y="595630"/>
                  </a:cubicBezTo>
                  <a:lnTo>
                    <a:pt x="1067372" y="1172845"/>
                  </a:lnTo>
                  <a:cubicBezTo>
                    <a:pt x="1065213" y="1177163"/>
                    <a:pt x="1060768" y="1179830"/>
                    <a:pt x="1056069" y="1179830"/>
                  </a:cubicBezTo>
                  <a:lnTo>
                    <a:pt x="302070" y="1179830"/>
                  </a:lnTo>
                  <a:cubicBezTo>
                    <a:pt x="297244" y="1179830"/>
                    <a:pt x="292926" y="1177163"/>
                    <a:pt x="290767" y="1172845"/>
                  </a:cubicBezTo>
                  <a:lnTo>
                    <a:pt x="1334" y="595630"/>
                  </a:lnTo>
                  <a:cubicBezTo>
                    <a:pt x="-444" y="592074"/>
                    <a:pt x="-444" y="587883"/>
                    <a:pt x="1334" y="584200"/>
                  </a:cubicBezTo>
                  <a:lnTo>
                    <a:pt x="290767" y="6985"/>
                  </a:lnTo>
                  <a:cubicBezTo>
                    <a:pt x="292926" y="2667"/>
                    <a:pt x="297371" y="0"/>
                    <a:pt x="302070" y="0"/>
                  </a:cubicBezTo>
                  <a:lnTo>
                    <a:pt x="1055942" y="0"/>
                  </a:lnTo>
                  <a:cubicBezTo>
                    <a:pt x="1060768" y="0"/>
                    <a:pt x="1065086" y="2667"/>
                    <a:pt x="1067245" y="6985"/>
                  </a:cubicBezTo>
                  <a:lnTo>
                    <a:pt x="1356805" y="584200"/>
                  </a:lnTo>
                  <a:close/>
                </a:path>
              </a:pathLst>
            </a:custGeom>
            <a:solidFill>
              <a:srgbClr val="6875A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 rot="5400000">
            <a:off x="17238017" y="8281569"/>
            <a:ext cx="815250" cy="709050"/>
            <a:chOff x="0" y="0"/>
            <a:chExt cx="1087000" cy="945400"/>
          </a:xfrm>
        </p:grpSpPr>
        <p:sp>
          <p:nvSpPr>
            <p:cNvPr id="25" name="Freeform 25"/>
            <p:cNvSpPr/>
            <p:nvPr/>
          </p:nvSpPr>
          <p:spPr>
            <a:xfrm>
              <a:off x="63" y="0"/>
              <a:ext cx="1086993" cy="945388"/>
            </a:xfrm>
            <a:custGeom>
              <a:avLst/>
              <a:gdLst/>
              <a:ahLst/>
              <a:cxnLst/>
              <a:rect l="l" t="t" r="r" b="b"/>
              <a:pathLst>
                <a:path w="1086993" h="945388">
                  <a:moveTo>
                    <a:pt x="1062927" y="478409"/>
                  </a:moveTo>
                  <a:lnTo>
                    <a:pt x="832041" y="18415"/>
                  </a:lnTo>
                  <a:lnTo>
                    <a:pt x="843471" y="12700"/>
                  </a:lnTo>
                  <a:lnTo>
                    <a:pt x="843471" y="25400"/>
                  </a:lnTo>
                  <a:lnTo>
                    <a:pt x="243523" y="25400"/>
                  </a:lnTo>
                  <a:lnTo>
                    <a:pt x="243523" y="12700"/>
                  </a:lnTo>
                  <a:lnTo>
                    <a:pt x="254826" y="18415"/>
                  </a:lnTo>
                  <a:lnTo>
                    <a:pt x="23940" y="478409"/>
                  </a:lnTo>
                  <a:lnTo>
                    <a:pt x="12637" y="472694"/>
                  </a:lnTo>
                  <a:lnTo>
                    <a:pt x="23940" y="466979"/>
                  </a:lnTo>
                  <a:lnTo>
                    <a:pt x="254826" y="926973"/>
                  </a:lnTo>
                  <a:lnTo>
                    <a:pt x="243523" y="932688"/>
                  </a:lnTo>
                  <a:lnTo>
                    <a:pt x="243523" y="919988"/>
                  </a:lnTo>
                  <a:lnTo>
                    <a:pt x="843471" y="919988"/>
                  </a:lnTo>
                  <a:lnTo>
                    <a:pt x="843471" y="932688"/>
                  </a:lnTo>
                  <a:lnTo>
                    <a:pt x="832168" y="926973"/>
                  </a:lnTo>
                  <a:lnTo>
                    <a:pt x="1062927" y="466979"/>
                  </a:lnTo>
                  <a:lnTo>
                    <a:pt x="1074230" y="472694"/>
                  </a:lnTo>
                  <a:lnTo>
                    <a:pt x="1062927" y="478409"/>
                  </a:lnTo>
                  <a:moveTo>
                    <a:pt x="1085660" y="466979"/>
                  </a:moveTo>
                  <a:cubicBezTo>
                    <a:pt x="1087438" y="470535"/>
                    <a:pt x="1087438" y="474726"/>
                    <a:pt x="1085660" y="478409"/>
                  </a:cubicBezTo>
                  <a:lnTo>
                    <a:pt x="854774" y="938403"/>
                  </a:lnTo>
                  <a:cubicBezTo>
                    <a:pt x="852615" y="942721"/>
                    <a:pt x="848170" y="945388"/>
                    <a:pt x="843471" y="945388"/>
                  </a:cubicBezTo>
                  <a:lnTo>
                    <a:pt x="243523" y="945388"/>
                  </a:lnTo>
                  <a:cubicBezTo>
                    <a:pt x="238697" y="945388"/>
                    <a:pt x="234379" y="942721"/>
                    <a:pt x="232220" y="938403"/>
                  </a:cubicBezTo>
                  <a:lnTo>
                    <a:pt x="1334" y="478409"/>
                  </a:lnTo>
                  <a:cubicBezTo>
                    <a:pt x="-444" y="474853"/>
                    <a:pt x="-444" y="470662"/>
                    <a:pt x="1334" y="466979"/>
                  </a:cubicBezTo>
                  <a:lnTo>
                    <a:pt x="232093" y="6985"/>
                  </a:lnTo>
                  <a:cubicBezTo>
                    <a:pt x="234252" y="2667"/>
                    <a:pt x="238697" y="0"/>
                    <a:pt x="243396" y="0"/>
                  </a:cubicBezTo>
                  <a:lnTo>
                    <a:pt x="843471" y="0"/>
                  </a:lnTo>
                  <a:cubicBezTo>
                    <a:pt x="848297" y="0"/>
                    <a:pt x="852615" y="2667"/>
                    <a:pt x="854774" y="6985"/>
                  </a:cubicBezTo>
                  <a:lnTo>
                    <a:pt x="1085533" y="466979"/>
                  </a:ln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Freeform 26"/>
          <p:cNvSpPr/>
          <p:nvPr/>
        </p:nvSpPr>
        <p:spPr>
          <a:xfrm>
            <a:off x="162715" y="8696731"/>
            <a:ext cx="1031935" cy="1189313"/>
          </a:xfrm>
          <a:custGeom>
            <a:avLst/>
            <a:gdLst/>
            <a:ahLst/>
            <a:cxnLst/>
            <a:rect l="l" t="t" r="r" b="b"/>
            <a:pathLst>
              <a:path w="1031935" h="1189313">
                <a:moveTo>
                  <a:pt x="0" y="0"/>
                </a:moveTo>
                <a:lnTo>
                  <a:pt x="1031936" y="0"/>
                </a:lnTo>
                <a:lnTo>
                  <a:pt x="1031936" y="1189314"/>
                </a:lnTo>
                <a:lnTo>
                  <a:pt x="0" y="11893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7" name="Group 27"/>
          <p:cNvGrpSpPr/>
          <p:nvPr/>
        </p:nvGrpSpPr>
        <p:grpSpPr>
          <a:xfrm rot="-5400000">
            <a:off x="73341" y="9522539"/>
            <a:ext cx="204600" cy="204600"/>
            <a:chOff x="0" y="0"/>
            <a:chExt cx="272800" cy="27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72796" cy="272796"/>
            </a:xfrm>
            <a:custGeom>
              <a:avLst/>
              <a:gdLst/>
              <a:ahLst/>
              <a:cxnLst/>
              <a:rect l="l" t="t" r="r" b="b"/>
              <a:pathLst>
                <a:path w="272796" h="272796">
                  <a:moveTo>
                    <a:pt x="272796" y="136398"/>
                  </a:moveTo>
                  <a:cubicBezTo>
                    <a:pt x="272796" y="61087"/>
                    <a:pt x="211709" y="0"/>
                    <a:pt x="136398" y="0"/>
                  </a:cubicBezTo>
                  <a:cubicBezTo>
                    <a:pt x="61087" y="0"/>
                    <a:pt x="0" y="61087"/>
                    <a:pt x="0" y="136398"/>
                  </a:cubicBezTo>
                  <a:cubicBezTo>
                    <a:pt x="0" y="211709"/>
                    <a:pt x="61087" y="272796"/>
                    <a:pt x="136398" y="272796"/>
                  </a:cubicBezTo>
                  <a:cubicBezTo>
                    <a:pt x="211709" y="272796"/>
                    <a:pt x="272796" y="211709"/>
                    <a:pt x="272796" y="136398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" name="AutoShape 29"/>
          <p:cNvSpPr/>
          <p:nvPr/>
        </p:nvSpPr>
        <p:spPr>
          <a:xfrm rot="5356719">
            <a:off x="-77902" y="7956595"/>
            <a:ext cx="1513170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0" name="Group 30"/>
          <p:cNvGrpSpPr/>
          <p:nvPr/>
        </p:nvGrpSpPr>
        <p:grpSpPr>
          <a:xfrm rot="-5400000">
            <a:off x="1074241" y="9879165"/>
            <a:ext cx="157200" cy="157200"/>
            <a:chOff x="0" y="0"/>
            <a:chExt cx="209600" cy="2096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209550" y="104775"/>
                  </a:moveTo>
                  <a:cubicBezTo>
                    <a:pt x="209550" y="46863"/>
                    <a:pt x="162687" y="0"/>
                    <a:pt x="104775" y="0"/>
                  </a:cubicBezTo>
                  <a:cubicBezTo>
                    <a:pt x="46863" y="0"/>
                    <a:pt x="0" y="46863"/>
                    <a:pt x="0" y="104775"/>
                  </a:cubicBezTo>
                  <a:cubicBezTo>
                    <a:pt x="0" y="162687"/>
                    <a:pt x="46863" y="209550"/>
                    <a:pt x="104775" y="209550"/>
                  </a:cubicBezTo>
                  <a:cubicBezTo>
                    <a:pt x="162687" y="209550"/>
                    <a:pt x="209550" y="162687"/>
                    <a:pt x="209550" y="104775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 rot="-5400000">
            <a:off x="365242" y="6624316"/>
            <a:ext cx="627000" cy="543000"/>
            <a:chOff x="0" y="0"/>
            <a:chExt cx="836000" cy="7240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36041" cy="723900"/>
            </a:xfrm>
            <a:custGeom>
              <a:avLst/>
              <a:gdLst/>
              <a:ahLst/>
              <a:cxnLst/>
              <a:rect l="l" t="t" r="r" b="b"/>
              <a:pathLst>
                <a:path w="836041" h="723900">
                  <a:moveTo>
                    <a:pt x="836041" y="361950"/>
                  </a:moveTo>
                  <a:lnTo>
                    <a:pt x="654939" y="0"/>
                  </a:lnTo>
                  <a:lnTo>
                    <a:pt x="180975" y="0"/>
                  </a:lnTo>
                  <a:lnTo>
                    <a:pt x="0" y="361950"/>
                  </a:lnTo>
                  <a:lnTo>
                    <a:pt x="180975" y="723900"/>
                  </a:lnTo>
                  <a:lnTo>
                    <a:pt x="654939" y="723900"/>
                  </a:lnTo>
                  <a:close/>
                </a:path>
              </a:pathLst>
            </a:custGeom>
            <a:solidFill>
              <a:srgbClr val="7CBEFF">
                <a:alpha val="35294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4"/>
          <p:cNvGrpSpPr/>
          <p:nvPr/>
        </p:nvGrpSpPr>
        <p:grpSpPr>
          <a:xfrm rot="-5400000">
            <a:off x="1525867" y="9441841"/>
            <a:ext cx="646050" cy="562050"/>
            <a:chOff x="0" y="0"/>
            <a:chExt cx="861400" cy="749400"/>
          </a:xfrm>
        </p:grpSpPr>
        <p:sp>
          <p:nvSpPr>
            <p:cNvPr id="35" name="Freeform 35"/>
            <p:cNvSpPr/>
            <p:nvPr/>
          </p:nvSpPr>
          <p:spPr>
            <a:xfrm>
              <a:off x="63" y="0"/>
              <a:ext cx="861441" cy="749427"/>
            </a:xfrm>
            <a:custGeom>
              <a:avLst/>
              <a:gdLst/>
              <a:ahLst/>
              <a:cxnLst/>
              <a:rect l="l" t="t" r="r" b="b"/>
              <a:pathLst>
                <a:path w="861441" h="749427">
                  <a:moveTo>
                    <a:pt x="837248" y="380365"/>
                  </a:moveTo>
                  <a:lnTo>
                    <a:pt x="655511" y="18415"/>
                  </a:lnTo>
                  <a:lnTo>
                    <a:pt x="666814" y="12700"/>
                  </a:lnTo>
                  <a:lnTo>
                    <a:pt x="666814" y="25400"/>
                  </a:lnTo>
                  <a:lnTo>
                    <a:pt x="194501" y="25400"/>
                  </a:lnTo>
                  <a:lnTo>
                    <a:pt x="194501" y="12700"/>
                  </a:lnTo>
                  <a:lnTo>
                    <a:pt x="205804" y="18415"/>
                  </a:lnTo>
                  <a:lnTo>
                    <a:pt x="23940" y="380365"/>
                  </a:lnTo>
                  <a:lnTo>
                    <a:pt x="12637" y="374650"/>
                  </a:lnTo>
                  <a:lnTo>
                    <a:pt x="23940" y="368935"/>
                  </a:lnTo>
                  <a:lnTo>
                    <a:pt x="205804" y="730885"/>
                  </a:lnTo>
                  <a:lnTo>
                    <a:pt x="194501" y="736600"/>
                  </a:lnTo>
                  <a:lnTo>
                    <a:pt x="194501" y="723900"/>
                  </a:lnTo>
                  <a:lnTo>
                    <a:pt x="666814" y="723900"/>
                  </a:lnTo>
                  <a:lnTo>
                    <a:pt x="666814" y="736600"/>
                  </a:lnTo>
                  <a:lnTo>
                    <a:pt x="655511" y="730885"/>
                  </a:lnTo>
                  <a:lnTo>
                    <a:pt x="837375" y="368935"/>
                  </a:lnTo>
                  <a:lnTo>
                    <a:pt x="848678" y="374650"/>
                  </a:lnTo>
                  <a:lnTo>
                    <a:pt x="837375" y="380365"/>
                  </a:lnTo>
                  <a:moveTo>
                    <a:pt x="860108" y="368935"/>
                  </a:moveTo>
                  <a:cubicBezTo>
                    <a:pt x="861886" y="372491"/>
                    <a:pt x="861886" y="376809"/>
                    <a:pt x="860108" y="380365"/>
                  </a:cubicBezTo>
                  <a:lnTo>
                    <a:pt x="678117" y="742442"/>
                  </a:lnTo>
                  <a:cubicBezTo>
                    <a:pt x="675958" y="746760"/>
                    <a:pt x="671513" y="749427"/>
                    <a:pt x="666814" y="749427"/>
                  </a:cubicBezTo>
                  <a:lnTo>
                    <a:pt x="194501" y="749427"/>
                  </a:lnTo>
                  <a:cubicBezTo>
                    <a:pt x="189675" y="749427"/>
                    <a:pt x="185357" y="746760"/>
                    <a:pt x="183198" y="742442"/>
                  </a:cubicBezTo>
                  <a:lnTo>
                    <a:pt x="1334" y="380365"/>
                  </a:lnTo>
                  <a:cubicBezTo>
                    <a:pt x="-444" y="376809"/>
                    <a:pt x="-444" y="372491"/>
                    <a:pt x="1334" y="368935"/>
                  </a:cubicBezTo>
                  <a:lnTo>
                    <a:pt x="183071" y="6985"/>
                  </a:lnTo>
                  <a:cubicBezTo>
                    <a:pt x="185230" y="2667"/>
                    <a:pt x="189675" y="0"/>
                    <a:pt x="194374" y="0"/>
                  </a:cubicBezTo>
                  <a:lnTo>
                    <a:pt x="666814" y="0"/>
                  </a:lnTo>
                  <a:cubicBezTo>
                    <a:pt x="671640" y="0"/>
                    <a:pt x="675958" y="2667"/>
                    <a:pt x="678117" y="6985"/>
                  </a:cubicBezTo>
                  <a:lnTo>
                    <a:pt x="859981" y="368935"/>
                  </a:ln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743261" y="521165"/>
            <a:ext cx="15225150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1" dirty="0" err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Concluzii</a:t>
            </a:r>
            <a:endParaRPr lang="en-US" sz="5000" b="1" dirty="0">
              <a:solidFill>
                <a:srgbClr val="353552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2129917" y="7652275"/>
            <a:ext cx="5134350" cy="1541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799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Set restrâns de indicatori, date dintr-un singur an și sensibilitatea DEA la structura eșantionului.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622031" y="6765696"/>
            <a:ext cx="5134350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0"/>
              </a:lnSpc>
            </a:pPr>
            <a:r>
              <a:rPr lang="en-US" sz="4000" b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Direcții viitoare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363017" y="7575644"/>
            <a:ext cx="6024958" cy="206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799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Includerea indicelui de complexitate a cazurilorși a indicatorilor de calitate, indicele Malmquist pentru analiză dinamică și extinderea sistemului BI.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552904" y="6821649"/>
            <a:ext cx="5134350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0"/>
              </a:lnSpc>
            </a:pPr>
            <a:r>
              <a:rPr lang="en-US" sz="4000" b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Limitări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105106" y="1965197"/>
            <a:ext cx="3582147" cy="1260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68"/>
              </a:lnSpc>
            </a:pPr>
            <a:r>
              <a:rPr lang="en-US" sz="3600" b="1" dirty="0" err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Corelație</a:t>
            </a:r>
            <a:r>
              <a:rPr lang="en-US" sz="3600" b="1" dirty="0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600" b="1" dirty="0" err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puternică</a:t>
            </a:r>
            <a:endParaRPr lang="en-US" sz="3600" b="1" dirty="0">
              <a:solidFill>
                <a:srgbClr val="353552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950242" y="1965197"/>
            <a:ext cx="3073229" cy="1260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68"/>
              </a:lnSpc>
            </a:pPr>
            <a:r>
              <a:rPr lang="en-US" sz="3600" b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Diferențe semnificative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034951" y="1958677"/>
            <a:ext cx="2875439" cy="12271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68"/>
              </a:lnSpc>
              <a:spcBef>
                <a:spcPct val="0"/>
              </a:spcBef>
            </a:pPr>
            <a:r>
              <a:rPr lang="en-US" sz="3600" b="1" dirty="0" err="1">
                <a:solidFill>
                  <a:srgbClr val="353552"/>
                </a:solidFill>
                <a:latin typeface="Arimo Bold"/>
                <a:ea typeface="Arimo Bold"/>
                <a:cs typeface="Arimo Bold"/>
              </a:rPr>
              <a:t>Potențial</a:t>
            </a:r>
            <a:r>
              <a:rPr lang="en-US" sz="3600" b="1" dirty="0">
                <a:solidFill>
                  <a:srgbClr val="353552"/>
                </a:solidFill>
                <a:latin typeface="Arimo Bold"/>
                <a:ea typeface="Arimo Bold"/>
                <a:cs typeface="Arimo Bold"/>
              </a:rPr>
              <a:t> de </a:t>
            </a:r>
            <a:r>
              <a:rPr lang="en-US" sz="3600" b="1" dirty="0" err="1">
                <a:solidFill>
                  <a:srgbClr val="353552"/>
                </a:solidFill>
                <a:latin typeface="Arimo Bold"/>
                <a:ea typeface="Arimo Bold"/>
                <a:cs typeface="Arimo Bold"/>
              </a:rPr>
              <a:t>îmbunătățire</a:t>
            </a:r>
            <a:endParaRPr lang="en-US" sz="3600" b="1" dirty="0">
              <a:solidFill>
                <a:srgbClr val="353552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9144000" y="3419199"/>
            <a:ext cx="4523647" cy="1615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799" dirty="0" err="1">
                <a:solidFill>
                  <a:srgbClr val="353552"/>
                </a:solidFill>
                <a:latin typeface="Catamaran"/>
                <a:cs typeface="Catamaran"/>
              </a:rPr>
              <a:t>Evidențiază</a:t>
            </a:r>
            <a:r>
              <a:rPr lang="en-US" sz="2799" dirty="0">
                <a:solidFill>
                  <a:srgbClr val="353552"/>
                </a:solidFill>
                <a:latin typeface="Catamaran"/>
                <a:cs typeface="Catamaran"/>
              </a:rPr>
              <a:t> </a:t>
            </a:r>
            <a:r>
              <a:rPr lang="en-US" sz="2799" dirty="0" err="1">
                <a:solidFill>
                  <a:srgbClr val="353552"/>
                </a:solidFill>
                <a:latin typeface="Catamaran"/>
                <a:cs typeface="Catamaran"/>
              </a:rPr>
              <a:t>oportunități</a:t>
            </a:r>
            <a:r>
              <a:rPr lang="en-US" sz="2799" dirty="0">
                <a:solidFill>
                  <a:srgbClr val="353552"/>
                </a:solidFill>
                <a:latin typeface="Catamaran"/>
                <a:cs typeface="Catamaran"/>
              </a:rPr>
              <a:t> de </a:t>
            </a:r>
            <a:r>
              <a:rPr lang="en-US" sz="2799" dirty="0" err="1">
                <a:solidFill>
                  <a:srgbClr val="353552"/>
                </a:solidFill>
                <a:latin typeface="Catamaran"/>
                <a:cs typeface="Catamaran"/>
              </a:rPr>
              <a:t>utilizare</a:t>
            </a:r>
            <a:r>
              <a:rPr lang="en-US" sz="2799" dirty="0">
                <a:solidFill>
                  <a:srgbClr val="353552"/>
                </a:solidFill>
                <a:latin typeface="Catamaran"/>
                <a:cs typeface="Catamaran"/>
              </a:rPr>
              <a:t> </a:t>
            </a:r>
            <a:r>
              <a:rPr lang="en-US" sz="2799" dirty="0" err="1">
                <a:solidFill>
                  <a:srgbClr val="353552"/>
                </a:solidFill>
                <a:latin typeface="Catamaran"/>
                <a:cs typeface="Catamaran"/>
              </a:rPr>
              <a:t>mai</a:t>
            </a:r>
            <a:r>
              <a:rPr lang="en-US" sz="2799" dirty="0">
                <a:solidFill>
                  <a:srgbClr val="353552"/>
                </a:solidFill>
                <a:latin typeface="Catamaran"/>
                <a:cs typeface="Catamaran"/>
              </a:rPr>
              <a:t> </a:t>
            </a:r>
            <a:r>
              <a:rPr lang="en-US" sz="2799" dirty="0" err="1">
                <a:solidFill>
                  <a:srgbClr val="353552"/>
                </a:solidFill>
                <a:latin typeface="Catamaran"/>
                <a:cs typeface="Catamaran"/>
              </a:rPr>
              <a:t>eficientă</a:t>
            </a:r>
            <a:r>
              <a:rPr lang="en-US" sz="2799" dirty="0">
                <a:solidFill>
                  <a:srgbClr val="353552"/>
                </a:solidFill>
                <a:latin typeface="Catamaran"/>
                <a:cs typeface="Catamaran"/>
              </a:rPr>
              <a:t> a </a:t>
            </a:r>
            <a:r>
              <a:rPr lang="en-US" sz="2799" dirty="0" err="1">
                <a:solidFill>
                  <a:srgbClr val="353552"/>
                </a:solidFill>
                <a:latin typeface="Catamaran"/>
                <a:cs typeface="Catamaran"/>
              </a:rPr>
              <a:t>resurselor</a:t>
            </a:r>
            <a:r>
              <a:rPr lang="en-US" sz="2799" dirty="0">
                <a:solidFill>
                  <a:srgbClr val="353552"/>
                </a:solidFill>
                <a:latin typeface="Catamaran"/>
                <a:cs typeface="Catamaran"/>
              </a:rPr>
              <a:t> </a:t>
            </a:r>
            <a:r>
              <a:rPr lang="en-US" sz="2799" dirty="0" err="1">
                <a:solidFill>
                  <a:srgbClr val="353552"/>
                </a:solidFill>
                <a:latin typeface="Catamaran"/>
                <a:cs typeface="Catamaran"/>
              </a:rPr>
              <a:t>existente</a:t>
            </a:r>
            <a:r>
              <a:rPr lang="en-US" sz="2799" dirty="0">
                <a:solidFill>
                  <a:srgbClr val="353552"/>
                </a:solidFill>
                <a:latin typeface="Catamaran"/>
                <a:cs typeface="Catamaran"/>
              </a:rPr>
              <a:t>.</a:t>
            </a:r>
            <a:endParaRPr lang="en-US" sz="2799" dirty="0">
              <a:solidFill>
                <a:srgbClr val="353552"/>
              </a:solidFill>
              <a:latin typeface="Catamaran"/>
              <a:cs typeface="Catamaran"/>
              <a:sym typeface="Catamaran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4736140" y="3435476"/>
            <a:ext cx="4320080" cy="1541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799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Resurse și rezultate corelate puternic, dar cu variații semnificative de eficiență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25602" y="3435476"/>
            <a:ext cx="3505810" cy="1541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799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Între unități chiar și în cadrul aceluiași nivel de competență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3669013" y="1863413"/>
            <a:ext cx="3437924" cy="1260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68"/>
              </a:lnSpc>
              <a:spcBef>
                <a:spcPct val="0"/>
              </a:spcBef>
            </a:pPr>
            <a:r>
              <a:rPr lang="en-US" sz="3600" b="1" dirty="0" err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Sistem</a:t>
            </a:r>
            <a:r>
              <a:rPr lang="en-US" sz="3600" b="1" dirty="0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 BI </a:t>
            </a:r>
            <a:r>
              <a:rPr lang="en-US" sz="3600" b="1" dirty="0" err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integrat</a:t>
            </a:r>
            <a:endParaRPr lang="en-US" sz="3600" b="1" dirty="0">
              <a:solidFill>
                <a:srgbClr val="353552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13869892" y="3419199"/>
            <a:ext cx="3602224" cy="206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799" dirty="0" err="1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Transformă</a:t>
            </a:r>
            <a:r>
              <a:rPr lang="en-US" sz="2799" dirty="0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-US" sz="2799" dirty="0" err="1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rezultatele</a:t>
            </a:r>
            <a:r>
              <a:rPr lang="en-US" sz="2799" dirty="0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-US" sz="2799" dirty="0" err="1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analitice</a:t>
            </a:r>
            <a:r>
              <a:rPr lang="en-US" sz="2799" dirty="0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-US" sz="2799" dirty="0" err="1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în</a:t>
            </a:r>
            <a:r>
              <a:rPr lang="en-US" sz="2799" dirty="0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-US" sz="2799" dirty="0" err="1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suport</a:t>
            </a:r>
            <a:r>
              <a:rPr lang="en-US" sz="2799" dirty="0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en-US" sz="2799" dirty="0" err="1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decizional</a:t>
            </a:r>
            <a:r>
              <a:rPr lang="en-US" sz="2799" dirty="0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 la </a:t>
            </a:r>
            <a:r>
              <a:rPr lang="en-US" sz="2799" dirty="0" err="1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nivel</a:t>
            </a:r>
            <a:r>
              <a:rPr lang="en-US" sz="2799" dirty="0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 micro </a:t>
            </a:r>
            <a:r>
              <a:rPr lang="en-US" sz="2799" dirty="0" err="1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și</a:t>
            </a:r>
            <a:r>
              <a:rPr lang="en-US" sz="2799" dirty="0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 macro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493443" y="452237"/>
            <a:ext cx="1766477" cy="1532723"/>
          </a:xfrm>
          <a:custGeom>
            <a:avLst/>
            <a:gdLst/>
            <a:ahLst/>
            <a:cxnLst/>
            <a:rect l="l" t="t" r="r" b="b"/>
            <a:pathLst>
              <a:path w="1766477" h="1532723">
                <a:moveTo>
                  <a:pt x="0" y="0"/>
                </a:moveTo>
                <a:lnTo>
                  <a:pt x="1766478" y="0"/>
                </a:lnTo>
                <a:lnTo>
                  <a:pt x="1766478" y="1532724"/>
                </a:lnTo>
                <a:lnTo>
                  <a:pt x="0" y="15327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7111026" y="411100"/>
            <a:ext cx="204600" cy="204600"/>
            <a:chOff x="0" y="0"/>
            <a:chExt cx="272800" cy="27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2796" cy="272796"/>
            </a:xfrm>
            <a:custGeom>
              <a:avLst/>
              <a:gdLst/>
              <a:ahLst/>
              <a:cxnLst/>
              <a:rect l="l" t="t" r="r" b="b"/>
              <a:pathLst>
                <a:path w="272796" h="272796">
                  <a:moveTo>
                    <a:pt x="0" y="136398"/>
                  </a:moveTo>
                  <a:cubicBezTo>
                    <a:pt x="0" y="61087"/>
                    <a:pt x="61087" y="0"/>
                    <a:pt x="136398" y="0"/>
                  </a:cubicBezTo>
                  <a:cubicBezTo>
                    <a:pt x="211709" y="0"/>
                    <a:pt x="272796" y="61087"/>
                    <a:pt x="272796" y="136398"/>
                  </a:cubicBezTo>
                  <a:cubicBezTo>
                    <a:pt x="272796" y="211709"/>
                    <a:pt x="211709" y="272796"/>
                    <a:pt x="136398" y="272796"/>
                  </a:cubicBezTo>
                  <a:cubicBezTo>
                    <a:pt x="61087" y="272796"/>
                    <a:pt x="0" y="211709"/>
                    <a:pt x="0" y="136398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AutoShape 5"/>
          <p:cNvSpPr/>
          <p:nvPr/>
        </p:nvSpPr>
        <p:spPr>
          <a:xfrm rot="200137">
            <a:off x="17186036" y="1218598"/>
            <a:ext cx="327405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rot="3754738">
            <a:off x="16060983" y="528600"/>
            <a:ext cx="1576134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78807">
            <a:off x="15681566" y="-154000"/>
            <a:ext cx="831068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17138700" y="1153700"/>
            <a:ext cx="129600" cy="129600"/>
            <a:chOff x="0" y="0"/>
            <a:chExt cx="172800" cy="17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2720" cy="172720"/>
            </a:xfrm>
            <a:custGeom>
              <a:avLst/>
              <a:gdLst/>
              <a:ahLst/>
              <a:cxnLst/>
              <a:rect l="l" t="t" r="r" b="b"/>
              <a:pathLst>
                <a:path w="172720" h="172720">
                  <a:moveTo>
                    <a:pt x="0" y="86360"/>
                  </a:moveTo>
                  <a:cubicBezTo>
                    <a:pt x="0" y="38735"/>
                    <a:pt x="38735" y="0"/>
                    <a:pt x="86360" y="0"/>
                  </a:cubicBezTo>
                  <a:cubicBezTo>
                    <a:pt x="133985" y="0"/>
                    <a:pt x="172720" y="38735"/>
                    <a:pt x="172720" y="86360"/>
                  </a:cubicBezTo>
                  <a:cubicBezTo>
                    <a:pt x="172720" y="133985"/>
                    <a:pt x="133985" y="172720"/>
                    <a:pt x="86360" y="172720"/>
                  </a:cubicBezTo>
                  <a:cubicBezTo>
                    <a:pt x="38735" y="172720"/>
                    <a:pt x="0" y="134112"/>
                    <a:pt x="0" y="86360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AutoShape 10"/>
          <p:cNvSpPr/>
          <p:nvPr/>
        </p:nvSpPr>
        <p:spPr>
          <a:xfrm rot="7219507">
            <a:off x="16164369" y="-697050"/>
            <a:ext cx="1287863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17060250" y="-1318300"/>
            <a:ext cx="147000" cy="146400"/>
            <a:chOff x="0" y="0"/>
            <a:chExt cx="196000" cy="195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6088" cy="195326"/>
            </a:xfrm>
            <a:custGeom>
              <a:avLst/>
              <a:gdLst/>
              <a:ahLst/>
              <a:cxnLst/>
              <a:rect l="l" t="t" r="r" b="b"/>
              <a:pathLst>
                <a:path w="196088" h="195326">
                  <a:moveTo>
                    <a:pt x="0" y="97663"/>
                  </a:moveTo>
                  <a:cubicBezTo>
                    <a:pt x="0" y="43688"/>
                    <a:pt x="43815" y="0"/>
                    <a:pt x="98044" y="0"/>
                  </a:cubicBezTo>
                  <a:cubicBezTo>
                    <a:pt x="152273" y="0"/>
                    <a:pt x="196088" y="43688"/>
                    <a:pt x="196088" y="97663"/>
                  </a:cubicBezTo>
                  <a:cubicBezTo>
                    <a:pt x="196088" y="151638"/>
                    <a:pt x="152273" y="195326"/>
                    <a:pt x="98044" y="195326"/>
                  </a:cubicBezTo>
                  <a:cubicBezTo>
                    <a:pt x="43815" y="195326"/>
                    <a:pt x="0" y="151511"/>
                    <a:pt x="0" y="97663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578000" y="-232650"/>
            <a:ext cx="157200" cy="157200"/>
            <a:chOff x="0" y="0"/>
            <a:chExt cx="209600" cy="209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0" y="104775"/>
                  </a:moveTo>
                  <a:cubicBezTo>
                    <a:pt x="0" y="46863"/>
                    <a:pt x="46863" y="0"/>
                    <a:pt x="104775" y="0"/>
                  </a:cubicBezTo>
                  <a:cubicBezTo>
                    <a:pt x="162687" y="0"/>
                    <a:pt x="209550" y="46863"/>
                    <a:pt x="209550" y="104775"/>
                  </a:cubicBezTo>
                  <a:cubicBezTo>
                    <a:pt x="209550" y="162687"/>
                    <a:pt x="162687" y="209550"/>
                    <a:pt x="104775" y="209550"/>
                  </a:cubicBezTo>
                  <a:cubicBezTo>
                    <a:pt x="46863" y="209550"/>
                    <a:pt x="0" y="162687"/>
                    <a:pt x="0" y="104775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5883604" y="83506"/>
            <a:ext cx="614400" cy="532200"/>
            <a:chOff x="0" y="0"/>
            <a:chExt cx="819200" cy="7096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9150" cy="709549"/>
            </a:xfrm>
            <a:custGeom>
              <a:avLst/>
              <a:gdLst/>
              <a:ahLst/>
              <a:cxnLst/>
              <a:rect l="l" t="t" r="r" b="b"/>
              <a:pathLst>
                <a:path w="819150" h="709549">
                  <a:moveTo>
                    <a:pt x="0" y="354838"/>
                  </a:moveTo>
                  <a:lnTo>
                    <a:pt x="177419" y="0"/>
                  </a:lnTo>
                  <a:lnTo>
                    <a:pt x="641858" y="0"/>
                  </a:lnTo>
                  <a:lnTo>
                    <a:pt x="819150" y="354838"/>
                  </a:lnTo>
                  <a:lnTo>
                    <a:pt x="641858" y="709549"/>
                  </a:lnTo>
                  <a:lnTo>
                    <a:pt x="177419" y="709549"/>
                  </a:lnTo>
                  <a:close/>
                </a:path>
              </a:pathLst>
            </a:custGeom>
            <a:solidFill>
              <a:srgbClr val="7CBEFF">
                <a:alpha val="35294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AutoShape 17"/>
          <p:cNvSpPr/>
          <p:nvPr/>
        </p:nvSpPr>
        <p:spPr>
          <a:xfrm rot="78807">
            <a:off x="-784008" y="8083150"/>
            <a:ext cx="831068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/>
          <p:nvPr/>
        </p:nvGrpSpPr>
        <p:grpSpPr>
          <a:xfrm>
            <a:off x="-887574" y="8004500"/>
            <a:ext cx="157200" cy="157200"/>
            <a:chOff x="0" y="0"/>
            <a:chExt cx="209600" cy="2096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0" y="104775"/>
                  </a:moveTo>
                  <a:cubicBezTo>
                    <a:pt x="0" y="46863"/>
                    <a:pt x="46863" y="0"/>
                    <a:pt x="104775" y="0"/>
                  </a:cubicBezTo>
                  <a:cubicBezTo>
                    <a:pt x="162687" y="0"/>
                    <a:pt x="209550" y="46863"/>
                    <a:pt x="209550" y="104775"/>
                  </a:cubicBezTo>
                  <a:cubicBezTo>
                    <a:pt x="209550" y="162687"/>
                    <a:pt x="162687" y="209550"/>
                    <a:pt x="104775" y="209550"/>
                  </a:cubicBezTo>
                  <a:cubicBezTo>
                    <a:pt x="46863" y="209550"/>
                    <a:pt x="0" y="162687"/>
                    <a:pt x="0" y="104775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074728" y="8648250"/>
            <a:ext cx="2481797" cy="2558747"/>
          </a:xfrm>
          <a:custGeom>
            <a:avLst/>
            <a:gdLst/>
            <a:ahLst/>
            <a:cxnLst/>
            <a:rect l="l" t="t" r="r" b="b"/>
            <a:pathLst>
              <a:path w="2481797" h="2558747">
                <a:moveTo>
                  <a:pt x="0" y="0"/>
                </a:moveTo>
                <a:lnTo>
                  <a:pt x="2481796" y="0"/>
                </a:lnTo>
                <a:lnTo>
                  <a:pt x="2481796" y="2558747"/>
                </a:lnTo>
                <a:lnTo>
                  <a:pt x="0" y="25587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11293366" y="2289761"/>
            <a:ext cx="6994634" cy="6198912"/>
          </a:xfrm>
          <a:custGeom>
            <a:avLst/>
            <a:gdLst/>
            <a:ahLst/>
            <a:cxnLst/>
            <a:rect l="l" t="t" r="r" b="b"/>
            <a:pathLst>
              <a:path w="6994634" h="6198912">
                <a:moveTo>
                  <a:pt x="0" y="0"/>
                </a:moveTo>
                <a:lnTo>
                  <a:pt x="6994634" y="0"/>
                </a:lnTo>
                <a:lnTo>
                  <a:pt x="6994634" y="6198912"/>
                </a:lnTo>
                <a:lnTo>
                  <a:pt x="0" y="61989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0495" r="-604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658454" y="356908"/>
            <a:ext cx="15225150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Bibliografie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3643" y="1541741"/>
            <a:ext cx="10993140" cy="8566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0" lvl="1" indent="-302260" algn="l">
              <a:lnSpc>
                <a:spcPts val="4003"/>
              </a:lnSpc>
              <a:buFont typeface="Arial"/>
              <a:buChar char="•"/>
            </a:pPr>
            <a:r>
              <a:rPr lang="en-US" sz="2799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Peterson, M. (2017). An Introduction to Decision Theory. Cambridge University Press </a:t>
            </a:r>
          </a:p>
          <a:p>
            <a:pPr marL="604520" lvl="1" indent="-302260" algn="l">
              <a:lnSpc>
                <a:spcPts val="4003"/>
              </a:lnSpc>
              <a:buFont typeface="Arial"/>
              <a:buChar char="•"/>
            </a:pPr>
            <a:r>
              <a:rPr lang="en-US" sz="2799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Weirich, P. (2015). Models of Decision-Making: Simplifying Choices. Cambridge University Press </a:t>
            </a:r>
          </a:p>
          <a:p>
            <a:pPr marL="604520" lvl="1" indent="-302260" algn="l">
              <a:lnSpc>
                <a:spcPts val="4003"/>
              </a:lnSpc>
              <a:buFont typeface="Arial"/>
              <a:buChar char="•"/>
            </a:pPr>
            <a:r>
              <a:rPr lang="en-US" sz="2799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Parmenter, D. (2010). Key Performance Indicators. Wiley </a:t>
            </a:r>
          </a:p>
          <a:p>
            <a:pPr marL="604520" lvl="1" indent="-302260" algn="l">
              <a:lnSpc>
                <a:spcPts val="4003"/>
              </a:lnSpc>
              <a:buFont typeface="Arial"/>
              <a:buChar char="•"/>
            </a:pPr>
            <a:r>
              <a:rPr lang="en-US" sz="2799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Turban, E. (2015). Business Intelligence and Analytics: Systems for Decision Support. Pearson </a:t>
            </a:r>
          </a:p>
          <a:p>
            <a:pPr marL="604519" lvl="1" indent="-302260" algn="l">
              <a:lnSpc>
                <a:spcPts val="4003"/>
              </a:lnSpc>
              <a:buFont typeface="Arial"/>
              <a:buChar char="•"/>
            </a:pPr>
            <a:r>
              <a:rPr lang="en-US" sz="2799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Papanicolas, I. (2022). Health System Performance Assessment. World Health Organization </a:t>
            </a:r>
          </a:p>
          <a:p>
            <a:pPr marL="604519" lvl="1" indent="-302260" algn="l">
              <a:lnSpc>
                <a:spcPts val="4003"/>
              </a:lnSpc>
              <a:buFont typeface="Arial"/>
              <a:buChar char="•"/>
            </a:pPr>
            <a:r>
              <a:rPr lang="en-US" sz="2799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OECD (2024). Rethinking Health System Performance Assessment. OECD Publishing </a:t>
            </a:r>
          </a:p>
          <a:p>
            <a:pPr marL="604519" lvl="1" indent="-302260" algn="l">
              <a:lnSpc>
                <a:spcPts val="4003"/>
              </a:lnSpc>
              <a:buFont typeface="Arial"/>
              <a:buChar char="•"/>
            </a:pPr>
            <a:r>
              <a:rPr lang="en-US" sz="2799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Jolliffe, I.T. (2002). Principal Component Analysis. Springer </a:t>
            </a:r>
          </a:p>
          <a:p>
            <a:pPr marL="604519" lvl="1" indent="-302260" algn="l">
              <a:lnSpc>
                <a:spcPts val="4003"/>
              </a:lnSpc>
              <a:buFont typeface="Arial"/>
              <a:buChar char="•"/>
            </a:pPr>
            <a:r>
              <a:rPr lang="en-US" sz="2799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Cooper, W.W., Seiford, L.M., Tone, K. (2007). Data Envelopment Analysis. Springer </a:t>
            </a:r>
          </a:p>
          <a:p>
            <a:pPr marL="604519" lvl="1" indent="-302260" algn="l">
              <a:lnSpc>
                <a:spcPts val="4003"/>
              </a:lnSpc>
              <a:buFont typeface="Arial"/>
              <a:buChar char="•"/>
            </a:pPr>
            <a:r>
              <a:rPr lang="en-US" sz="2799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Bogetoft, P., Otto, L. (2011). Benchmarking with DEA, SFA, and R. Springer </a:t>
            </a:r>
          </a:p>
          <a:p>
            <a:pPr algn="l">
              <a:lnSpc>
                <a:spcPts val="4003"/>
              </a:lnSpc>
            </a:pPr>
            <a:endParaRPr lang="en-US" sz="2799">
              <a:solidFill>
                <a:srgbClr val="353552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8073" y="8374861"/>
            <a:ext cx="3039477" cy="2136906"/>
          </a:xfrm>
          <a:custGeom>
            <a:avLst/>
            <a:gdLst/>
            <a:ahLst/>
            <a:cxnLst/>
            <a:rect l="l" t="t" r="r" b="b"/>
            <a:pathLst>
              <a:path w="3039477" h="2136906">
                <a:moveTo>
                  <a:pt x="0" y="0"/>
                </a:moveTo>
                <a:lnTo>
                  <a:pt x="3039477" y="0"/>
                </a:lnTo>
                <a:lnTo>
                  <a:pt x="3039477" y="2136906"/>
                </a:lnTo>
                <a:lnTo>
                  <a:pt x="0" y="21369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8053943" y="8678387"/>
            <a:ext cx="1766477" cy="1532723"/>
          </a:xfrm>
          <a:custGeom>
            <a:avLst/>
            <a:gdLst/>
            <a:ahLst/>
            <a:cxnLst/>
            <a:rect l="l" t="t" r="r" b="b"/>
            <a:pathLst>
              <a:path w="1766477" h="1532723">
                <a:moveTo>
                  <a:pt x="0" y="0"/>
                </a:moveTo>
                <a:lnTo>
                  <a:pt x="1766478" y="0"/>
                </a:lnTo>
                <a:lnTo>
                  <a:pt x="1766478" y="1532724"/>
                </a:lnTo>
                <a:lnTo>
                  <a:pt x="0" y="15327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7309327" y="9662273"/>
            <a:ext cx="933450" cy="811050"/>
            <a:chOff x="0" y="0"/>
            <a:chExt cx="1244600" cy="1081400"/>
          </a:xfrm>
        </p:grpSpPr>
        <p:sp>
          <p:nvSpPr>
            <p:cNvPr id="5" name="Freeform 5"/>
            <p:cNvSpPr/>
            <p:nvPr/>
          </p:nvSpPr>
          <p:spPr>
            <a:xfrm>
              <a:off x="63" y="0"/>
              <a:ext cx="1244473" cy="1081405"/>
            </a:xfrm>
            <a:custGeom>
              <a:avLst/>
              <a:gdLst/>
              <a:ahLst/>
              <a:cxnLst/>
              <a:rect l="l" t="t" r="r" b="b"/>
              <a:pathLst>
                <a:path w="1244473" h="1081405">
                  <a:moveTo>
                    <a:pt x="1334" y="535051"/>
                  </a:moveTo>
                  <a:lnTo>
                    <a:pt x="266129" y="6985"/>
                  </a:lnTo>
                  <a:cubicBezTo>
                    <a:pt x="268288" y="2667"/>
                    <a:pt x="272733" y="0"/>
                    <a:pt x="277432" y="0"/>
                  </a:cubicBezTo>
                  <a:lnTo>
                    <a:pt x="967042" y="0"/>
                  </a:lnTo>
                  <a:cubicBezTo>
                    <a:pt x="971868" y="0"/>
                    <a:pt x="976186" y="2667"/>
                    <a:pt x="978345" y="6985"/>
                  </a:cubicBezTo>
                  <a:lnTo>
                    <a:pt x="1243140" y="535051"/>
                  </a:lnTo>
                  <a:cubicBezTo>
                    <a:pt x="1244918" y="538607"/>
                    <a:pt x="1244918" y="542798"/>
                    <a:pt x="1243140" y="546481"/>
                  </a:cubicBezTo>
                  <a:lnTo>
                    <a:pt x="978345" y="1074420"/>
                  </a:lnTo>
                  <a:cubicBezTo>
                    <a:pt x="976186" y="1078738"/>
                    <a:pt x="971741" y="1081405"/>
                    <a:pt x="967042" y="1081405"/>
                  </a:cubicBezTo>
                  <a:lnTo>
                    <a:pt x="277432" y="1081405"/>
                  </a:lnTo>
                  <a:cubicBezTo>
                    <a:pt x="272606" y="1081405"/>
                    <a:pt x="268288" y="1078738"/>
                    <a:pt x="266129" y="1074420"/>
                  </a:cubicBezTo>
                  <a:lnTo>
                    <a:pt x="1334" y="546354"/>
                  </a:lnTo>
                  <a:cubicBezTo>
                    <a:pt x="-444" y="542798"/>
                    <a:pt x="-444" y="538607"/>
                    <a:pt x="1334" y="534924"/>
                  </a:cubicBezTo>
                  <a:moveTo>
                    <a:pt x="24067" y="546354"/>
                  </a:moveTo>
                  <a:lnTo>
                    <a:pt x="12637" y="540639"/>
                  </a:lnTo>
                  <a:lnTo>
                    <a:pt x="23940" y="534924"/>
                  </a:lnTo>
                  <a:lnTo>
                    <a:pt x="288862" y="1062990"/>
                  </a:lnTo>
                  <a:lnTo>
                    <a:pt x="277559" y="1068705"/>
                  </a:lnTo>
                  <a:lnTo>
                    <a:pt x="277559" y="1056005"/>
                  </a:lnTo>
                  <a:lnTo>
                    <a:pt x="967042" y="1056005"/>
                  </a:lnTo>
                  <a:lnTo>
                    <a:pt x="967042" y="1068705"/>
                  </a:lnTo>
                  <a:lnTo>
                    <a:pt x="955739" y="1062990"/>
                  </a:lnTo>
                  <a:lnTo>
                    <a:pt x="1220534" y="535051"/>
                  </a:lnTo>
                  <a:lnTo>
                    <a:pt x="1231837" y="540766"/>
                  </a:lnTo>
                  <a:lnTo>
                    <a:pt x="1220534" y="546481"/>
                  </a:lnTo>
                  <a:lnTo>
                    <a:pt x="955612" y="18415"/>
                  </a:lnTo>
                  <a:lnTo>
                    <a:pt x="967042" y="12700"/>
                  </a:lnTo>
                  <a:lnTo>
                    <a:pt x="967042" y="25400"/>
                  </a:lnTo>
                  <a:lnTo>
                    <a:pt x="277432" y="25400"/>
                  </a:lnTo>
                  <a:lnTo>
                    <a:pt x="277432" y="12700"/>
                  </a:lnTo>
                  <a:lnTo>
                    <a:pt x="288735" y="18415"/>
                  </a:lnTo>
                  <a:lnTo>
                    <a:pt x="23940" y="546354"/>
                  </a:ln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 rot="200137">
            <a:off x="7746536" y="9444748"/>
            <a:ext cx="327405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7699200" y="9379850"/>
            <a:ext cx="129600" cy="129600"/>
            <a:chOff x="0" y="0"/>
            <a:chExt cx="172800" cy="17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2720" cy="172720"/>
            </a:xfrm>
            <a:custGeom>
              <a:avLst/>
              <a:gdLst/>
              <a:ahLst/>
              <a:cxnLst/>
              <a:rect l="l" t="t" r="r" b="b"/>
              <a:pathLst>
                <a:path w="172720" h="172720">
                  <a:moveTo>
                    <a:pt x="0" y="86360"/>
                  </a:moveTo>
                  <a:cubicBezTo>
                    <a:pt x="0" y="38735"/>
                    <a:pt x="38735" y="0"/>
                    <a:pt x="86360" y="0"/>
                  </a:cubicBezTo>
                  <a:cubicBezTo>
                    <a:pt x="133985" y="0"/>
                    <a:pt x="172720" y="38735"/>
                    <a:pt x="172720" y="86360"/>
                  </a:cubicBezTo>
                  <a:cubicBezTo>
                    <a:pt x="172720" y="133985"/>
                    <a:pt x="133985" y="172720"/>
                    <a:pt x="86360" y="172720"/>
                  </a:cubicBezTo>
                  <a:cubicBezTo>
                    <a:pt x="38735" y="172720"/>
                    <a:pt x="0" y="134112"/>
                    <a:pt x="0" y="86360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AutoShape 9"/>
          <p:cNvSpPr/>
          <p:nvPr/>
        </p:nvSpPr>
        <p:spPr>
          <a:xfrm rot="7219507">
            <a:off x="6724869" y="7529100"/>
            <a:ext cx="1287863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7620750" y="6907850"/>
            <a:ext cx="147000" cy="146400"/>
            <a:chOff x="0" y="0"/>
            <a:chExt cx="196000" cy="195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6088" cy="195326"/>
            </a:xfrm>
            <a:custGeom>
              <a:avLst/>
              <a:gdLst/>
              <a:ahLst/>
              <a:cxnLst/>
              <a:rect l="l" t="t" r="r" b="b"/>
              <a:pathLst>
                <a:path w="196088" h="195326">
                  <a:moveTo>
                    <a:pt x="0" y="97663"/>
                  </a:moveTo>
                  <a:cubicBezTo>
                    <a:pt x="0" y="43688"/>
                    <a:pt x="43815" y="0"/>
                    <a:pt x="98044" y="0"/>
                  </a:cubicBezTo>
                  <a:cubicBezTo>
                    <a:pt x="152273" y="0"/>
                    <a:pt x="196088" y="43688"/>
                    <a:pt x="196088" y="97663"/>
                  </a:cubicBezTo>
                  <a:cubicBezTo>
                    <a:pt x="196088" y="151638"/>
                    <a:pt x="152273" y="195326"/>
                    <a:pt x="98044" y="195326"/>
                  </a:cubicBezTo>
                  <a:cubicBezTo>
                    <a:pt x="43815" y="195326"/>
                    <a:pt x="0" y="151511"/>
                    <a:pt x="0" y="97663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Freeform 12"/>
          <p:cNvSpPr/>
          <p:nvPr/>
        </p:nvSpPr>
        <p:spPr>
          <a:xfrm>
            <a:off x="15247426" y="-611863"/>
            <a:ext cx="2794378" cy="1532723"/>
          </a:xfrm>
          <a:custGeom>
            <a:avLst/>
            <a:gdLst/>
            <a:ahLst/>
            <a:cxnLst/>
            <a:rect l="l" t="t" r="r" b="b"/>
            <a:pathLst>
              <a:path w="2794378" h="1532723">
                <a:moveTo>
                  <a:pt x="0" y="0"/>
                </a:moveTo>
                <a:lnTo>
                  <a:pt x="2794378" y="0"/>
                </a:lnTo>
                <a:lnTo>
                  <a:pt x="2794378" y="1532724"/>
                </a:lnTo>
                <a:lnTo>
                  <a:pt x="0" y="15327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 rot="2304185">
            <a:off x="16989434" y="1045664"/>
            <a:ext cx="465317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 rot="-5400000">
            <a:off x="16885373" y="1237921"/>
            <a:ext cx="1018650" cy="884850"/>
            <a:chOff x="0" y="0"/>
            <a:chExt cx="1358200" cy="1179800"/>
          </a:xfrm>
        </p:grpSpPr>
        <p:sp>
          <p:nvSpPr>
            <p:cNvPr id="15" name="Freeform 15"/>
            <p:cNvSpPr/>
            <p:nvPr/>
          </p:nvSpPr>
          <p:spPr>
            <a:xfrm>
              <a:off x="63" y="0"/>
              <a:ext cx="1358138" cy="1179830"/>
            </a:xfrm>
            <a:custGeom>
              <a:avLst/>
              <a:gdLst/>
              <a:ahLst/>
              <a:cxnLst/>
              <a:rect l="l" t="t" r="r" b="b"/>
              <a:pathLst>
                <a:path w="1358138" h="1179830">
                  <a:moveTo>
                    <a:pt x="1334" y="584200"/>
                  </a:moveTo>
                  <a:lnTo>
                    <a:pt x="290767" y="6985"/>
                  </a:lnTo>
                  <a:cubicBezTo>
                    <a:pt x="292926" y="2667"/>
                    <a:pt x="297371" y="0"/>
                    <a:pt x="302070" y="0"/>
                  </a:cubicBezTo>
                  <a:lnTo>
                    <a:pt x="1055942" y="0"/>
                  </a:lnTo>
                  <a:cubicBezTo>
                    <a:pt x="1060768" y="0"/>
                    <a:pt x="1065086" y="2667"/>
                    <a:pt x="1067245" y="6985"/>
                  </a:cubicBezTo>
                  <a:lnTo>
                    <a:pt x="1356805" y="584200"/>
                  </a:lnTo>
                  <a:cubicBezTo>
                    <a:pt x="1358583" y="587756"/>
                    <a:pt x="1358583" y="591947"/>
                    <a:pt x="1356805" y="595630"/>
                  </a:cubicBezTo>
                  <a:lnTo>
                    <a:pt x="1067372" y="1172845"/>
                  </a:lnTo>
                  <a:cubicBezTo>
                    <a:pt x="1065213" y="1177163"/>
                    <a:pt x="1060768" y="1179830"/>
                    <a:pt x="1056069" y="1179830"/>
                  </a:cubicBezTo>
                  <a:lnTo>
                    <a:pt x="302070" y="1179830"/>
                  </a:lnTo>
                  <a:cubicBezTo>
                    <a:pt x="297244" y="1179830"/>
                    <a:pt x="292926" y="1177163"/>
                    <a:pt x="290767" y="1172845"/>
                  </a:cubicBezTo>
                  <a:lnTo>
                    <a:pt x="1334" y="595630"/>
                  </a:lnTo>
                  <a:cubicBezTo>
                    <a:pt x="-444" y="592074"/>
                    <a:pt x="-444" y="587883"/>
                    <a:pt x="1334" y="584200"/>
                  </a:cubicBezTo>
                  <a:moveTo>
                    <a:pt x="24067" y="595630"/>
                  </a:moveTo>
                  <a:lnTo>
                    <a:pt x="12637" y="589915"/>
                  </a:lnTo>
                  <a:lnTo>
                    <a:pt x="23940" y="584200"/>
                  </a:lnTo>
                  <a:lnTo>
                    <a:pt x="313373" y="1161415"/>
                  </a:lnTo>
                  <a:lnTo>
                    <a:pt x="302070" y="1167130"/>
                  </a:lnTo>
                  <a:lnTo>
                    <a:pt x="302070" y="1154430"/>
                  </a:lnTo>
                  <a:lnTo>
                    <a:pt x="1055942" y="1154430"/>
                  </a:lnTo>
                  <a:lnTo>
                    <a:pt x="1055942" y="1167130"/>
                  </a:lnTo>
                  <a:lnTo>
                    <a:pt x="1044639" y="1161415"/>
                  </a:lnTo>
                  <a:lnTo>
                    <a:pt x="1334072" y="584200"/>
                  </a:lnTo>
                  <a:lnTo>
                    <a:pt x="1345375" y="589915"/>
                  </a:lnTo>
                  <a:lnTo>
                    <a:pt x="1334072" y="595630"/>
                  </a:lnTo>
                  <a:lnTo>
                    <a:pt x="1044639" y="18415"/>
                  </a:lnTo>
                  <a:lnTo>
                    <a:pt x="1055942" y="12700"/>
                  </a:lnTo>
                  <a:lnTo>
                    <a:pt x="1055942" y="25400"/>
                  </a:lnTo>
                  <a:lnTo>
                    <a:pt x="302070" y="25400"/>
                  </a:lnTo>
                  <a:lnTo>
                    <a:pt x="302070" y="12700"/>
                  </a:lnTo>
                  <a:lnTo>
                    <a:pt x="313373" y="18415"/>
                  </a:lnTo>
                  <a:lnTo>
                    <a:pt x="23940" y="595630"/>
                  </a:lnTo>
                  <a:close/>
                </a:path>
              </a:pathLst>
            </a:custGeom>
            <a:solidFill>
              <a:srgbClr val="6875A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 rot="-5400000">
            <a:off x="16987225" y="1325819"/>
            <a:ext cx="815250" cy="709050"/>
            <a:chOff x="0" y="0"/>
            <a:chExt cx="1087000" cy="945400"/>
          </a:xfrm>
        </p:grpSpPr>
        <p:sp>
          <p:nvSpPr>
            <p:cNvPr id="17" name="Freeform 17"/>
            <p:cNvSpPr/>
            <p:nvPr/>
          </p:nvSpPr>
          <p:spPr>
            <a:xfrm>
              <a:off x="63" y="0"/>
              <a:ext cx="1086866" cy="945388"/>
            </a:xfrm>
            <a:custGeom>
              <a:avLst/>
              <a:gdLst/>
              <a:ahLst/>
              <a:cxnLst/>
              <a:rect l="l" t="t" r="r" b="b"/>
              <a:pathLst>
                <a:path w="1086866" h="945388">
                  <a:moveTo>
                    <a:pt x="1334" y="466979"/>
                  </a:moveTo>
                  <a:lnTo>
                    <a:pt x="232093" y="6985"/>
                  </a:lnTo>
                  <a:cubicBezTo>
                    <a:pt x="234252" y="2667"/>
                    <a:pt x="238697" y="0"/>
                    <a:pt x="243396" y="0"/>
                  </a:cubicBezTo>
                  <a:lnTo>
                    <a:pt x="843471" y="0"/>
                  </a:lnTo>
                  <a:cubicBezTo>
                    <a:pt x="848297" y="0"/>
                    <a:pt x="852615" y="2667"/>
                    <a:pt x="854774" y="6985"/>
                  </a:cubicBezTo>
                  <a:lnTo>
                    <a:pt x="1085533" y="466979"/>
                  </a:lnTo>
                  <a:cubicBezTo>
                    <a:pt x="1087311" y="470535"/>
                    <a:pt x="1087311" y="474726"/>
                    <a:pt x="1085533" y="478409"/>
                  </a:cubicBezTo>
                  <a:lnTo>
                    <a:pt x="854774" y="938403"/>
                  </a:lnTo>
                  <a:cubicBezTo>
                    <a:pt x="852615" y="942721"/>
                    <a:pt x="848170" y="945388"/>
                    <a:pt x="843471" y="945388"/>
                  </a:cubicBezTo>
                  <a:lnTo>
                    <a:pt x="243523" y="945388"/>
                  </a:lnTo>
                  <a:cubicBezTo>
                    <a:pt x="238697" y="945388"/>
                    <a:pt x="234379" y="942721"/>
                    <a:pt x="232220" y="938403"/>
                  </a:cubicBezTo>
                  <a:lnTo>
                    <a:pt x="1334" y="478409"/>
                  </a:lnTo>
                  <a:cubicBezTo>
                    <a:pt x="-444" y="474853"/>
                    <a:pt x="-444" y="470662"/>
                    <a:pt x="1334" y="466979"/>
                  </a:cubicBezTo>
                  <a:moveTo>
                    <a:pt x="24067" y="478409"/>
                  </a:moveTo>
                  <a:lnTo>
                    <a:pt x="12637" y="472694"/>
                  </a:lnTo>
                  <a:lnTo>
                    <a:pt x="23940" y="466979"/>
                  </a:lnTo>
                  <a:lnTo>
                    <a:pt x="254826" y="926973"/>
                  </a:lnTo>
                  <a:lnTo>
                    <a:pt x="243523" y="932688"/>
                  </a:lnTo>
                  <a:lnTo>
                    <a:pt x="243523" y="919988"/>
                  </a:lnTo>
                  <a:lnTo>
                    <a:pt x="843471" y="919988"/>
                  </a:lnTo>
                  <a:lnTo>
                    <a:pt x="843471" y="932688"/>
                  </a:lnTo>
                  <a:lnTo>
                    <a:pt x="832168" y="926973"/>
                  </a:lnTo>
                  <a:lnTo>
                    <a:pt x="1062927" y="466979"/>
                  </a:lnTo>
                  <a:lnTo>
                    <a:pt x="1074230" y="472694"/>
                  </a:lnTo>
                  <a:lnTo>
                    <a:pt x="1062927" y="478409"/>
                  </a:lnTo>
                  <a:lnTo>
                    <a:pt x="832041" y="18415"/>
                  </a:lnTo>
                  <a:lnTo>
                    <a:pt x="843471" y="12700"/>
                  </a:lnTo>
                  <a:lnTo>
                    <a:pt x="843471" y="25400"/>
                  </a:lnTo>
                  <a:lnTo>
                    <a:pt x="243523" y="25400"/>
                  </a:lnTo>
                  <a:lnTo>
                    <a:pt x="243523" y="12700"/>
                  </a:lnTo>
                  <a:lnTo>
                    <a:pt x="254826" y="18415"/>
                  </a:lnTo>
                  <a:lnTo>
                    <a:pt x="23940" y="478409"/>
                  </a:ln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Freeform 18"/>
          <p:cNvSpPr/>
          <p:nvPr/>
        </p:nvSpPr>
        <p:spPr>
          <a:xfrm>
            <a:off x="363214" y="509960"/>
            <a:ext cx="1031935" cy="1189313"/>
          </a:xfrm>
          <a:custGeom>
            <a:avLst/>
            <a:gdLst/>
            <a:ahLst/>
            <a:cxnLst/>
            <a:rect l="l" t="t" r="r" b="b"/>
            <a:pathLst>
              <a:path w="1031935" h="1189313">
                <a:moveTo>
                  <a:pt x="0" y="0"/>
                </a:moveTo>
                <a:lnTo>
                  <a:pt x="1031936" y="0"/>
                </a:lnTo>
                <a:lnTo>
                  <a:pt x="1031936" y="1189314"/>
                </a:lnTo>
                <a:lnTo>
                  <a:pt x="0" y="11893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 rot="-5400000">
            <a:off x="273840" y="668866"/>
            <a:ext cx="204600" cy="204600"/>
            <a:chOff x="0" y="0"/>
            <a:chExt cx="272800" cy="27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72796" cy="272796"/>
            </a:xfrm>
            <a:custGeom>
              <a:avLst/>
              <a:gdLst/>
              <a:ahLst/>
              <a:cxnLst/>
              <a:rect l="l" t="t" r="r" b="b"/>
              <a:pathLst>
                <a:path w="272796" h="272796">
                  <a:moveTo>
                    <a:pt x="0" y="136398"/>
                  </a:moveTo>
                  <a:cubicBezTo>
                    <a:pt x="0" y="61087"/>
                    <a:pt x="61087" y="0"/>
                    <a:pt x="136398" y="0"/>
                  </a:cubicBezTo>
                  <a:cubicBezTo>
                    <a:pt x="211709" y="0"/>
                    <a:pt x="272796" y="61087"/>
                    <a:pt x="272796" y="136398"/>
                  </a:cubicBezTo>
                  <a:cubicBezTo>
                    <a:pt x="272796" y="211709"/>
                    <a:pt x="211709" y="272796"/>
                    <a:pt x="136398" y="272796"/>
                  </a:cubicBezTo>
                  <a:cubicBezTo>
                    <a:pt x="61087" y="272796"/>
                    <a:pt x="0" y="211709"/>
                    <a:pt x="0" y="136398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AutoShape 21"/>
          <p:cNvSpPr/>
          <p:nvPr/>
        </p:nvSpPr>
        <p:spPr>
          <a:xfrm rot="8974286">
            <a:off x="1314653" y="545176"/>
            <a:ext cx="930866" cy="0"/>
          </a:xfrm>
          <a:prstGeom prst="line">
            <a:avLst/>
          </a:prstGeom>
          <a:ln w="9525" cap="rnd">
            <a:solidFill>
              <a:srgbClr val="6875A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2" name="Group 22"/>
          <p:cNvGrpSpPr/>
          <p:nvPr/>
        </p:nvGrpSpPr>
        <p:grpSpPr>
          <a:xfrm rot="-5400000">
            <a:off x="2095040" y="241890"/>
            <a:ext cx="157200" cy="157200"/>
            <a:chOff x="0" y="0"/>
            <a:chExt cx="209600" cy="2096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0" y="104775"/>
                  </a:moveTo>
                  <a:cubicBezTo>
                    <a:pt x="0" y="46863"/>
                    <a:pt x="46863" y="0"/>
                    <a:pt x="104775" y="0"/>
                  </a:cubicBezTo>
                  <a:cubicBezTo>
                    <a:pt x="162687" y="0"/>
                    <a:pt x="209550" y="46863"/>
                    <a:pt x="209550" y="104775"/>
                  </a:cubicBezTo>
                  <a:cubicBezTo>
                    <a:pt x="209550" y="162687"/>
                    <a:pt x="162687" y="209550"/>
                    <a:pt x="104775" y="209550"/>
                  </a:cubicBezTo>
                  <a:cubicBezTo>
                    <a:pt x="46863" y="209550"/>
                    <a:pt x="0" y="162687"/>
                    <a:pt x="0" y="104775"/>
                  </a:cubicBezTo>
                  <a:close/>
                </a:path>
              </a:pathLst>
            </a:custGeom>
            <a:solidFill>
              <a:srgbClr val="5BA3F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" name="Freeform 24"/>
          <p:cNvSpPr/>
          <p:nvPr/>
        </p:nvSpPr>
        <p:spPr>
          <a:xfrm>
            <a:off x="16234294" y="8783210"/>
            <a:ext cx="2520733" cy="2187169"/>
          </a:xfrm>
          <a:custGeom>
            <a:avLst/>
            <a:gdLst/>
            <a:ahLst/>
            <a:cxnLst/>
            <a:rect l="l" t="t" r="r" b="b"/>
            <a:pathLst>
              <a:path w="2520733" h="2187169">
                <a:moveTo>
                  <a:pt x="0" y="0"/>
                </a:moveTo>
                <a:lnTo>
                  <a:pt x="2520734" y="0"/>
                </a:lnTo>
                <a:lnTo>
                  <a:pt x="2520734" y="2187170"/>
                </a:lnTo>
                <a:lnTo>
                  <a:pt x="0" y="21871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607916" y="2617571"/>
            <a:ext cx="8329266" cy="5557265"/>
          </a:xfrm>
          <a:custGeom>
            <a:avLst/>
            <a:gdLst/>
            <a:ahLst/>
            <a:cxnLst/>
            <a:rect l="l" t="t" r="r" b="b"/>
            <a:pathLst>
              <a:path w="8329266" h="5557265">
                <a:moveTo>
                  <a:pt x="0" y="0"/>
                </a:moveTo>
                <a:lnTo>
                  <a:pt x="8329266" y="0"/>
                </a:lnTo>
                <a:lnTo>
                  <a:pt x="8329266" y="5557265"/>
                </a:lnTo>
                <a:lnTo>
                  <a:pt x="0" y="555726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9171127" y="2909904"/>
            <a:ext cx="8870677" cy="5000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7500" b="1">
                <a:solidFill>
                  <a:srgbClr val="353552"/>
                </a:solidFill>
                <a:latin typeface="Arimo Bold"/>
                <a:ea typeface="Arimo Bold"/>
                <a:cs typeface="Arimo Bold"/>
                <a:sym typeface="Arimo Bold"/>
              </a:rPr>
              <a:t> Vă mulțumesc pentru atenție!</a:t>
            </a:r>
          </a:p>
          <a:p>
            <a:pPr algn="ctr">
              <a:lnSpc>
                <a:spcPts val="9000"/>
              </a:lnSpc>
            </a:pPr>
            <a:endParaRPr lang="en-US" sz="7500" b="1">
              <a:solidFill>
                <a:srgbClr val="353552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ctr">
              <a:lnSpc>
                <a:spcPts val="6000"/>
              </a:lnSpc>
            </a:pPr>
            <a:r>
              <a:rPr lang="en-US" sz="5000">
                <a:solidFill>
                  <a:srgbClr val="353552"/>
                </a:solidFill>
                <a:latin typeface="Catamaran"/>
                <a:ea typeface="Catamaran"/>
                <a:cs typeface="Catamaran"/>
                <a:sym typeface="Catamaran"/>
              </a:rPr>
              <a:t>Întrebări și discuții</a:t>
            </a:r>
          </a:p>
          <a:p>
            <a:pPr algn="ctr">
              <a:lnSpc>
                <a:spcPts val="6000"/>
              </a:lnSpc>
            </a:pPr>
            <a:endParaRPr lang="en-US" sz="5000">
              <a:solidFill>
                <a:srgbClr val="353552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1129</Words>
  <Application>Microsoft Office PowerPoint</Application>
  <PresentationFormat>Custom</PresentationFormat>
  <Paragraphs>211</Paragraphs>
  <Slides>18</Slides>
  <Notes>15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Catamaran Bold</vt:lpstr>
      <vt:lpstr>Arimo Bold</vt:lpstr>
      <vt:lpstr>Calibri</vt:lpstr>
      <vt:lpstr>Source Sans 3 Bold</vt:lpstr>
      <vt:lpstr>Arimo</vt:lpstr>
      <vt:lpstr>Catamaran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MĂROIU_ALEXANDRU_PREZENTARE</dc:title>
  <dc:creator>Alex Maroiu</dc:creator>
  <cp:lastModifiedBy>Alex Maroiu</cp:lastModifiedBy>
  <cp:revision>3</cp:revision>
  <dcterms:created xsi:type="dcterms:W3CDTF">2006-08-16T00:00:00Z</dcterms:created>
  <dcterms:modified xsi:type="dcterms:W3CDTF">2026-07-06T22:46:58Z</dcterms:modified>
  <dc:identifier>DAHN5BD4chA</dc:identifier>
</cp:coreProperties>
</file>